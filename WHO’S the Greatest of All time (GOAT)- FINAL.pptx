
<file path=[Content_Types].xml><?xml version="1.0" encoding="utf-8"?>
<Types xmlns="http://schemas.openxmlformats.org/package/2006/content-types">
  <Default Extension="eVblozzwTsluv5fqWpWXXzvL7EDfUu4nvHd58kLTuPo" ContentType="image/jpeg"/>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12" r:id="rId4"/>
  </p:sldMasterIdLst>
  <p:notesMasterIdLst>
    <p:notesMasterId r:id="rId23"/>
  </p:notesMasterIdLst>
  <p:sldIdLst>
    <p:sldId id="257" r:id="rId5"/>
    <p:sldId id="278" r:id="rId6"/>
    <p:sldId id="260" r:id="rId7"/>
    <p:sldId id="279" r:id="rId8"/>
    <p:sldId id="269" r:id="rId9"/>
    <p:sldId id="277" r:id="rId10"/>
    <p:sldId id="272" r:id="rId11"/>
    <p:sldId id="266" r:id="rId12"/>
    <p:sldId id="261" r:id="rId13"/>
    <p:sldId id="264" r:id="rId14"/>
    <p:sldId id="263" r:id="rId15"/>
    <p:sldId id="268" r:id="rId16"/>
    <p:sldId id="276" r:id="rId17"/>
    <p:sldId id="271" r:id="rId18"/>
    <p:sldId id="267" r:id="rId19"/>
    <p:sldId id="270" r:id="rId20"/>
    <p:sldId id="280" r:id="rId21"/>
    <p:sldId id="273"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84C2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36" autoAdjust="0"/>
    <p:restoredTop sz="68412" autoAdjust="0"/>
  </p:normalViewPr>
  <p:slideViewPr>
    <p:cSldViewPr snapToGrid="0">
      <p:cViewPr>
        <p:scale>
          <a:sx n="100" d="100"/>
          <a:sy n="100" d="100"/>
        </p:scale>
        <p:origin x="-6" y="1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ableStyles" Target="tableStyles.xml"/></Relationships>
</file>

<file path=ppt/diagrams/_rels/data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7.svg"/></Relationships>
</file>

<file path=ppt/diagrams/_rels/drawing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7.svg"/></Relationships>
</file>

<file path=ppt/diagrams/colors1.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icon_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dgm:fillClrLst>
    <dgm:linClrLst meth="repeat">
      <a:schemeClr val="lt1">
        <a:alpha val="0"/>
      </a:schemeClr>
    </dgm:linClrLst>
    <dgm:effectClrLst/>
    <dgm:txLinClrLst/>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A70FD8F-0050-42E3-8B3A-6ED7CFB9852E}" type="doc">
      <dgm:prSet loTypeId="urn:microsoft.com/office/officeart/2016/7/layout/RoundedRectangleTimeline" loCatId="process" qsTypeId="urn:microsoft.com/office/officeart/2005/8/quickstyle/simple1" qsCatId="simple" csTypeId="urn:microsoft.com/office/officeart/2005/8/colors/accent1_3" csCatId="accent1" phldr="1"/>
      <dgm:spPr/>
      <dgm:t>
        <a:bodyPr/>
        <a:lstStyle/>
        <a:p>
          <a:endParaRPr lang="en-US"/>
        </a:p>
      </dgm:t>
    </dgm:pt>
    <dgm:pt modelId="{8DB5D7D5-6A1C-4ABC-8850-759A9D876047}">
      <dgm:prSet/>
      <dgm:spPr/>
      <dgm:t>
        <a:bodyPr/>
        <a:lstStyle/>
        <a:p>
          <a:r>
            <a:rPr lang="en-US" dirty="0"/>
            <a:t>1984-1993 &amp; 1995-2003 (15 seasons) </a:t>
          </a:r>
        </a:p>
      </dgm:t>
    </dgm:pt>
    <dgm:pt modelId="{D8874F40-D7B0-41DE-BB6F-A6014FEAB2D7}" type="parTrans" cxnId="{C5202EE1-10E9-4076-9D55-9E0CF8B152AF}">
      <dgm:prSet/>
      <dgm:spPr/>
      <dgm:t>
        <a:bodyPr/>
        <a:lstStyle/>
        <a:p>
          <a:endParaRPr lang="en-US"/>
        </a:p>
      </dgm:t>
    </dgm:pt>
    <dgm:pt modelId="{BD6E0A2E-99C8-4F5A-971A-CD211D1099FF}" type="sibTrans" cxnId="{C5202EE1-10E9-4076-9D55-9E0CF8B152AF}">
      <dgm:prSet/>
      <dgm:spPr/>
      <dgm:t>
        <a:bodyPr/>
        <a:lstStyle/>
        <a:p>
          <a:endParaRPr lang="en-US"/>
        </a:p>
      </dgm:t>
    </dgm:pt>
    <dgm:pt modelId="{96262926-A67D-4E4E-9515-5EBC67F0B634}">
      <dgm:prSet/>
      <dgm:spPr/>
      <dgm:t>
        <a:bodyPr/>
        <a:lstStyle/>
        <a:p>
          <a:r>
            <a:rPr lang="en-US" dirty="0"/>
            <a:t>MICHAEL JORDAN </a:t>
          </a:r>
        </a:p>
      </dgm:t>
    </dgm:pt>
    <dgm:pt modelId="{EC74E552-C501-4B0E-9400-E8B410F53D50}" type="parTrans" cxnId="{8C5B110A-FBC3-4CBF-BED2-413E87D4DAD5}">
      <dgm:prSet/>
      <dgm:spPr/>
      <dgm:t>
        <a:bodyPr/>
        <a:lstStyle/>
        <a:p>
          <a:endParaRPr lang="en-US"/>
        </a:p>
      </dgm:t>
    </dgm:pt>
    <dgm:pt modelId="{1DA7ACEB-F642-43C1-BCB5-F580B9B985B9}" type="sibTrans" cxnId="{8C5B110A-FBC3-4CBF-BED2-413E87D4DAD5}">
      <dgm:prSet/>
      <dgm:spPr/>
      <dgm:t>
        <a:bodyPr/>
        <a:lstStyle/>
        <a:p>
          <a:endParaRPr lang="en-US"/>
        </a:p>
      </dgm:t>
    </dgm:pt>
    <dgm:pt modelId="{C5146535-FD3D-4589-98A3-623B8DA4B8DB}">
      <dgm:prSet/>
      <dgm:spPr>
        <a:solidFill>
          <a:srgbClr val="7030A0"/>
        </a:solidFill>
      </dgm:spPr>
      <dgm:t>
        <a:bodyPr/>
        <a:lstStyle/>
        <a:p>
          <a:r>
            <a:rPr lang="en-US" dirty="0"/>
            <a:t>1996-2016 (20 seasons) </a:t>
          </a:r>
        </a:p>
      </dgm:t>
    </dgm:pt>
    <dgm:pt modelId="{20848F78-EC70-4162-96CE-CC68006930F0}" type="parTrans" cxnId="{8EBF857E-7408-4941-91E4-293B0F59EEF7}">
      <dgm:prSet/>
      <dgm:spPr/>
      <dgm:t>
        <a:bodyPr/>
        <a:lstStyle/>
        <a:p>
          <a:endParaRPr lang="en-US"/>
        </a:p>
      </dgm:t>
    </dgm:pt>
    <dgm:pt modelId="{7A3CCAF8-AC3A-401E-AEDD-44BBC1AA9C31}" type="sibTrans" cxnId="{8EBF857E-7408-4941-91E4-293B0F59EEF7}">
      <dgm:prSet/>
      <dgm:spPr/>
      <dgm:t>
        <a:bodyPr/>
        <a:lstStyle/>
        <a:p>
          <a:endParaRPr lang="en-US"/>
        </a:p>
      </dgm:t>
    </dgm:pt>
    <dgm:pt modelId="{E80CA270-6C90-4E17-ACEA-46B56AD54DD1}">
      <dgm:prSet/>
      <dgm:spPr/>
      <dgm:t>
        <a:bodyPr/>
        <a:lstStyle/>
        <a:p>
          <a:r>
            <a:rPr lang="en-US" dirty="0"/>
            <a:t>KOBE BRYANT</a:t>
          </a:r>
        </a:p>
      </dgm:t>
    </dgm:pt>
    <dgm:pt modelId="{7EEC8067-96EF-4BE0-8BE3-BA59ED78A31F}" type="parTrans" cxnId="{2DC28DF8-5C1B-4F53-A4C1-D5B63FB54BAF}">
      <dgm:prSet/>
      <dgm:spPr/>
      <dgm:t>
        <a:bodyPr/>
        <a:lstStyle/>
        <a:p>
          <a:endParaRPr lang="en-US"/>
        </a:p>
      </dgm:t>
    </dgm:pt>
    <dgm:pt modelId="{1AFE46E5-6B07-4894-8ECB-21BD7E7B8AF1}" type="sibTrans" cxnId="{2DC28DF8-5C1B-4F53-A4C1-D5B63FB54BAF}">
      <dgm:prSet/>
      <dgm:spPr/>
      <dgm:t>
        <a:bodyPr/>
        <a:lstStyle/>
        <a:p>
          <a:endParaRPr lang="en-US"/>
        </a:p>
      </dgm:t>
    </dgm:pt>
    <dgm:pt modelId="{09C152DA-7620-4852-8162-A77EC3609F3F}">
      <dgm:prSet/>
      <dgm:spPr>
        <a:solidFill>
          <a:schemeClr val="accent5"/>
        </a:solidFill>
      </dgm:spPr>
      <dgm:t>
        <a:bodyPr/>
        <a:lstStyle/>
        <a:p>
          <a:r>
            <a:rPr lang="en-US" dirty="0"/>
            <a:t>2003-present (22+ seasons) </a:t>
          </a:r>
        </a:p>
      </dgm:t>
    </dgm:pt>
    <dgm:pt modelId="{9F6D14C0-6C82-4CBD-8D6D-B0E117B6F2ED}" type="parTrans" cxnId="{23ECAC8B-17A4-4883-AA0E-06D66B7E788A}">
      <dgm:prSet/>
      <dgm:spPr/>
      <dgm:t>
        <a:bodyPr/>
        <a:lstStyle/>
        <a:p>
          <a:endParaRPr lang="en-US"/>
        </a:p>
      </dgm:t>
    </dgm:pt>
    <dgm:pt modelId="{0AE8D36D-0F0F-4206-AE39-0A2D73987B68}" type="sibTrans" cxnId="{23ECAC8B-17A4-4883-AA0E-06D66B7E788A}">
      <dgm:prSet/>
      <dgm:spPr/>
      <dgm:t>
        <a:bodyPr/>
        <a:lstStyle/>
        <a:p>
          <a:endParaRPr lang="en-US"/>
        </a:p>
      </dgm:t>
    </dgm:pt>
    <dgm:pt modelId="{6C8937BE-93F8-4DED-8538-1C601DAEBA66}">
      <dgm:prSet/>
      <dgm:spPr/>
      <dgm:t>
        <a:bodyPr/>
        <a:lstStyle/>
        <a:p>
          <a:r>
            <a:rPr lang="en-US" dirty="0"/>
            <a:t>LEBRON JAMES </a:t>
          </a:r>
        </a:p>
      </dgm:t>
    </dgm:pt>
    <dgm:pt modelId="{77D169C6-D77F-456D-B18B-D7BE016AD87A}" type="parTrans" cxnId="{FAA8D3DD-12E8-457D-9144-B037C5678347}">
      <dgm:prSet/>
      <dgm:spPr/>
      <dgm:t>
        <a:bodyPr/>
        <a:lstStyle/>
        <a:p>
          <a:endParaRPr lang="en-US"/>
        </a:p>
      </dgm:t>
    </dgm:pt>
    <dgm:pt modelId="{A97BE953-FA9D-4BA6-A92C-494DB1F3BA59}" type="sibTrans" cxnId="{FAA8D3DD-12E8-457D-9144-B037C5678347}">
      <dgm:prSet/>
      <dgm:spPr/>
      <dgm:t>
        <a:bodyPr/>
        <a:lstStyle/>
        <a:p>
          <a:endParaRPr lang="en-US"/>
        </a:p>
      </dgm:t>
    </dgm:pt>
    <dgm:pt modelId="{AB52B3CC-6563-466D-BFC3-9B6B5AFA0881}" type="pres">
      <dgm:prSet presAssocID="{6A70FD8F-0050-42E3-8B3A-6ED7CFB9852E}" presName="Name0" presStyleCnt="0">
        <dgm:presLayoutVars>
          <dgm:chMax/>
          <dgm:chPref/>
          <dgm:animLvl val="lvl"/>
        </dgm:presLayoutVars>
      </dgm:prSet>
      <dgm:spPr/>
    </dgm:pt>
    <dgm:pt modelId="{815EDF7B-AC93-4A61-87AA-CAA5D85C31A8}" type="pres">
      <dgm:prSet presAssocID="{8DB5D7D5-6A1C-4ABC-8850-759A9D876047}" presName="composite1" presStyleCnt="0"/>
      <dgm:spPr/>
    </dgm:pt>
    <dgm:pt modelId="{954381E7-0584-46DD-8108-E9BF4F2B5005}" type="pres">
      <dgm:prSet presAssocID="{8DB5D7D5-6A1C-4ABC-8850-759A9D876047}" presName="parent1" presStyleLbl="alignNode1" presStyleIdx="0" presStyleCnt="3">
        <dgm:presLayoutVars>
          <dgm:chMax val="1"/>
          <dgm:chPref val="1"/>
          <dgm:bulletEnabled val="1"/>
        </dgm:presLayoutVars>
      </dgm:prSet>
      <dgm:spPr/>
    </dgm:pt>
    <dgm:pt modelId="{5A1B764B-0DC5-47CD-BDEA-9E67799496EC}" type="pres">
      <dgm:prSet presAssocID="{8DB5D7D5-6A1C-4ABC-8850-759A9D876047}" presName="Childtext1" presStyleLbl="revTx" presStyleIdx="0" presStyleCnt="3">
        <dgm:presLayoutVars>
          <dgm:bulletEnabled val="1"/>
        </dgm:presLayoutVars>
      </dgm:prSet>
      <dgm:spPr/>
    </dgm:pt>
    <dgm:pt modelId="{122B38A3-0442-4747-820C-1F37877E2B0E}" type="pres">
      <dgm:prSet presAssocID="{8DB5D7D5-6A1C-4ABC-8850-759A9D876047}" presName="ConnectLine1" presStyleLbl="sibTrans1D1" presStyleIdx="0" presStyleCnt="3"/>
      <dgm:spPr>
        <a:noFill/>
        <a:ln w="12700" cap="rnd" cmpd="sng" algn="ctr">
          <a:solidFill>
            <a:schemeClr val="accent1">
              <a:shade val="90000"/>
              <a:hueOff val="93466"/>
              <a:satOff val="1924"/>
              <a:lumOff val="8231"/>
              <a:alphaOff val="0"/>
            </a:schemeClr>
          </a:solidFill>
          <a:prstDash val="dash"/>
        </a:ln>
        <a:effectLst/>
      </dgm:spPr>
    </dgm:pt>
    <dgm:pt modelId="{A73181F6-69BB-4A47-8277-4671A45AC8C8}" type="pres">
      <dgm:prSet presAssocID="{8DB5D7D5-6A1C-4ABC-8850-759A9D876047}" presName="ConnectLineEnd1" presStyleLbl="lnNode1" presStyleIdx="0" presStyleCnt="3"/>
      <dgm:spPr/>
    </dgm:pt>
    <dgm:pt modelId="{6E76EADA-5F61-4A59-B2F8-FA10112079FC}" type="pres">
      <dgm:prSet presAssocID="{8DB5D7D5-6A1C-4ABC-8850-759A9D876047}" presName="EmptyPane1" presStyleCnt="0"/>
      <dgm:spPr/>
    </dgm:pt>
    <dgm:pt modelId="{A8189248-0785-43F1-844C-4DE92841F254}" type="pres">
      <dgm:prSet presAssocID="{BD6E0A2E-99C8-4F5A-971A-CD211D1099FF}" presName="spaceBetweenRectangles1" presStyleCnt="0"/>
      <dgm:spPr/>
    </dgm:pt>
    <dgm:pt modelId="{218D9CD7-D48D-464C-9A1C-0F322EC540B3}" type="pres">
      <dgm:prSet presAssocID="{C5146535-FD3D-4589-98A3-623B8DA4B8DB}" presName="composite1" presStyleCnt="0"/>
      <dgm:spPr/>
    </dgm:pt>
    <dgm:pt modelId="{30804A27-188E-4A17-8FFE-97BCCA0597B8}" type="pres">
      <dgm:prSet presAssocID="{C5146535-FD3D-4589-98A3-623B8DA4B8DB}" presName="parent1" presStyleLbl="alignNode1" presStyleIdx="1" presStyleCnt="3">
        <dgm:presLayoutVars>
          <dgm:chMax val="1"/>
          <dgm:chPref val="1"/>
          <dgm:bulletEnabled val="1"/>
        </dgm:presLayoutVars>
      </dgm:prSet>
      <dgm:spPr/>
    </dgm:pt>
    <dgm:pt modelId="{DF65791B-462E-4589-B98D-F60587330CA8}" type="pres">
      <dgm:prSet presAssocID="{C5146535-FD3D-4589-98A3-623B8DA4B8DB}" presName="Childtext1" presStyleLbl="revTx" presStyleIdx="1" presStyleCnt="3">
        <dgm:presLayoutVars>
          <dgm:bulletEnabled val="1"/>
        </dgm:presLayoutVars>
      </dgm:prSet>
      <dgm:spPr/>
    </dgm:pt>
    <dgm:pt modelId="{DBA410EB-5F61-4F46-92D9-C5B0AA59EE15}" type="pres">
      <dgm:prSet presAssocID="{C5146535-FD3D-4589-98A3-623B8DA4B8DB}" presName="ConnectLine1" presStyleLbl="sibTrans1D1" presStyleIdx="1" presStyleCnt="3"/>
      <dgm:spPr>
        <a:noFill/>
        <a:ln w="12700" cap="rnd" cmpd="sng" algn="ctr">
          <a:solidFill>
            <a:schemeClr val="accent1">
              <a:shade val="90000"/>
              <a:hueOff val="140199"/>
              <a:satOff val="2886"/>
              <a:lumOff val="12346"/>
              <a:alphaOff val="0"/>
            </a:schemeClr>
          </a:solidFill>
          <a:prstDash val="dash"/>
        </a:ln>
        <a:effectLst/>
      </dgm:spPr>
    </dgm:pt>
    <dgm:pt modelId="{E1220EDB-B75C-43A5-B862-97E4C09130A7}" type="pres">
      <dgm:prSet presAssocID="{C5146535-FD3D-4589-98A3-623B8DA4B8DB}" presName="ConnectLineEnd1" presStyleLbl="lnNode1" presStyleIdx="1" presStyleCnt="3"/>
      <dgm:spPr/>
    </dgm:pt>
    <dgm:pt modelId="{D8849157-215F-4E70-9735-315E97B5AC5C}" type="pres">
      <dgm:prSet presAssocID="{C5146535-FD3D-4589-98A3-623B8DA4B8DB}" presName="EmptyPane1" presStyleCnt="0"/>
      <dgm:spPr/>
    </dgm:pt>
    <dgm:pt modelId="{7C467054-22FE-4C18-9934-29D7168DFF63}" type="pres">
      <dgm:prSet presAssocID="{7A3CCAF8-AC3A-401E-AEDD-44BBC1AA9C31}" presName="spaceBetweenRectangles1" presStyleCnt="0"/>
      <dgm:spPr/>
    </dgm:pt>
    <dgm:pt modelId="{3E3E944D-A6EC-4962-9AC1-C585A4F97BDA}" type="pres">
      <dgm:prSet presAssocID="{09C152DA-7620-4852-8162-A77EC3609F3F}" presName="composite1" presStyleCnt="0"/>
      <dgm:spPr/>
    </dgm:pt>
    <dgm:pt modelId="{566B79CB-1A41-4F5C-BF91-58D94BF93913}" type="pres">
      <dgm:prSet presAssocID="{09C152DA-7620-4852-8162-A77EC3609F3F}" presName="parent1" presStyleLbl="alignNode1" presStyleIdx="2" presStyleCnt="3">
        <dgm:presLayoutVars>
          <dgm:chMax val="1"/>
          <dgm:chPref val="1"/>
          <dgm:bulletEnabled val="1"/>
        </dgm:presLayoutVars>
      </dgm:prSet>
      <dgm:spPr/>
    </dgm:pt>
    <dgm:pt modelId="{B4723E2A-4FF1-452A-BD25-8EC364F15A6F}" type="pres">
      <dgm:prSet presAssocID="{09C152DA-7620-4852-8162-A77EC3609F3F}" presName="Childtext1" presStyleLbl="revTx" presStyleIdx="2" presStyleCnt="3">
        <dgm:presLayoutVars>
          <dgm:bulletEnabled val="1"/>
        </dgm:presLayoutVars>
      </dgm:prSet>
      <dgm:spPr/>
    </dgm:pt>
    <dgm:pt modelId="{440E9361-37D2-4157-AF38-7B49AD23708B}" type="pres">
      <dgm:prSet presAssocID="{09C152DA-7620-4852-8162-A77EC3609F3F}" presName="ConnectLine1" presStyleLbl="sibTrans1D1" presStyleIdx="2" presStyleCnt="3"/>
      <dgm:spPr>
        <a:noFill/>
        <a:ln w="12700" cap="rnd" cmpd="sng" algn="ctr">
          <a:solidFill>
            <a:schemeClr val="accent1">
              <a:shade val="90000"/>
              <a:hueOff val="186931"/>
              <a:satOff val="3848"/>
              <a:lumOff val="16461"/>
              <a:alphaOff val="0"/>
            </a:schemeClr>
          </a:solidFill>
          <a:prstDash val="dash"/>
        </a:ln>
        <a:effectLst/>
      </dgm:spPr>
    </dgm:pt>
    <dgm:pt modelId="{C45E7B63-1C71-483E-A3A8-705CE86D4D8E}" type="pres">
      <dgm:prSet presAssocID="{09C152DA-7620-4852-8162-A77EC3609F3F}" presName="ConnectLineEnd1" presStyleLbl="lnNode1" presStyleIdx="2" presStyleCnt="3"/>
      <dgm:spPr/>
    </dgm:pt>
    <dgm:pt modelId="{4174F691-D9D3-451C-9893-D177DC3AED58}" type="pres">
      <dgm:prSet presAssocID="{09C152DA-7620-4852-8162-A77EC3609F3F}" presName="EmptyPane1" presStyleCnt="0"/>
      <dgm:spPr/>
    </dgm:pt>
  </dgm:ptLst>
  <dgm:cxnLst>
    <dgm:cxn modelId="{5C25BB02-FA66-40A4-9DA6-9E1CAE3A8D4E}" type="presOf" srcId="{C5146535-FD3D-4589-98A3-623B8DA4B8DB}" destId="{30804A27-188E-4A17-8FFE-97BCCA0597B8}" srcOrd="0" destOrd="0" presId="urn:microsoft.com/office/officeart/2016/7/layout/RoundedRectangleTimeline"/>
    <dgm:cxn modelId="{8C5B110A-FBC3-4CBF-BED2-413E87D4DAD5}" srcId="{8DB5D7D5-6A1C-4ABC-8850-759A9D876047}" destId="{96262926-A67D-4E4E-9515-5EBC67F0B634}" srcOrd="0" destOrd="0" parTransId="{EC74E552-C501-4B0E-9400-E8B410F53D50}" sibTransId="{1DA7ACEB-F642-43C1-BCB5-F580B9B985B9}"/>
    <dgm:cxn modelId="{84C67813-55CE-4EBC-9032-03BD847DC17E}" type="presOf" srcId="{6A70FD8F-0050-42E3-8B3A-6ED7CFB9852E}" destId="{AB52B3CC-6563-466D-BFC3-9B6B5AFA0881}" srcOrd="0" destOrd="0" presId="urn:microsoft.com/office/officeart/2016/7/layout/RoundedRectangleTimeline"/>
    <dgm:cxn modelId="{22ECA226-C4EA-44F1-BCB5-77F78841DA6F}" type="presOf" srcId="{09C152DA-7620-4852-8162-A77EC3609F3F}" destId="{566B79CB-1A41-4F5C-BF91-58D94BF93913}" srcOrd="0" destOrd="0" presId="urn:microsoft.com/office/officeart/2016/7/layout/RoundedRectangleTimeline"/>
    <dgm:cxn modelId="{E2BBA750-A5E4-4F50-BE16-016934379F81}" type="presOf" srcId="{6C8937BE-93F8-4DED-8538-1C601DAEBA66}" destId="{B4723E2A-4FF1-452A-BD25-8EC364F15A6F}" srcOrd="0" destOrd="0" presId="urn:microsoft.com/office/officeart/2016/7/layout/RoundedRectangleTimeline"/>
    <dgm:cxn modelId="{F9B2D375-40BE-4E5D-AA88-61805FBFF819}" type="presOf" srcId="{8DB5D7D5-6A1C-4ABC-8850-759A9D876047}" destId="{954381E7-0584-46DD-8108-E9BF4F2B5005}" srcOrd="0" destOrd="0" presId="urn:microsoft.com/office/officeart/2016/7/layout/RoundedRectangleTimeline"/>
    <dgm:cxn modelId="{8EBF857E-7408-4941-91E4-293B0F59EEF7}" srcId="{6A70FD8F-0050-42E3-8B3A-6ED7CFB9852E}" destId="{C5146535-FD3D-4589-98A3-623B8DA4B8DB}" srcOrd="1" destOrd="0" parTransId="{20848F78-EC70-4162-96CE-CC68006930F0}" sibTransId="{7A3CCAF8-AC3A-401E-AEDD-44BBC1AA9C31}"/>
    <dgm:cxn modelId="{23ECAC8B-17A4-4883-AA0E-06D66B7E788A}" srcId="{6A70FD8F-0050-42E3-8B3A-6ED7CFB9852E}" destId="{09C152DA-7620-4852-8162-A77EC3609F3F}" srcOrd="2" destOrd="0" parTransId="{9F6D14C0-6C82-4CBD-8D6D-B0E117B6F2ED}" sibTransId="{0AE8D36D-0F0F-4206-AE39-0A2D73987B68}"/>
    <dgm:cxn modelId="{F9540599-A193-456C-A9A9-8962E3855B0B}" type="presOf" srcId="{96262926-A67D-4E4E-9515-5EBC67F0B634}" destId="{5A1B764B-0DC5-47CD-BDEA-9E67799496EC}" srcOrd="0" destOrd="0" presId="urn:microsoft.com/office/officeart/2016/7/layout/RoundedRectangleTimeline"/>
    <dgm:cxn modelId="{E13585A2-54F2-486A-B317-F4D6AF7E83B9}" type="presOf" srcId="{E80CA270-6C90-4E17-ACEA-46B56AD54DD1}" destId="{DF65791B-462E-4589-B98D-F60587330CA8}" srcOrd="0" destOrd="0" presId="urn:microsoft.com/office/officeart/2016/7/layout/RoundedRectangleTimeline"/>
    <dgm:cxn modelId="{FAA8D3DD-12E8-457D-9144-B037C5678347}" srcId="{09C152DA-7620-4852-8162-A77EC3609F3F}" destId="{6C8937BE-93F8-4DED-8538-1C601DAEBA66}" srcOrd="0" destOrd="0" parTransId="{77D169C6-D77F-456D-B18B-D7BE016AD87A}" sibTransId="{A97BE953-FA9D-4BA6-A92C-494DB1F3BA59}"/>
    <dgm:cxn modelId="{C5202EE1-10E9-4076-9D55-9E0CF8B152AF}" srcId="{6A70FD8F-0050-42E3-8B3A-6ED7CFB9852E}" destId="{8DB5D7D5-6A1C-4ABC-8850-759A9D876047}" srcOrd="0" destOrd="0" parTransId="{D8874F40-D7B0-41DE-BB6F-A6014FEAB2D7}" sibTransId="{BD6E0A2E-99C8-4F5A-971A-CD211D1099FF}"/>
    <dgm:cxn modelId="{2DC28DF8-5C1B-4F53-A4C1-D5B63FB54BAF}" srcId="{C5146535-FD3D-4589-98A3-623B8DA4B8DB}" destId="{E80CA270-6C90-4E17-ACEA-46B56AD54DD1}" srcOrd="0" destOrd="0" parTransId="{7EEC8067-96EF-4BE0-8BE3-BA59ED78A31F}" sibTransId="{1AFE46E5-6B07-4894-8ECB-21BD7E7B8AF1}"/>
    <dgm:cxn modelId="{76459B4A-BC95-4631-A3CC-1410E80D5DFD}" type="presParOf" srcId="{AB52B3CC-6563-466D-BFC3-9B6B5AFA0881}" destId="{815EDF7B-AC93-4A61-87AA-CAA5D85C31A8}" srcOrd="0" destOrd="0" presId="urn:microsoft.com/office/officeart/2016/7/layout/RoundedRectangleTimeline"/>
    <dgm:cxn modelId="{4238FA88-CE43-4680-BFB0-73DED5612698}" type="presParOf" srcId="{815EDF7B-AC93-4A61-87AA-CAA5D85C31A8}" destId="{954381E7-0584-46DD-8108-E9BF4F2B5005}" srcOrd="0" destOrd="0" presId="urn:microsoft.com/office/officeart/2016/7/layout/RoundedRectangleTimeline"/>
    <dgm:cxn modelId="{6497CE05-0893-4952-B18A-28D71D90B841}" type="presParOf" srcId="{815EDF7B-AC93-4A61-87AA-CAA5D85C31A8}" destId="{5A1B764B-0DC5-47CD-BDEA-9E67799496EC}" srcOrd="1" destOrd="0" presId="urn:microsoft.com/office/officeart/2016/7/layout/RoundedRectangleTimeline"/>
    <dgm:cxn modelId="{CB8BA570-C0D4-4400-BED8-C9BC961A6553}" type="presParOf" srcId="{815EDF7B-AC93-4A61-87AA-CAA5D85C31A8}" destId="{122B38A3-0442-4747-820C-1F37877E2B0E}" srcOrd="2" destOrd="0" presId="urn:microsoft.com/office/officeart/2016/7/layout/RoundedRectangleTimeline"/>
    <dgm:cxn modelId="{82FC1E36-99F3-4E1F-8BD1-229D77A82EB1}" type="presParOf" srcId="{815EDF7B-AC93-4A61-87AA-CAA5D85C31A8}" destId="{A73181F6-69BB-4A47-8277-4671A45AC8C8}" srcOrd="3" destOrd="0" presId="urn:microsoft.com/office/officeart/2016/7/layout/RoundedRectangleTimeline"/>
    <dgm:cxn modelId="{7EAD7967-836C-4AB6-AAA2-ED2EF3F29E78}" type="presParOf" srcId="{815EDF7B-AC93-4A61-87AA-CAA5D85C31A8}" destId="{6E76EADA-5F61-4A59-B2F8-FA10112079FC}" srcOrd="4" destOrd="0" presId="urn:microsoft.com/office/officeart/2016/7/layout/RoundedRectangleTimeline"/>
    <dgm:cxn modelId="{3783DE09-7B3D-423E-960C-ED9DB81E314E}" type="presParOf" srcId="{AB52B3CC-6563-466D-BFC3-9B6B5AFA0881}" destId="{A8189248-0785-43F1-844C-4DE92841F254}" srcOrd="1" destOrd="0" presId="urn:microsoft.com/office/officeart/2016/7/layout/RoundedRectangleTimeline"/>
    <dgm:cxn modelId="{38B07C9C-D21D-4E2B-A78B-C30877B2689A}" type="presParOf" srcId="{AB52B3CC-6563-466D-BFC3-9B6B5AFA0881}" destId="{218D9CD7-D48D-464C-9A1C-0F322EC540B3}" srcOrd="2" destOrd="0" presId="urn:microsoft.com/office/officeart/2016/7/layout/RoundedRectangleTimeline"/>
    <dgm:cxn modelId="{E6790483-7B9E-44FB-9EAE-A282A4B9AB73}" type="presParOf" srcId="{218D9CD7-D48D-464C-9A1C-0F322EC540B3}" destId="{30804A27-188E-4A17-8FFE-97BCCA0597B8}" srcOrd="0" destOrd="0" presId="urn:microsoft.com/office/officeart/2016/7/layout/RoundedRectangleTimeline"/>
    <dgm:cxn modelId="{B31BDB48-FB8E-47F4-8F76-B90009D28A96}" type="presParOf" srcId="{218D9CD7-D48D-464C-9A1C-0F322EC540B3}" destId="{DF65791B-462E-4589-B98D-F60587330CA8}" srcOrd="1" destOrd="0" presId="urn:microsoft.com/office/officeart/2016/7/layout/RoundedRectangleTimeline"/>
    <dgm:cxn modelId="{517AE913-68B2-41AC-BE20-5D4195845D6F}" type="presParOf" srcId="{218D9CD7-D48D-464C-9A1C-0F322EC540B3}" destId="{DBA410EB-5F61-4F46-92D9-C5B0AA59EE15}" srcOrd="2" destOrd="0" presId="urn:microsoft.com/office/officeart/2016/7/layout/RoundedRectangleTimeline"/>
    <dgm:cxn modelId="{0F089045-7542-47F1-8B17-68354869406A}" type="presParOf" srcId="{218D9CD7-D48D-464C-9A1C-0F322EC540B3}" destId="{E1220EDB-B75C-43A5-B862-97E4C09130A7}" srcOrd="3" destOrd="0" presId="urn:microsoft.com/office/officeart/2016/7/layout/RoundedRectangleTimeline"/>
    <dgm:cxn modelId="{79B44ECC-99D2-49DD-9DEE-58B1D2AE6C6C}" type="presParOf" srcId="{218D9CD7-D48D-464C-9A1C-0F322EC540B3}" destId="{D8849157-215F-4E70-9735-315E97B5AC5C}" srcOrd="4" destOrd="0" presId="urn:microsoft.com/office/officeart/2016/7/layout/RoundedRectangleTimeline"/>
    <dgm:cxn modelId="{6930EC12-FB60-44F8-973F-19AC06AA90BB}" type="presParOf" srcId="{AB52B3CC-6563-466D-BFC3-9B6B5AFA0881}" destId="{7C467054-22FE-4C18-9934-29D7168DFF63}" srcOrd="3" destOrd="0" presId="urn:microsoft.com/office/officeart/2016/7/layout/RoundedRectangleTimeline"/>
    <dgm:cxn modelId="{1F4A4777-E935-453F-A5B9-015C6946FC6A}" type="presParOf" srcId="{AB52B3CC-6563-466D-BFC3-9B6B5AFA0881}" destId="{3E3E944D-A6EC-4962-9AC1-C585A4F97BDA}" srcOrd="4" destOrd="0" presId="urn:microsoft.com/office/officeart/2016/7/layout/RoundedRectangleTimeline"/>
    <dgm:cxn modelId="{94AC8B5D-A9B9-4EF3-AD1C-6024606B5BF8}" type="presParOf" srcId="{3E3E944D-A6EC-4962-9AC1-C585A4F97BDA}" destId="{566B79CB-1A41-4F5C-BF91-58D94BF93913}" srcOrd="0" destOrd="0" presId="urn:microsoft.com/office/officeart/2016/7/layout/RoundedRectangleTimeline"/>
    <dgm:cxn modelId="{A151554E-10B3-429A-9E0D-D40262ED6857}" type="presParOf" srcId="{3E3E944D-A6EC-4962-9AC1-C585A4F97BDA}" destId="{B4723E2A-4FF1-452A-BD25-8EC364F15A6F}" srcOrd="1" destOrd="0" presId="urn:microsoft.com/office/officeart/2016/7/layout/RoundedRectangleTimeline"/>
    <dgm:cxn modelId="{329635D9-081F-4DC9-88AA-E074B7400415}" type="presParOf" srcId="{3E3E944D-A6EC-4962-9AC1-C585A4F97BDA}" destId="{440E9361-37D2-4157-AF38-7B49AD23708B}" srcOrd="2" destOrd="0" presId="urn:microsoft.com/office/officeart/2016/7/layout/RoundedRectangleTimeline"/>
    <dgm:cxn modelId="{0F0D3AEA-9F0C-400E-A955-6CD1F474B6A4}" type="presParOf" srcId="{3E3E944D-A6EC-4962-9AC1-C585A4F97BDA}" destId="{C45E7B63-1C71-483E-A3A8-705CE86D4D8E}" srcOrd="3" destOrd="0" presId="urn:microsoft.com/office/officeart/2016/7/layout/RoundedRectangleTimeline"/>
    <dgm:cxn modelId="{91F0BE33-39D4-4457-A5CC-3F1682DB166D}" type="presParOf" srcId="{3E3E944D-A6EC-4962-9AC1-C585A4F97BDA}" destId="{4174F691-D9D3-451C-9893-D177DC3AED58}" srcOrd="4" destOrd="0" presId="urn:microsoft.com/office/officeart/2016/7/layout/RoundedRectangleTimeline"/>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1A66772-F185-4D58-B8BB-E9370D7A7A2B}" type="doc">
      <dgm:prSet loTypeId="urn:microsoft.com/office/officeart/2018/5/layout/IconCircleLabelList" loCatId="icon" qsTypeId="urn:microsoft.com/office/officeart/2005/8/quickstyle/simple1" qsCatId="simple" csTypeId="urn:microsoft.com/office/officeart/2018/5/colors/Iconchunking_neutralicon_accent2_2" csCatId="accent2" phldr="1"/>
      <dgm:spPr/>
      <dgm:t>
        <a:bodyPr/>
        <a:lstStyle/>
        <a:p>
          <a:endParaRPr lang="en-US"/>
        </a:p>
      </dgm:t>
    </dgm:pt>
    <dgm:pt modelId="{49225C73-1633-42F1-AB3B-7CB183E5F8B8}">
      <dgm:prSet/>
      <dgm:spPr/>
      <dgm:t>
        <a:bodyPr/>
        <a:lstStyle/>
        <a:p>
          <a:pPr>
            <a:lnSpc>
              <a:spcPct val="100000"/>
            </a:lnSpc>
            <a:defRPr cap="all"/>
          </a:pPr>
          <a:r>
            <a:rPr lang="en-US" dirty="0"/>
            <a:t>Removed any rows with missing or “0” games played </a:t>
          </a:r>
        </a:p>
      </dgm:t>
    </dgm:pt>
    <dgm:pt modelId="{1A0E2090-1D4F-438A-8766-B6030CE01ADD}" type="parTrans" cxnId="{A9154303-8225-4248-91DC-1B0156A35F07}">
      <dgm:prSet/>
      <dgm:spPr/>
      <dgm:t>
        <a:bodyPr/>
        <a:lstStyle/>
        <a:p>
          <a:endParaRPr lang="en-US"/>
        </a:p>
      </dgm:t>
    </dgm:pt>
    <dgm:pt modelId="{9646853A-8964-4519-A5B1-0B7D18B2983D}" type="sibTrans" cxnId="{A9154303-8225-4248-91DC-1B0156A35F07}">
      <dgm:prSet/>
      <dgm:spPr/>
      <dgm:t>
        <a:bodyPr/>
        <a:lstStyle/>
        <a:p>
          <a:endParaRPr lang="en-US"/>
        </a:p>
      </dgm:t>
    </dgm:pt>
    <dgm:pt modelId="{1C383F32-22E8-4F62-A3E0-BDC3D5F48992}">
      <dgm:prSet/>
      <dgm:spPr/>
      <dgm:t>
        <a:bodyPr/>
        <a:lstStyle/>
        <a:p>
          <a:pPr>
            <a:lnSpc>
              <a:spcPct val="100000"/>
            </a:lnSpc>
            <a:defRPr cap="all"/>
          </a:pPr>
          <a:r>
            <a:rPr lang="en-US" dirty="0"/>
            <a:t>Filtered out unnecessary columns and double check formatting </a:t>
          </a:r>
        </a:p>
      </dgm:t>
    </dgm:pt>
    <dgm:pt modelId="{A7920A2F-3244-4159-AF04-6A1D38B7B317}" type="parTrans" cxnId="{C4CCE57E-E871-46D6-BAD5-880252C95D22}">
      <dgm:prSet/>
      <dgm:spPr/>
      <dgm:t>
        <a:bodyPr/>
        <a:lstStyle/>
        <a:p>
          <a:endParaRPr lang="en-US"/>
        </a:p>
      </dgm:t>
    </dgm:pt>
    <dgm:pt modelId="{8500F72A-2C6D-4FDF-9C1D-CA691380EB0B}" type="sibTrans" cxnId="{C4CCE57E-E871-46D6-BAD5-880252C95D22}">
      <dgm:prSet/>
      <dgm:spPr/>
      <dgm:t>
        <a:bodyPr/>
        <a:lstStyle/>
        <a:p>
          <a:endParaRPr lang="en-US"/>
        </a:p>
      </dgm:t>
    </dgm:pt>
    <dgm:pt modelId="{40FC4FFE-8987-4A26-B7F4-8A516F18ADAE}">
      <dgm:prSet/>
      <dgm:spPr/>
      <dgm:t>
        <a:bodyPr/>
        <a:lstStyle/>
        <a:p>
          <a:pPr>
            <a:lnSpc>
              <a:spcPct val="100000"/>
            </a:lnSpc>
            <a:defRPr cap="all"/>
          </a:pPr>
          <a:r>
            <a:rPr lang="en-US" dirty="0"/>
            <a:t>Identify Missing data &amp; Incomplete Rows </a:t>
          </a:r>
        </a:p>
      </dgm:t>
    </dgm:pt>
    <dgm:pt modelId="{5B62599A-5C9B-48E7-896E-EA782AC60C8B}" type="sibTrans" cxnId="{C7AD8469-3C68-4AF9-AB82-79B0043AA120}">
      <dgm:prSet/>
      <dgm:spPr/>
      <dgm:t>
        <a:bodyPr/>
        <a:lstStyle/>
        <a:p>
          <a:endParaRPr lang="en-US"/>
        </a:p>
      </dgm:t>
    </dgm:pt>
    <dgm:pt modelId="{CAD7EF86-FB23-41F6-BF42-040B36DEFDB1}" type="parTrans" cxnId="{C7AD8469-3C68-4AF9-AB82-79B0043AA120}">
      <dgm:prSet/>
      <dgm:spPr/>
      <dgm:t>
        <a:bodyPr/>
        <a:lstStyle/>
        <a:p>
          <a:endParaRPr lang="en-US"/>
        </a:p>
      </dgm:t>
    </dgm:pt>
    <dgm:pt modelId="{50B3CE7C-E10B-4E23-BD93-03664997C932}" type="pres">
      <dgm:prSet presAssocID="{01A66772-F185-4D58-B8BB-E9370D7A7A2B}" presName="root" presStyleCnt="0">
        <dgm:presLayoutVars>
          <dgm:dir/>
          <dgm:resizeHandles val="exact"/>
        </dgm:presLayoutVars>
      </dgm:prSet>
      <dgm:spPr/>
    </dgm:pt>
    <dgm:pt modelId="{DE9CE479-E4AE-4283-AEF1-10C1535B4324}" type="pres">
      <dgm:prSet presAssocID="{40FC4FFE-8987-4A26-B7F4-8A516F18ADAE}" presName="compNode" presStyleCnt="0"/>
      <dgm:spPr/>
    </dgm:pt>
    <dgm:pt modelId="{B59FCF02-CAD2-4D6F-9542-AD86711168CA}" type="pres">
      <dgm:prSet presAssocID="{40FC4FFE-8987-4A26-B7F4-8A516F18ADAE}" presName="iconBgRect" presStyleLbl="bgShp" presStyleIdx="0" presStyleCnt="3"/>
      <dgm:spPr>
        <a:solidFill>
          <a:schemeClr val="accent1"/>
        </a:solidFill>
      </dgm:spPr>
    </dgm:pt>
    <dgm:pt modelId="{7C175B98-93F4-4D7C-BB95-1514AB879CD5}" type="pres">
      <dgm:prSet presAssocID="{40FC4FFE-8987-4A26-B7F4-8A516F18ADAE}" presName="iconRect" presStyleLbl="node1" presStyleIdx="0" presStyleCnt="3"/>
      <dgm:spPr>
        <a:blipFill rotWithShape="1">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Dog"/>
        </a:ext>
      </dgm:extLst>
    </dgm:pt>
    <dgm:pt modelId="{677A3090-5F01-43FD-9FA6-C0420AD80FD6}" type="pres">
      <dgm:prSet presAssocID="{40FC4FFE-8987-4A26-B7F4-8A516F18ADAE}" presName="spaceRect" presStyleCnt="0"/>
      <dgm:spPr/>
    </dgm:pt>
    <dgm:pt modelId="{127117FB-F8A7-4A20-A8A7-EC686DDC76D0}" type="pres">
      <dgm:prSet presAssocID="{40FC4FFE-8987-4A26-B7F4-8A516F18ADAE}" presName="textRect" presStyleLbl="revTx" presStyleIdx="0" presStyleCnt="3" custScaleX="101976">
        <dgm:presLayoutVars>
          <dgm:chMax val="1"/>
          <dgm:chPref val="1"/>
        </dgm:presLayoutVars>
      </dgm:prSet>
      <dgm:spPr/>
    </dgm:pt>
    <dgm:pt modelId="{FD1EED9C-83D3-41AD-A09B-D3B36354168F}" type="pres">
      <dgm:prSet presAssocID="{5B62599A-5C9B-48E7-896E-EA782AC60C8B}" presName="sibTrans" presStyleCnt="0"/>
      <dgm:spPr/>
    </dgm:pt>
    <dgm:pt modelId="{C998AB0A-577D-44AA-A068-F634DDE7BD47}" type="pres">
      <dgm:prSet presAssocID="{49225C73-1633-42F1-AB3B-7CB183E5F8B8}" presName="compNode" presStyleCnt="0"/>
      <dgm:spPr/>
    </dgm:pt>
    <dgm:pt modelId="{BCD8CDD9-0C56-4401-ADB1-8B48DAB2C96F}" type="pres">
      <dgm:prSet presAssocID="{49225C73-1633-42F1-AB3B-7CB183E5F8B8}" presName="iconBgRect" presStyleLbl="bgShp" presStyleIdx="1" presStyleCnt="3"/>
      <dgm:spPr>
        <a:solidFill>
          <a:schemeClr val="accent1"/>
        </a:solidFill>
      </dgm:spPr>
    </dgm:pt>
    <dgm:pt modelId="{DB4CA7C4-FCA1-4127-B20A-2A5C031A3CF4}" type="pres">
      <dgm:prSet presAssocID="{49225C73-1633-42F1-AB3B-7CB183E5F8B8}" presName="iconRect" presStyleLbl="node1" presStyleIdx="1" presStyleCnt="3"/>
      <dgm:spPr>
        <a:blipFill rotWithShape="1">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a:noFill/>
        </a:ln>
      </dgm:spPr>
      <dgm:extLst>
        <a:ext uri="{E40237B7-FDA0-4F09-8148-C483321AD2D9}">
          <dgm14:cNvPr xmlns:dgm14="http://schemas.microsoft.com/office/drawing/2010/diagram" id="0" name="" descr="Paw prints"/>
        </a:ext>
      </dgm:extLst>
    </dgm:pt>
    <dgm:pt modelId="{9B0C8FBF-0BDD-48A5-967E-F3FE71659F6A}" type="pres">
      <dgm:prSet presAssocID="{49225C73-1633-42F1-AB3B-7CB183E5F8B8}" presName="spaceRect" presStyleCnt="0"/>
      <dgm:spPr/>
    </dgm:pt>
    <dgm:pt modelId="{7E6FE37A-5DB0-4899-9FCB-0CE39BC185F8}" type="pres">
      <dgm:prSet presAssocID="{49225C73-1633-42F1-AB3B-7CB183E5F8B8}" presName="textRect" presStyleLbl="revTx" presStyleIdx="1" presStyleCnt="3">
        <dgm:presLayoutVars>
          <dgm:chMax val="1"/>
          <dgm:chPref val="1"/>
        </dgm:presLayoutVars>
      </dgm:prSet>
      <dgm:spPr/>
    </dgm:pt>
    <dgm:pt modelId="{5A266296-0042-402F-92EF-D59AB148E92E}" type="pres">
      <dgm:prSet presAssocID="{9646853A-8964-4519-A5B1-0B7D18B2983D}" presName="sibTrans" presStyleCnt="0"/>
      <dgm:spPr/>
    </dgm:pt>
    <dgm:pt modelId="{ECFA770B-DE2C-4683-A038-58D0FE44BC27}" type="pres">
      <dgm:prSet presAssocID="{1C383F32-22E8-4F62-A3E0-BDC3D5F48992}" presName="compNode" presStyleCnt="0"/>
      <dgm:spPr/>
    </dgm:pt>
    <dgm:pt modelId="{FF93E135-77D6-48A0-8871-9BC93D705D06}" type="pres">
      <dgm:prSet presAssocID="{1C383F32-22E8-4F62-A3E0-BDC3D5F48992}" presName="iconBgRect" presStyleLbl="bgShp" presStyleIdx="2" presStyleCnt="3"/>
      <dgm:spPr>
        <a:solidFill>
          <a:schemeClr val="accent1"/>
        </a:solidFill>
      </dgm:spPr>
    </dgm:pt>
    <dgm:pt modelId="{39509775-983E-4110-B989-EE2CD6514BE0}" type="pres">
      <dgm:prSet presAssocID="{1C383F32-22E8-4F62-A3E0-BDC3D5F48992}" presName="iconRect" presStyleLbl="node1" presStyleIdx="2" presStyleCnt="3"/>
      <dgm:spPr>
        <a:blipFill rotWithShape="1">
          <a:blip xmlns:r="http://schemas.openxmlformats.org/officeDocument/2006/relationships" r:embed="rId5">
            <a:extLst>
              <a:ext uri="{96DAC541-7B7A-43D3-8B79-37D633B846F1}">
                <asvg:svgBlip xmlns:asvg="http://schemas.microsoft.com/office/drawing/2016/SVG/main" r:embed="rId6"/>
              </a:ext>
            </a:extLst>
          </a:blip>
          <a:srcRect/>
          <a:stretch>
            <a:fillRect/>
          </a:stretch>
        </a:blipFill>
        <a:ln>
          <a:noFill/>
        </a:ln>
      </dgm:spPr>
      <dgm:extLst>
        <a:ext uri="{E40237B7-FDA0-4F09-8148-C483321AD2D9}">
          <dgm14:cNvPr xmlns:dgm14="http://schemas.microsoft.com/office/drawing/2010/diagram" id="0" name="" descr="Veterinarian"/>
        </a:ext>
      </dgm:extLst>
    </dgm:pt>
    <dgm:pt modelId="{493B43B2-705C-4AE5-8A77-D8DEEDA1B5CF}" type="pres">
      <dgm:prSet presAssocID="{1C383F32-22E8-4F62-A3E0-BDC3D5F48992}" presName="spaceRect" presStyleCnt="0"/>
      <dgm:spPr/>
    </dgm:pt>
    <dgm:pt modelId="{1AEDC777-00B3-41D7-9AE1-23D741E941C3}" type="pres">
      <dgm:prSet presAssocID="{1C383F32-22E8-4F62-A3E0-BDC3D5F48992}" presName="textRect" presStyleLbl="revTx" presStyleIdx="2" presStyleCnt="3" custScaleX="128446">
        <dgm:presLayoutVars>
          <dgm:chMax val="1"/>
          <dgm:chPref val="1"/>
        </dgm:presLayoutVars>
      </dgm:prSet>
      <dgm:spPr/>
    </dgm:pt>
  </dgm:ptLst>
  <dgm:cxnLst>
    <dgm:cxn modelId="{A9154303-8225-4248-91DC-1B0156A35F07}" srcId="{01A66772-F185-4D58-B8BB-E9370D7A7A2B}" destId="{49225C73-1633-42F1-AB3B-7CB183E5F8B8}" srcOrd="1" destOrd="0" parTransId="{1A0E2090-1D4F-438A-8766-B6030CE01ADD}" sibTransId="{9646853A-8964-4519-A5B1-0B7D18B2983D}"/>
    <dgm:cxn modelId="{7A710F69-5154-4855-ACF5-BC7C1BF85A80}" type="presOf" srcId="{49225C73-1633-42F1-AB3B-7CB183E5F8B8}" destId="{7E6FE37A-5DB0-4899-9FCB-0CE39BC185F8}" srcOrd="0" destOrd="0" presId="urn:microsoft.com/office/officeart/2018/5/layout/IconCircleLabelList"/>
    <dgm:cxn modelId="{C7AD8469-3C68-4AF9-AB82-79B0043AA120}" srcId="{01A66772-F185-4D58-B8BB-E9370D7A7A2B}" destId="{40FC4FFE-8987-4A26-B7F4-8A516F18ADAE}" srcOrd="0" destOrd="0" parTransId="{CAD7EF86-FB23-41F6-BF42-040B36DEFDB1}" sibTransId="{5B62599A-5C9B-48E7-896E-EA782AC60C8B}"/>
    <dgm:cxn modelId="{676D3A6A-6EA7-4483-BB12-0BD4A7D7AF9D}" type="presOf" srcId="{01A66772-F185-4D58-B8BB-E9370D7A7A2B}" destId="{50B3CE7C-E10B-4E23-BD93-03664997C932}" srcOrd="0" destOrd="0" presId="urn:microsoft.com/office/officeart/2018/5/layout/IconCircleLabelList"/>
    <dgm:cxn modelId="{1496FC70-DB8B-48D4-98DE-DD2856E389EE}" type="presOf" srcId="{1C383F32-22E8-4F62-A3E0-BDC3D5F48992}" destId="{1AEDC777-00B3-41D7-9AE1-23D741E941C3}" srcOrd="0" destOrd="0" presId="urn:microsoft.com/office/officeart/2018/5/layout/IconCircleLabelList"/>
    <dgm:cxn modelId="{C4CCE57E-E871-46D6-BAD5-880252C95D22}" srcId="{01A66772-F185-4D58-B8BB-E9370D7A7A2B}" destId="{1C383F32-22E8-4F62-A3E0-BDC3D5F48992}" srcOrd="2" destOrd="0" parTransId="{A7920A2F-3244-4159-AF04-6A1D38B7B317}" sibTransId="{8500F72A-2C6D-4FDF-9C1D-CA691380EB0B}"/>
    <dgm:cxn modelId="{355227E3-55E0-4343-BC8D-FC0EB1694F48}" type="presOf" srcId="{40FC4FFE-8987-4A26-B7F4-8A516F18ADAE}" destId="{127117FB-F8A7-4A20-A8A7-EC686DDC76D0}" srcOrd="0" destOrd="0" presId="urn:microsoft.com/office/officeart/2018/5/layout/IconCircleLabelList"/>
    <dgm:cxn modelId="{555498CB-3ED1-404E-A25F-EB243EFC5FB1}" type="presParOf" srcId="{50B3CE7C-E10B-4E23-BD93-03664997C932}" destId="{DE9CE479-E4AE-4283-AEF1-10C1535B4324}" srcOrd="0" destOrd="0" presId="urn:microsoft.com/office/officeart/2018/5/layout/IconCircleLabelList"/>
    <dgm:cxn modelId="{11F12D49-CD08-4D50-BD13-3ECBC3A476A4}" type="presParOf" srcId="{DE9CE479-E4AE-4283-AEF1-10C1535B4324}" destId="{B59FCF02-CAD2-4D6F-9542-AD86711168CA}" srcOrd="0" destOrd="0" presId="urn:microsoft.com/office/officeart/2018/5/layout/IconCircleLabelList"/>
    <dgm:cxn modelId="{F443A659-540B-487B-97F9-49219CF60D6B}" type="presParOf" srcId="{DE9CE479-E4AE-4283-AEF1-10C1535B4324}" destId="{7C175B98-93F4-4D7C-BB95-1514AB879CD5}" srcOrd="1" destOrd="0" presId="urn:microsoft.com/office/officeart/2018/5/layout/IconCircleLabelList"/>
    <dgm:cxn modelId="{A503D7AB-7D64-4163-93B5-1CEEDAE81823}" type="presParOf" srcId="{DE9CE479-E4AE-4283-AEF1-10C1535B4324}" destId="{677A3090-5F01-43FD-9FA6-C0420AD80FD6}" srcOrd="2" destOrd="0" presId="urn:microsoft.com/office/officeart/2018/5/layout/IconCircleLabelList"/>
    <dgm:cxn modelId="{780188ED-7DCE-45BB-B6AF-91BE48969612}" type="presParOf" srcId="{DE9CE479-E4AE-4283-AEF1-10C1535B4324}" destId="{127117FB-F8A7-4A20-A8A7-EC686DDC76D0}" srcOrd="3" destOrd="0" presId="urn:microsoft.com/office/officeart/2018/5/layout/IconCircleLabelList"/>
    <dgm:cxn modelId="{155719F8-A89B-4E96-BC49-C48BC717F480}" type="presParOf" srcId="{50B3CE7C-E10B-4E23-BD93-03664997C932}" destId="{FD1EED9C-83D3-41AD-A09B-D3B36354168F}" srcOrd="1" destOrd="0" presId="urn:microsoft.com/office/officeart/2018/5/layout/IconCircleLabelList"/>
    <dgm:cxn modelId="{2772E199-56B0-4310-A55E-67D00CA3E59E}" type="presParOf" srcId="{50B3CE7C-E10B-4E23-BD93-03664997C932}" destId="{C998AB0A-577D-44AA-A068-F634DDE7BD47}" srcOrd="2" destOrd="0" presId="urn:microsoft.com/office/officeart/2018/5/layout/IconCircleLabelList"/>
    <dgm:cxn modelId="{4E351D18-D97F-4B92-A608-2E9600B91C28}" type="presParOf" srcId="{C998AB0A-577D-44AA-A068-F634DDE7BD47}" destId="{BCD8CDD9-0C56-4401-ADB1-8B48DAB2C96F}" srcOrd="0" destOrd="0" presId="urn:microsoft.com/office/officeart/2018/5/layout/IconCircleLabelList"/>
    <dgm:cxn modelId="{B3DC724C-4569-4E9D-BD5A-49E4CD991FD0}" type="presParOf" srcId="{C998AB0A-577D-44AA-A068-F634DDE7BD47}" destId="{DB4CA7C4-FCA1-4127-B20A-2A5C031A3CF4}" srcOrd="1" destOrd="0" presId="urn:microsoft.com/office/officeart/2018/5/layout/IconCircleLabelList"/>
    <dgm:cxn modelId="{AD1AB552-CCE0-4911-BB9E-5D4A60B21F4F}" type="presParOf" srcId="{C998AB0A-577D-44AA-A068-F634DDE7BD47}" destId="{9B0C8FBF-0BDD-48A5-967E-F3FE71659F6A}" srcOrd="2" destOrd="0" presId="urn:microsoft.com/office/officeart/2018/5/layout/IconCircleLabelList"/>
    <dgm:cxn modelId="{8558F796-2D01-40FE-A21A-7530EEBC3BC3}" type="presParOf" srcId="{C998AB0A-577D-44AA-A068-F634DDE7BD47}" destId="{7E6FE37A-5DB0-4899-9FCB-0CE39BC185F8}" srcOrd="3" destOrd="0" presId="urn:microsoft.com/office/officeart/2018/5/layout/IconCircleLabelList"/>
    <dgm:cxn modelId="{1532E2BE-82E9-40A4-A6F7-40B60FC879AE}" type="presParOf" srcId="{50B3CE7C-E10B-4E23-BD93-03664997C932}" destId="{5A266296-0042-402F-92EF-D59AB148E92E}" srcOrd="3" destOrd="0" presId="urn:microsoft.com/office/officeart/2018/5/layout/IconCircleLabelList"/>
    <dgm:cxn modelId="{3A7F4DB9-1469-4F58-B633-24B7EEE084D1}" type="presParOf" srcId="{50B3CE7C-E10B-4E23-BD93-03664997C932}" destId="{ECFA770B-DE2C-4683-A038-58D0FE44BC27}" srcOrd="4" destOrd="0" presId="urn:microsoft.com/office/officeart/2018/5/layout/IconCircleLabelList"/>
    <dgm:cxn modelId="{91311827-CDAC-4BA8-B4A3-117AFD1CEE2D}" type="presParOf" srcId="{ECFA770B-DE2C-4683-A038-58D0FE44BC27}" destId="{FF93E135-77D6-48A0-8871-9BC93D705D06}" srcOrd="0" destOrd="0" presId="urn:microsoft.com/office/officeart/2018/5/layout/IconCircleLabelList"/>
    <dgm:cxn modelId="{83B7CA40-11B7-4507-8422-A40F02D469B2}" type="presParOf" srcId="{ECFA770B-DE2C-4683-A038-58D0FE44BC27}" destId="{39509775-983E-4110-B989-EE2CD6514BE0}" srcOrd="1" destOrd="0" presId="urn:microsoft.com/office/officeart/2018/5/layout/IconCircleLabelList"/>
    <dgm:cxn modelId="{A44BB251-01EB-4DEF-A28C-6D495183E4DC}" type="presParOf" srcId="{ECFA770B-DE2C-4683-A038-58D0FE44BC27}" destId="{493B43B2-705C-4AE5-8A77-D8DEEDA1B5CF}" srcOrd="2" destOrd="0" presId="urn:microsoft.com/office/officeart/2018/5/layout/IconCircleLabelList"/>
    <dgm:cxn modelId="{1EFA52DF-3C80-4DAA-BED6-AFE2F81796B2}" type="presParOf" srcId="{ECFA770B-DE2C-4683-A038-58D0FE44BC27}" destId="{1AEDC777-00B3-41D7-9AE1-23D741E941C3}" srcOrd="3" destOrd="0" presId="urn:microsoft.com/office/officeart/2018/5/layout/IconCircle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54381E7-0584-46DD-8108-E9BF4F2B5005}">
      <dsp:nvSpPr>
        <dsp:cNvPr id="0" name=""/>
        <dsp:cNvSpPr/>
      </dsp:nvSpPr>
      <dsp:spPr>
        <a:xfrm rot="16200000">
          <a:off x="2360816" y="-13338"/>
          <a:ext cx="297855" cy="3005230"/>
        </a:xfrm>
        <a:prstGeom prst="round2SameRect">
          <a:avLst/>
        </a:prstGeom>
        <a:solidFill>
          <a:schemeClr val="accent1">
            <a:shade val="80000"/>
            <a:hueOff val="0"/>
            <a:satOff val="0"/>
            <a:lumOff val="0"/>
            <a:alphaOff val="0"/>
          </a:schemeClr>
        </a:solidFill>
        <a:ln w="22225" cap="rnd"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1">
          <a:noAutofit/>
        </a:bodyPr>
        <a:lstStyle/>
        <a:p>
          <a:pPr marL="0" lvl="0" indent="0" algn="ctr" defTabSz="488950">
            <a:lnSpc>
              <a:spcPct val="90000"/>
            </a:lnSpc>
            <a:spcBef>
              <a:spcPct val="0"/>
            </a:spcBef>
            <a:spcAft>
              <a:spcPct val="35000"/>
            </a:spcAft>
            <a:buNone/>
          </a:pPr>
          <a:r>
            <a:rPr lang="en-US" sz="1100" kern="1200" dirty="0"/>
            <a:t>1984-1993 &amp; 1995-2003 (15 seasons) </a:t>
          </a:r>
        </a:p>
      </dsp:txBody>
      <dsp:txXfrm rot="5400000">
        <a:off x="1021669" y="1354889"/>
        <a:ext cx="2990690" cy="268775"/>
      </dsp:txXfrm>
    </dsp:sp>
    <dsp:sp modelId="{5A1B764B-0DC5-47CD-BDEA-9E67799496EC}">
      <dsp:nvSpPr>
        <dsp:cNvPr id="0" name=""/>
        <dsp:cNvSpPr/>
      </dsp:nvSpPr>
      <dsp:spPr>
        <a:xfrm>
          <a:off x="5385" y="0"/>
          <a:ext cx="5008717" cy="10424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83820" numCol="1" spcCol="1270" anchor="b" anchorCtr="1">
          <a:noAutofit/>
        </a:bodyPr>
        <a:lstStyle/>
        <a:p>
          <a:pPr marL="0" lvl="0" indent="0" algn="ctr" defTabSz="488950">
            <a:lnSpc>
              <a:spcPct val="90000"/>
            </a:lnSpc>
            <a:spcBef>
              <a:spcPct val="0"/>
            </a:spcBef>
            <a:spcAft>
              <a:spcPct val="35000"/>
            </a:spcAft>
            <a:buNone/>
          </a:pPr>
          <a:r>
            <a:rPr lang="en-US" sz="1100" kern="1200" dirty="0"/>
            <a:t>MICHAEL JORDAN </a:t>
          </a:r>
        </a:p>
      </dsp:txBody>
      <dsp:txXfrm>
        <a:off x="5385" y="0"/>
        <a:ext cx="5008717" cy="1042493"/>
      </dsp:txXfrm>
    </dsp:sp>
    <dsp:sp modelId="{122B38A3-0442-4747-820C-1F37877E2B0E}">
      <dsp:nvSpPr>
        <dsp:cNvPr id="0" name=""/>
        <dsp:cNvSpPr/>
      </dsp:nvSpPr>
      <dsp:spPr>
        <a:xfrm>
          <a:off x="2509744" y="1102064"/>
          <a:ext cx="0" cy="238284"/>
        </a:xfrm>
        <a:prstGeom prst="line">
          <a:avLst/>
        </a:prstGeom>
        <a:noFill/>
        <a:ln w="12700" cap="rnd" cmpd="sng" algn="ctr">
          <a:solidFill>
            <a:schemeClr val="accent1">
              <a:shade val="90000"/>
              <a:hueOff val="93466"/>
              <a:satOff val="1924"/>
              <a:lumOff val="8231"/>
              <a:alphaOff val="0"/>
            </a:schemeClr>
          </a:solidFill>
          <a:prstDash val="dash"/>
        </a:ln>
        <a:effectLst/>
      </dsp:spPr>
      <dsp:style>
        <a:lnRef idx="1">
          <a:scrgbClr r="0" g="0" b="0"/>
        </a:lnRef>
        <a:fillRef idx="0">
          <a:scrgbClr r="0" g="0" b="0"/>
        </a:fillRef>
        <a:effectRef idx="0">
          <a:scrgbClr r="0" g="0" b="0"/>
        </a:effectRef>
        <a:fontRef idx="minor"/>
      </dsp:style>
    </dsp:sp>
    <dsp:sp modelId="{A73181F6-69BB-4A47-8277-4671A45AC8C8}">
      <dsp:nvSpPr>
        <dsp:cNvPr id="0" name=""/>
        <dsp:cNvSpPr/>
      </dsp:nvSpPr>
      <dsp:spPr>
        <a:xfrm>
          <a:off x="2479958" y="1042493"/>
          <a:ext cx="59571" cy="59571"/>
        </a:xfrm>
        <a:prstGeom prst="ellipse">
          <a:avLst/>
        </a:prstGeom>
        <a:solidFill>
          <a:schemeClr val="accent1">
            <a:shade val="80000"/>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0804A27-188E-4A17-8FFE-97BCCA0597B8}">
      <dsp:nvSpPr>
        <dsp:cNvPr id="0" name=""/>
        <dsp:cNvSpPr/>
      </dsp:nvSpPr>
      <dsp:spPr>
        <a:xfrm>
          <a:off x="4012359" y="1340349"/>
          <a:ext cx="3005230" cy="297855"/>
        </a:xfrm>
        <a:prstGeom prst="rect">
          <a:avLst/>
        </a:prstGeom>
        <a:solidFill>
          <a:srgbClr val="7030A0"/>
        </a:solidFill>
        <a:ln w="22225" cap="rnd" cmpd="sng" algn="ctr">
          <a:solidFill>
            <a:schemeClr val="accent1">
              <a:shade val="80000"/>
              <a:hueOff val="-209202"/>
              <a:satOff val="-828"/>
              <a:lumOff val="14774"/>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1">
          <a:noAutofit/>
        </a:bodyPr>
        <a:lstStyle/>
        <a:p>
          <a:pPr marL="0" lvl="0" indent="0" algn="ctr" defTabSz="488950">
            <a:lnSpc>
              <a:spcPct val="90000"/>
            </a:lnSpc>
            <a:spcBef>
              <a:spcPct val="0"/>
            </a:spcBef>
            <a:spcAft>
              <a:spcPct val="35000"/>
            </a:spcAft>
            <a:buNone/>
          </a:pPr>
          <a:r>
            <a:rPr lang="en-US" sz="1100" kern="1200" dirty="0"/>
            <a:t>1996-2016 (20 seasons) </a:t>
          </a:r>
        </a:p>
      </dsp:txBody>
      <dsp:txXfrm>
        <a:off x="4012359" y="1340349"/>
        <a:ext cx="3005230" cy="297855"/>
      </dsp:txXfrm>
    </dsp:sp>
    <dsp:sp modelId="{DF65791B-462E-4589-B98D-F60587330CA8}">
      <dsp:nvSpPr>
        <dsp:cNvPr id="0" name=""/>
        <dsp:cNvSpPr/>
      </dsp:nvSpPr>
      <dsp:spPr>
        <a:xfrm>
          <a:off x="3010616" y="1936060"/>
          <a:ext cx="5008717" cy="10424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83820" rIns="0" bIns="0" numCol="1" spcCol="1270" anchor="t" anchorCtr="1">
          <a:noAutofit/>
        </a:bodyPr>
        <a:lstStyle/>
        <a:p>
          <a:pPr marL="0" lvl="0" indent="0" algn="ctr" defTabSz="488950">
            <a:lnSpc>
              <a:spcPct val="90000"/>
            </a:lnSpc>
            <a:spcBef>
              <a:spcPct val="0"/>
            </a:spcBef>
            <a:spcAft>
              <a:spcPct val="35000"/>
            </a:spcAft>
            <a:buNone/>
          </a:pPr>
          <a:r>
            <a:rPr lang="en-US" sz="1100" kern="1200" dirty="0"/>
            <a:t>KOBE BRYANT</a:t>
          </a:r>
        </a:p>
      </dsp:txBody>
      <dsp:txXfrm>
        <a:off x="3010616" y="1936060"/>
        <a:ext cx="5008717" cy="1042493"/>
      </dsp:txXfrm>
    </dsp:sp>
    <dsp:sp modelId="{DBA410EB-5F61-4F46-92D9-C5B0AA59EE15}">
      <dsp:nvSpPr>
        <dsp:cNvPr id="0" name=""/>
        <dsp:cNvSpPr/>
      </dsp:nvSpPr>
      <dsp:spPr>
        <a:xfrm>
          <a:off x="5514975" y="1638204"/>
          <a:ext cx="0" cy="238284"/>
        </a:xfrm>
        <a:prstGeom prst="line">
          <a:avLst/>
        </a:prstGeom>
        <a:noFill/>
        <a:ln w="12700" cap="rnd" cmpd="sng" algn="ctr">
          <a:solidFill>
            <a:schemeClr val="accent1">
              <a:shade val="90000"/>
              <a:hueOff val="140199"/>
              <a:satOff val="2886"/>
              <a:lumOff val="12346"/>
              <a:alphaOff val="0"/>
            </a:schemeClr>
          </a:solidFill>
          <a:prstDash val="dash"/>
        </a:ln>
        <a:effectLst/>
      </dsp:spPr>
      <dsp:style>
        <a:lnRef idx="1">
          <a:scrgbClr r="0" g="0" b="0"/>
        </a:lnRef>
        <a:fillRef idx="0">
          <a:scrgbClr r="0" g="0" b="0"/>
        </a:fillRef>
        <a:effectRef idx="0">
          <a:scrgbClr r="0" g="0" b="0"/>
        </a:effectRef>
        <a:fontRef idx="minor"/>
      </dsp:style>
    </dsp:sp>
    <dsp:sp modelId="{E1220EDB-B75C-43A5-B862-97E4C09130A7}">
      <dsp:nvSpPr>
        <dsp:cNvPr id="0" name=""/>
        <dsp:cNvSpPr/>
      </dsp:nvSpPr>
      <dsp:spPr>
        <a:xfrm>
          <a:off x="5485189" y="1876489"/>
          <a:ext cx="59571" cy="59571"/>
        </a:xfrm>
        <a:prstGeom prst="ellipse">
          <a:avLst/>
        </a:prstGeom>
        <a:solidFill>
          <a:schemeClr val="accent1">
            <a:shade val="80000"/>
            <a:hueOff val="-209202"/>
            <a:satOff val="-828"/>
            <a:lumOff val="14774"/>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66B79CB-1A41-4F5C-BF91-58D94BF93913}">
      <dsp:nvSpPr>
        <dsp:cNvPr id="0" name=""/>
        <dsp:cNvSpPr/>
      </dsp:nvSpPr>
      <dsp:spPr>
        <a:xfrm rot="5400000">
          <a:off x="8371277" y="-13338"/>
          <a:ext cx="297855" cy="3005230"/>
        </a:xfrm>
        <a:prstGeom prst="round2SameRect">
          <a:avLst/>
        </a:prstGeom>
        <a:solidFill>
          <a:schemeClr val="accent5"/>
        </a:solidFill>
        <a:ln w="22225" cap="rnd" cmpd="sng" algn="ctr">
          <a:solidFill>
            <a:schemeClr val="accent1">
              <a:shade val="80000"/>
              <a:hueOff val="-418403"/>
              <a:satOff val="-1655"/>
              <a:lumOff val="29548"/>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1">
          <a:noAutofit/>
        </a:bodyPr>
        <a:lstStyle/>
        <a:p>
          <a:pPr marL="0" lvl="0" indent="0" algn="ctr" defTabSz="488950">
            <a:lnSpc>
              <a:spcPct val="90000"/>
            </a:lnSpc>
            <a:spcBef>
              <a:spcPct val="0"/>
            </a:spcBef>
            <a:spcAft>
              <a:spcPct val="35000"/>
            </a:spcAft>
            <a:buNone/>
          </a:pPr>
          <a:r>
            <a:rPr lang="en-US" sz="1100" kern="1200" dirty="0"/>
            <a:t>2003-present (22+ seasons) </a:t>
          </a:r>
        </a:p>
      </dsp:txBody>
      <dsp:txXfrm rot="-5400000">
        <a:off x="7017590" y="1354889"/>
        <a:ext cx="2990690" cy="268775"/>
      </dsp:txXfrm>
    </dsp:sp>
    <dsp:sp modelId="{B4723E2A-4FF1-452A-BD25-8EC364F15A6F}">
      <dsp:nvSpPr>
        <dsp:cNvPr id="0" name=""/>
        <dsp:cNvSpPr/>
      </dsp:nvSpPr>
      <dsp:spPr>
        <a:xfrm>
          <a:off x="6015846" y="0"/>
          <a:ext cx="5008717" cy="10424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83820" numCol="1" spcCol="1270" anchor="b" anchorCtr="1">
          <a:noAutofit/>
        </a:bodyPr>
        <a:lstStyle/>
        <a:p>
          <a:pPr marL="0" lvl="0" indent="0" algn="ctr" defTabSz="488950">
            <a:lnSpc>
              <a:spcPct val="90000"/>
            </a:lnSpc>
            <a:spcBef>
              <a:spcPct val="0"/>
            </a:spcBef>
            <a:spcAft>
              <a:spcPct val="35000"/>
            </a:spcAft>
            <a:buNone/>
          </a:pPr>
          <a:r>
            <a:rPr lang="en-US" sz="1100" kern="1200" dirty="0"/>
            <a:t>LEBRON JAMES </a:t>
          </a:r>
        </a:p>
      </dsp:txBody>
      <dsp:txXfrm>
        <a:off x="6015846" y="0"/>
        <a:ext cx="5008717" cy="1042493"/>
      </dsp:txXfrm>
    </dsp:sp>
    <dsp:sp modelId="{440E9361-37D2-4157-AF38-7B49AD23708B}">
      <dsp:nvSpPr>
        <dsp:cNvPr id="0" name=""/>
        <dsp:cNvSpPr/>
      </dsp:nvSpPr>
      <dsp:spPr>
        <a:xfrm>
          <a:off x="8520205" y="1102064"/>
          <a:ext cx="0" cy="238284"/>
        </a:xfrm>
        <a:prstGeom prst="line">
          <a:avLst/>
        </a:prstGeom>
        <a:noFill/>
        <a:ln w="12700" cap="rnd" cmpd="sng" algn="ctr">
          <a:solidFill>
            <a:schemeClr val="accent1">
              <a:shade val="90000"/>
              <a:hueOff val="186931"/>
              <a:satOff val="3848"/>
              <a:lumOff val="16461"/>
              <a:alphaOff val="0"/>
            </a:schemeClr>
          </a:solidFill>
          <a:prstDash val="dash"/>
        </a:ln>
        <a:effectLst/>
      </dsp:spPr>
      <dsp:style>
        <a:lnRef idx="1">
          <a:scrgbClr r="0" g="0" b="0"/>
        </a:lnRef>
        <a:fillRef idx="0">
          <a:scrgbClr r="0" g="0" b="0"/>
        </a:fillRef>
        <a:effectRef idx="0">
          <a:scrgbClr r="0" g="0" b="0"/>
        </a:effectRef>
        <a:fontRef idx="minor"/>
      </dsp:style>
    </dsp:sp>
    <dsp:sp modelId="{C45E7B63-1C71-483E-A3A8-705CE86D4D8E}">
      <dsp:nvSpPr>
        <dsp:cNvPr id="0" name=""/>
        <dsp:cNvSpPr/>
      </dsp:nvSpPr>
      <dsp:spPr>
        <a:xfrm>
          <a:off x="8490419" y="1042493"/>
          <a:ext cx="59571" cy="59571"/>
        </a:xfrm>
        <a:prstGeom prst="ellipse">
          <a:avLst/>
        </a:prstGeom>
        <a:solidFill>
          <a:schemeClr val="accent1">
            <a:shade val="80000"/>
            <a:hueOff val="-418403"/>
            <a:satOff val="-1655"/>
            <a:lumOff val="29548"/>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59FCF02-CAD2-4D6F-9542-AD86711168CA}">
      <dsp:nvSpPr>
        <dsp:cNvPr id="0" name=""/>
        <dsp:cNvSpPr/>
      </dsp:nvSpPr>
      <dsp:spPr>
        <a:xfrm>
          <a:off x="673607" y="12434"/>
          <a:ext cx="1715625" cy="1715625"/>
        </a:xfrm>
        <a:prstGeom prst="ellipse">
          <a:avLst/>
        </a:prstGeom>
        <a:solidFill>
          <a:schemeClr val="accent1"/>
        </a:solidFill>
        <a:ln>
          <a:noFill/>
        </a:ln>
        <a:effectLst/>
      </dsp:spPr>
      <dsp:style>
        <a:lnRef idx="0">
          <a:scrgbClr r="0" g="0" b="0"/>
        </a:lnRef>
        <a:fillRef idx="1">
          <a:scrgbClr r="0" g="0" b="0"/>
        </a:fillRef>
        <a:effectRef idx="0">
          <a:scrgbClr r="0" g="0" b="0"/>
        </a:effectRef>
        <a:fontRef idx="minor"/>
      </dsp:style>
    </dsp:sp>
    <dsp:sp modelId="{7C175B98-93F4-4D7C-BB95-1514AB879CD5}">
      <dsp:nvSpPr>
        <dsp:cNvPr id="0" name=""/>
        <dsp:cNvSpPr/>
      </dsp:nvSpPr>
      <dsp:spPr>
        <a:xfrm>
          <a:off x="1039232" y="378060"/>
          <a:ext cx="984375" cy="984375"/>
        </a:xfrm>
        <a:prstGeom prst="rect">
          <a:avLst/>
        </a:prstGeom>
        <a:blipFill rotWithShape="1">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w="2222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127117FB-F8A7-4A20-A8A7-EC686DDC76D0}">
      <dsp:nvSpPr>
        <dsp:cNvPr id="0" name=""/>
        <dsp:cNvSpPr/>
      </dsp:nvSpPr>
      <dsp:spPr>
        <a:xfrm>
          <a:off x="97382" y="2262435"/>
          <a:ext cx="2868075"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defRPr cap="all"/>
          </a:pPr>
          <a:r>
            <a:rPr lang="en-US" sz="1600" kern="1200" dirty="0"/>
            <a:t>Identify Missing data &amp; Incomplete Rows </a:t>
          </a:r>
        </a:p>
      </dsp:txBody>
      <dsp:txXfrm>
        <a:off x="97382" y="2262435"/>
        <a:ext cx="2868075" cy="720000"/>
      </dsp:txXfrm>
    </dsp:sp>
    <dsp:sp modelId="{BCD8CDD9-0C56-4401-ADB1-8B48DAB2C96F}">
      <dsp:nvSpPr>
        <dsp:cNvPr id="0" name=""/>
        <dsp:cNvSpPr/>
      </dsp:nvSpPr>
      <dsp:spPr>
        <a:xfrm>
          <a:off x="4006082" y="12434"/>
          <a:ext cx="1715625" cy="1715625"/>
        </a:xfrm>
        <a:prstGeom prst="ellipse">
          <a:avLst/>
        </a:prstGeom>
        <a:solidFill>
          <a:schemeClr val="accent1"/>
        </a:solidFill>
        <a:ln>
          <a:noFill/>
        </a:ln>
        <a:effectLst/>
      </dsp:spPr>
      <dsp:style>
        <a:lnRef idx="0">
          <a:scrgbClr r="0" g="0" b="0"/>
        </a:lnRef>
        <a:fillRef idx="1">
          <a:scrgbClr r="0" g="0" b="0"/>
        </a:fillRef>
        <a:effectRef idx="0">
          <a:scrgbClr r="0" g="0" b="0"/>
        </a:effectRef>
        <a:fontRef idx="minor"/>
      </dsp:style>
    </dsp:sp>
    <dsp:sp modelId="{DB4CA7C4-FCA1-4127-B20A-2A5C031A3CF4}">
      <dsp:nvSpPr>
        <dsp:cNvPr id="0" name=""/>
        <dsp:cNvSpPr/>
      </dsp:nvSpPr>
      <dsp:spPr>
        <a:xfrm>
          <a:off x="4371707" y="378060"/>
          <a:ext cx="984375" cy="984375"/>
        </a:xfrm>
        <a:prstGeom prst="rect">
          <a:avLst/>
        </a:prstGeom>
        <a:blipFill rotWithShape="1">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w="2222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7E6FE37A-5DB0-4899-9FCB-0CE39BC185F8}">
      <dsp:nvSpPr>
        <dsp:cNvPr id="0" name=""/>
        <dsp:cNvSpPr/>
      </dsp:nvSpPr>
      <dsp:spPr>
        <a:xfrm>
          <a:off x="3457644" y="2262435"/>
          <a:ext cx="28125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defRPr cap="all"/>
          </a:pPr>
          <a:r>
            <a:rPr lang="en-US" sz="1600" kern="1200" dirty="0"/>
            <a:t>Removed any rows with missing or “0” games played </a:t>
          </a:r>
        </a:p>
      </dsp:txBody>
      <dsp:txXfrm>
        <a:off x="3457644" y="2262435"/>
        <a:ext cx="2812500" cy="720000"/>
      </dsp:txXfrm>
    </dsp:sp>
    <dsp:sp modelId="{FF93E135-77D6-48A0-8871-9BC93D705D06}">
      <dsp:nvSpPr>
        <dsp:cNvPr id="0" name=""/>
        <dsp:cNvSpPr/>
      </dsp:nvSpPr>
      <dsp:spPr>
        <a:xfrm>
          <a:off x="7710791" y="12434"/>
          <a:ext cx="1715625" cy="1715625"/>
        </a:xfrm>
        <a:prstGeom prst="ellipse">
          <a:avLst/>
        </a:prstGeom>
        <a:solidFill>
          <a:schemeClr val="accent1"/>
        </a:solidFill>
        <a:ln>
          <a:noFill/>
        </a:ln>
        <a:effectLst/>
      </dsp:spPr>
      <dsp:style>
        <a:lnRef idx="0">
          <a:scrgbClr r="0" g="0" b="0"/>
        </a:lnRef>
        <a:fillRef idx="1">
          <a:scrgbClr r="0" g="0" b="0"/>
        </a:fillRef>
        <a:effectRef idx="0">
          <a:scrgbClr r="0" g="0" b="0"/>
        </a:effectRef>
        <a:fontRef idx="minor"/>
      </dsp:style>
    </dsp:sp>
    <dsp:sp modelId="{39509775-983E-4110-B989-EE2CD6514BE0}">
      <dsp:nvSpPr>
        <dsp:cNvPr id="0" name=""/>
        <dsp:cNvSpPr/>
      </dsp:nvSpPr>
      <dsp:spPr>
        <a:xfrm>
          <a:off x="8076416" y="378060"/>
          <a:ext cx="984375" cy="984375"/>
        </a:xfrm>
        <a:prstGeom prst="rect">
          <a:avLst/>
        </a:prstGeom>
        <a:blipFill rotWithShape="1">
          <a:blip xmlns:r="http://schemas.openxmlformats.org/officeDocument/2006/relationships" r:embed="rId5">
            <a:extLst>
              <a:ext uri="{96DAC541-7B7A-43D3-8B79-37D633B846F1}">
                <asvg:svgBlip xmlns:asvg="http://schemas.microsoft.com/office/drawing/2016/SVG/main" r:embed="rId6"/>
              </a:ext>
            </a:extLst>
          </a:blip>
          <a:srcRect/>
          <a:stretch>
            <a:fillRect/>
          </a:stretch>
        </a:blipFill>
        <a:ln w="2222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1AEDC777-00B3-41D7-9AE1-23D741E941C3}">
      <dsp:nvSpPr>
        <dsp:cNvPr id="0" name=""/>
        <dsp:cNvSpPr/>
      </dsp:nvSpPr>
      <dsp:spPr>
        <a:xfrm>
          <a:off x="6762332" y="2262435"/>
          <a:ext cx="3612543"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defRPr cap="all"/>
          </a:pPr>
          <a:r>
            <a:rPr lang="en-US" sz="1600" kern="1200" dirty="0"/>
            <a:t>Filtered out unnecessary columns and double check formatting </a:t>
          </a:r>
        </a:p>
      </dsp:txBody>
      <dsp:txXfrm>
        <a:off x="6762332" y="2262435"/>
        <a:ext cx="3612543" cy="720000"/>
      </dsp:txXfrm>
    </dsp:sp>
  </dsp:spTree>
</dsp:drawing>
</file>

<file path=ppt/diagrams/layout1.xml><?xml version="1.0" encoding="utf-8"?>
<dgm:layoutDef xmlns:dgm="http://schemas.openxmlformats.org/drawingml/2006/diagram" xmlns:a="http://schemas.openxmlformats.org/drawingml/2006/main" uniqueId="urn:microsoft.com/office/officeart/2016/7/layout/RoundedRectangleTimeline">
  <dgm:title val="Rounded Rectangle Timeline"/>
  <dgm:desc val="Use to show a list of events in chronological order. An invisible box contains the description while the date is shown in rectangles, except for the first and last node where the corners of the rectangle are rounded. It can display large amount of text and long descriptive date format."/>
  <dgm:catLst>
    <dgm:cat type="timeline" pri="500"/>
    <dgm:cat type="process" pri="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Name0">
    <dgm:varLst>
      <dgm:chMax/>
      <dgm:chPref/>
      <dgm:animLvl val="lvl"/>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constrLst>
      <dgm:constr type="primFontSz" for="des" forName="parent" val="18"/>
      <dgm:constr type="primFontSz" for="des" forName="Childtext" val="18"/>
      <dgm:constr type="primFontSz" for="des" forName="Childtext" refType="primFontSz" refFor="des" refForName="parent" op="lte"/>
      <dgm:constr type="w" for="ch" forName="composite" refType="w"/>
      <dgm:constr type="h" for="ch" forName="composite" refType="h"/>
      <dgm:constr type="w" for="ch" forName="spaceBetweenRectangles" refType="w" refFor="ch" refForName="composite" fact="-0.4"/>
      <dgm:constr type="w" for="ch" ptType="sibTrans" op="equ"/>
      <dgm:constr type="primFontSz" for="des" forName="parent" op="equ"/>
      <dgm:constr type="primFontSz" for="des" forName="Childtext" op="equ"/>
      <dgm:constr type="primFontSz" for="des" forName="parent1" val="18"/>
      <dgm:constr type="primFontSz" for="des" forName="Childtext1" val="18"/>
      <dgm:constr type="primFontSz" for="des" forName="Childtext1" refType="primFontSz" refFor="des" refForName="parent1" op="lte"/>
      <dgm:constr type="w" for="ch" forName="composite1" refType="w"/>
      <dgm:constr type="h" for="ch" forName="composite1" refType="h"/>
      <dgm:constr type="w" for="ch" forName="spaceBetweenRectangles1" refType="w" refFor="ch" refForName="composite1" fact="-0.4"/>
      <dgm:constr type="primFontSz" for="des" forName="parent1" op="equ"/>
      <dgm:constr type="primFontSz" for="des" forName="Childtext1" op="equ"/>
    </dgm:constrLst>
    <dgm:choose name="layoutByNodeCnt">
      <dgm:if name="twoOrLessNodes" axis="ch" ptType="node" func="cnt" op="lte" val="2">
        <dgm:forEach name="nodesForEach" axis="ch" ptType="node">
          <dgm:layoutNode name="composite">
            <dgm:alg type="composite"/>
            <dgm:shape xmlns:r="http://schemas.openxmlformats.org/officeDocument/2006/relationships" r:blip="">
              <dgm:adjLst/>
            </dgm:shape>
            <dgm:choose name="casesForFirstAndLastNode1">
              <dgm:if name="startNode1" axis="self" ptType="node" func="pos" op="equ" val="1">
                <dgm:choose name="removeLineWhenOnlyOneNode1">
                  <dgm:if name="ifOnlyOneNode1" axis="followSib" ptType="node" func="cnt" op="equ" val="0">
                    <dgm:constrLst>
                      <dgm:constr type="w" for="ch" forName="parent" refType="w" fact="0.95"/>
                      <dgm:constr type="l" for="ch" forName="parent" refType="w" fact="0.025"/>
                      <dgm:constr type="t" for="ch" forName="parent" refType="h" fact="0.45"/>
                      <dgm:constr type="h" for="ch" forName="parent" refType="h" fact="0.1"/>
                      <dgm:constr type="l" for="ch" forName="Childtext" refType="w" fact="0.025"/>
                      <dgm:constr type="w" for="ch" forName="Childtext" refType="w" fact="0.95"/>
                      <dgm:constr type="h" for="ch" forName="Childtext" refType="h" fact="0.35"/>
                      <dgm:constr type="w" for="ch" forName="ConnectLine"/>
                      <dgm:constr type="h" for="ch" forName="ConnectLine" refType="h" fact="0.08"/>
                      <dgm:constr type="t" for="ch" forName="ConnectLine" refType="h" fact="0.37"/>
                      <dgm:constr type="ctrX" for="ch" forName="ConnectLine" refType="w" fact="0.5"/>
                      <dgm:constr type="w" for="ch" forName="ConnectLineEnd" refType="h" fact="0.02"/>
                      <dgm:constr type="h" for="ch" forName="ConnectLineEnd" refType="h" fact="0.02"/>
                      <dgm:constr type="t" for="ch" forName="ConnectLineEnd" refType="h" fact="0.35"/>
                      <dgm:constr type="ctrX" for="ch" forName="ConnectLineEnd" refType="w" fact="0.5"/>
                      <dgm:constr type="w" for="ch" forName="EmptyPane" refType="w"/>
                      <dgm:constr type="t" for="ch" forName="EmptyPane" refType="h" fact="0.55"/>
                      <dgm:constr type="h" for="ch" forName="EmptyPane" refType="h" fact="0.45"/>
                    </dgm:constrLst>
                  </dgm:if>
                  <dgm:else name="ifMoreThanOneNode1">
                    <dgm:constrLst>
                      <dgm:constr type="w" for="ch" forName="parent" refType="w" fact="0.6"/>
                      <dgm:constr type="l" for="ch" forName="parent" refType="w" fact="0.2"/>
                      <dgm:constr type="t" for="ch" forName="parent" refType="h" fact="0.45"/>
                      <dgm:constr type="h" for="ch" forName="parent" refType="h" fact="0.1"/>
                      <dgm:constr type="l" for="ch" forName="Childtext" refType="w" fact="0.2"/>
                      <dgm:constr type="w" for="ch" forName="Childtext" refType="w" fact="0.6"/>
                      <dgm:constr type="h" for="ch" forName="Childtext" refType="h" fact="0.35"/>
                      <dgm:constr type="w" for="ch" forName="ConnectLine"/>
                      <dgm:constr type="h" for="ch" forName="ConnectLine" refType="h" fact="0.08"/>
                      <dgm:constr type="t" for="ch" forName="ConnectLine" refType="h" fact="0.37"/>
                      <dgm:constr type="ctrX" for="ch" forName="ConnectLine" refType="w" fact="0.5"/>
                      <dgm:constr type="w" for="ch" forName="ConnectLineEnd" refType="h" fact="0.02"/>
                      <dgm:constr type="h" for="ch" forName="ConnectLineEnd" refType="h" fact="0.02"/>
                      <dgm:constr type="t" for="ch" forName="ConnectLineEnd" refType="h" fact="0.35"/>
                      <dgm:constr type="ctrX" for="ch" forName="ConnectLineEnd" refType="w" fact="0.5"/>
                      <dgm:constr type="w" for="ch" forName="EmptyPane" refType="w"/>
                      <dgm:constr type="t" for="ch" forName="EmptyPane" refType="h" fact="0.55"/>
                      <dgm:constr type="h" for="ch" forName="EmptyPane" refType="h" fact="0.45"/>
                    </dgm:constrLst>
                  </dgm:else>
                </dgm:choose>
              </dgm:if>
              <dgm:else name="notStartNode1">
                <dgm:constrLst>
                  <dgm:constr type="w" for="ch" forName="parent" refType="w" fact="0.6"/>
                  <dgm:constr type="l" for="ch" forName="parent" refType="w" fact="0.2"/>
                  <dgm:constr type="t" for="ch" forName="parent" refType="h" fact="0.45"/>
                  <dgm:constr type="h" for="ch" forName="parent" refType="h" fact="0.1"/>
                  <dgm:constr type="l" for="ch" forName="Childtext" refType="w" fact="0.2"/>
                  <dgm:constr type="w" for="ch" forName="Childtext" refType="w" fact="0.6"/>
                  <dgm:constr type="h" for="ch" forName="Childtext" refType="h" fact="0.35"/>
                  <dgm:constr type="t" for="ch" forName="Childtext" refType="h" fact="0.65"/>
                  <dgm:constr type="w" for="ch" forName="ConnectLine"/>
                  <dgm:constr type="h" for="ch" forName="ConnectLine" refType="h" fact="0.08"/>
                  <dgm:constr type="t" for="ch" forName="ConnectLine" refType="h" fact="0.55"/>
                  <dgm:constr type="ctrX" for="ch" forName="ConnectLine" refType="w" fact="0.5"/>
                  <dgm:constr type="w" for="ch" forName="ConnectLineEnd" refType="h" fact="0.02"/>
                  <dgm:constr type="h" for="ch" forName="ConnectLineEnd" refType="h" fact="0.02"/>
                  <dgm:constr type="b" for="ch" forName="ConnectLineEnd" refType="h" fact="0.65"/>
                  <dgm:constr type="ctrX" for="ch" forName="ConnectLineEnd" refType="w" fact="0.5"/>
                  <dgm:constr type="w" for="ch" forName="EmptyPane" refType="w"/>
                  <dgm:constr type="h" for="ch" forName="EmptyPane" refType="h" fact="0.45"/>
                </dgm:constrLst>
              </dgm:else>
            </dgm:choose>
            <dgm:layoutNode name="parent" styleLbl="alignNode1">
              <dgm:varLst>
                <dgm:chMax val="1"/>
                <dgm:chPref val="1"/>
                <dgm:bulletEnabled val="1"/>
              </dgm:varLst>
              <dgm:alg type="tx">
                <dgm:param type="txAnchorHorz" val="ctr"/>
                <dgm:param type="txAnchorVert" val="mid"/>
                <dgm:param type="parTxLTRAlign" val="ctr"/>
                <dgm:param type="parTxRTLAlign" val="ctr"/>
              </dgm:alg>
              <dgm:choose name="casesForFirstAndLastNode">
                <dgm:if name="startNode" axis="self" ptType="node" func="pos" op="equ" val="1">
                  <dgm:choose name="removeLineWhenOnlyOneNode">
                    <dgm:if name="ifOnlyOneNode" axis="followSib" ptType="node" func="cnt" op="equ" val="0">
                      <dgm:shape xmlns:r="http://schemas.openxmlformats.org/officeDocument/2006/relationships" type="roundRect" r:blip="">
                        <dgm:adjLst/>
                      </dgm:shape>
                    </dgm:if>
                    <dgm:else name="ifMoreThanOneNode">
                      <dgm:choose name="Name18">
                        <dgm:if name="Name19" func="var" arg="dir" op="equ" val="norm">
                          <dgm:shape xmlns:r="http://schemas.openxmlformats.org/officeDocument/2006/relationships" rot="-90" type="round2SameRect" r:blip="">
                            <dgm:adjLst/>
                          </dgm:shape>
                        </dgm:if>
                        <dgm:else name="Name20">
                          <dgm:shape xmlns:r="http://schemas.openxmlformats.org/officeDocument/2006/relationships" rot="90" type="round2SameRect" r:blip="">
                            <dgm:adjLst/>
                          </dgm:shape>
                        </dgm:else>
                      </dgm:choose>
                    </dgm:else>
                  </dgm:choose>
                </dgm:if>
                <dgm:else name="notStartNode">
                  <dgm:choose name="Name22">
                    <dgm:if name="Name23" axis="self" ptType="node" func="revPos" op="equ" val="1">
                      <dgm:choose name="Name24">
                        <dgm:if name="Name25" func="var" arg="dir" op="equ" val="norm">
                          <dgm:shape xmlns:r="http://schemas.openxmlformats.org/officeDocument/2006/relationships" rot="90" type="round2SameRect" r:blip="">
                            <dgm:adjLst/>
                          </dgm:shape>
                        </dgm:if>
                        <dgm:else name="Name26">
                          <dgm:shape xmlns:r="http://schemas.openxmlformats.org/officeDocument/2006/relationships" rot="-90" type="round2SameRect" r:blip="">
                            <dgm:adjLst/>
                          </dgm:shape>
                        </dgm:else>
                      </dgm:choose>
                    </dgm:if>
                    <dgm:else name="Name27">
                      <dgm:shape xmlns:r="http://schemas.openxmlformats.org/officeDocument/2006/relationships" type="rect" r:blip="">
                        <dgm:adjLst/>
                      </dgm:shape>
                    </dgm:else>
                  </dgm:choose>
                </dgm:else>
              </dgm:choose>
              <dgm:presOf axis="self" ptType="node"/>
              <dgm:constrLst>
                <dgm:constr type="lMarg" refType="primFontSz" fact="0.6"/>
                <dgm:constr type="rMarg" refType="primFontSz" fact="0.6"/>
                <dgm:constr type="tMarg" refType="primFontSz" fact="0.6"/>
                <dgm:constr type="bMarg" refType="primFontSz" fact="0.6"/>
              </dgm:constrLst>
              <dgm:ruleLst>
                <dgm:rule type="primFontSz" val="11" fact="NaN" max="NaN"/>
              </dgm:ruleLst>
            </dgm:layoutNode>
            <dgm:layoutNode name="Childtext" styleLbl="revTx">
              <dgm:varLst>
                <dgm:bulletEnabled val="1"/>
              </dgm:varLst>
              <dgm:choose name="casesForTxtDirLogic">
                <dgm:if name="Name77" axis="self" ptType="node" func="posOdd" op="equ" val="1">
                  <dgm:alg type="tx">
                    <dgm:param type="txAnchorVert" val="b"/>
                    <dgm:param type="txAnchorHorz" val="ctr"/>
                    <dgm:param type="parTxLTRAlign" val="ctr"/>
                    <dgm:param type="parTxRTLAlign" val="ctr"/>
                  </dgm:alg>
                  <dgm:constrLst>
                    <dgm:constr type="lMarg"/>
                    <dgm:constr type="rMarg"/>
                    <dgm:constr type="tMarg"/>
                    <dgm:constr type="bMarg" refType="primFontSz" fact="0.6"/>
                  </dgm:constrLst>
                </dgm:if>
                <dgm:else name="Name88">
                  <dgm:alg type="tx">
                    <dgm:param type="txAnchorVert" val="t"/>
                    <dgm:param type="txAnchorHorz" val="ctr"/>
                    <dgm:param type="parTxLTRAlign" val="ctr"/>
                    <dgm:param type="parTxRTLAlign" val="ctr"/>
                  </dgm:alg>
                  <dgm:constrLst>
                    <dgm:constr type="lMarg"/>
                    <dgm:constr type="rMarg"/>
                    <dgm:constr type="tMarg" refType="primFontSz" fact="0.6"/>
                    <dgm:constr type="bMarg"/>
                  </dgm:constrLst>
                </dgm:else>
              </dgm:choose>
              <dgm:shape xmlns:r="http://schemas.openxmlformats.org/officeDocument/2006/relationships" type="rect" r:blip="">
                <dgm:adjLst/>
              </dgm:shape>
              <dgm:presOf axis="ch" ptType="node"/>
              <dgm:ruleLst>
                <dgm:rule type="primFontSz" val="11" fact="NaN" max="NaN"/>
              </dgm:ruleLst>
            </dgm:layoutNode>
            <dgm:layoutNode name="ConnectLine" styleLbl="sibTrans1D1">
              <dgm:alg type="sp"/>
              <dgm:shape xmlns:r="http://schemas.openxmlformats.org/officeDocument/2006/relationships" type="line" r:blip="">
                <dgm:adjLst/>
                <dgm:extLst>
                  <a:ext uri="{B698B0E9-8C71-41B9-8309-B3DCBF30829C}">
                    <dgm1612:spPr xmlns:dgm1612="http://schemas.microsoft.com/office/drawing/2016/12/diagram">
                      <a:ln>
                        <a:prstDash val="dash"/>
                      </a:ln>
                    </dgm1612:spPr>
                  </a:ext>
                </dgm:extLst>
              </dgm:shape>
              <dgm:presOf/>
              <dgm:constrLst/>
            </dgm:layoutNode>
            <dgm:layoutNode name="ConnectLineEnd" styleLbl="lnNode1">
              <dgm:alg type="sp"/>
              <dgm:shape xmlns:r="http://schemas.openxmlformats.org/officeDocument/2006/relationships" type="ellipse" r:blip="">
                <dgm:adjLst/>
              </dgm:shape>
              <dgm:presOf/>
              <dgm:constrLst/>
            </dgm:layoutNode>
            <dgm:layoutNode name="EmptyPane">
              <dgm:alg type="sp"/>
              <dgm:shape xmlns:r="http://schemas.openxmlformats.org/officeDocument/2006/relationships" r:blip="">
                <dgm:adjLst/>
              </dgm:shape>
              <dgm:presOf/>
              <dgm:constrLst/>
            </dgm:layoutNode>
          </dgm:layoutNode>
          <dgm:forEach name="Name28" axis="followSib" ptType="sibTrans" cnt="1">
            <dgm:layoutNode name="spaceBetweenRectangles">
              <dgm:alg type="sp"/>
              <dgm:shape xmlns:r="http://schemas.openxmlformats.org/officeDocument/2006/relationships" r:blip="">
                <dgm:adjLst/>
              </dgm:shape>
              <dgm:presOf/>
              <dgm:constrLst/>
              <dgm:ruleLst/>
            </dgm:layoutNode>
          </dgm:forEach>
        </dgm:forEach>
      </dgm:if>
      <dgm:else name="moreThanTwoNodes">
        <dgm:forEach name="nodesForEach1" axis="ch" ptType="node">
          <dgm:layoutNode name="composite1">
            <dgm:alg type="composite"/>
            <dgm:shape xmlns:r="http://schemas.openxmlformats.org/officeDocument/2006/relationships" r:blip="">
              <dgm:adjLst/>
            </dgm:shape>
            <dgm:choose name="casesForSnakingLogic21">
              <dgm:if name="oddNode21" axis="self" ptType="node" func="posOdd" op="equ" val="1">
                <dgm:constrLst>
                  <dgm:constr type="w" for="ch" forName="parent1" refType="w" fact="0.6"/>
                  <dgm:constr type="l" for="ch" forName="parent1" refType="w" fact="0.2"/>
                  <dgm:constr type="t" for="ch" forName="parent1" refType="h" fact="0.45"/>
                  <dgm:constr type="h" for="ch" forName="parent1" refType="h" fact="0.1"/>
                  <dgm:constr type="w" for="ch" forName="Childtext1" refType="w"/>
                  <dgm:constr type="h" for="ch" forName="Childtext1" refType="h" fact="0.35"/>
                  <dgm:constr type="w" for="ch" forName="ConnectLine1"/>
                  <dgm:constr type="h" for="ch" forName="ConnectLine1" refType="h" fact="0.08"/>
                  <dgm:constr type="t" for="ch" forName="ConnectLine1" refType="h" fact="0.37"/>
                  <dgm:constr type="ctrX" for="ch" forName="ConnectLine1" refType="w" fact="0.5"/>
                  <dgm:constr type="w" for="ch" forName="ConnectLineEnd1" refType="h" fact="0.02"/>
                  <dgm:constr type="h" for="ch" forName="ConnectLineEnd1" refType="h" fact="0.02"/>
                  <dgm:constr type="t" for="ch" forName="ConnectLineEnd1" refType="h" fact="0.35"/>
                  <dgm:constr type="ctrX" for="ch" forName="ConnectLineEnd1" refType="w" fact="0.5"/>
                  <dgm:constr type="w" for="ch" forName="EmptyPane1" refType="w"/>
                  <dgm:constr type="t" for="ch" forName="EmptyPane1" refType="h" fact="0.55"/>
                  <dgm:constr type="h" for="ch" forName="EmptyPane1" refType="h" fact="0.45"/>
                </dgm:constrLst>
              </dgm:if>
              <dgm:else name="evenNode2">
                <dgm:constrLst>
                  <dgm:constr type="w" for="ch" forName="parent1" refType="w" fact="0.6"/>
                  <dgm:constr type="l" for="ch" forName="parent1" refType="w" fact="0.2"/>
                  <dgm:constr type="t" for="ch" forName="parent1" refType="h" fact="0.45"/>
                  <dgm:constr type="h" for="ch" forName="parent1" refType="h" fact="0.1"/>
                  <dgm:constr type="w" for="ch" forName="Childtext1" refType="w"/>
                  <dgm:constr type="h" for="ch" forName="Childtext1" refType="h" fact="0.35"/>
                  <dgm:constr type="t" for="ch" forName="Childtext1" refType="h" fact="0.65"/>
                  <dgm:constr type="w" for="ch" forName="ConnectLine1"/>
                  <dgm:constr type="h" for="ch" forName="ConnectLine1" refType="h" fact="0.08"/>
                  <dgm:constr type="t" for="ch" forName="ConnectLine1" refType="h" fact="0.55"/>
                  <dgm:constr type="ctrX" for="ch" forName="ConnectLine1" refType="w" fact="0.5"/>
                  <dgm:constr type="w" for="ch" forName="ConnectLineEnd1" refType="h" fact="0.02"/>
                  <dgm:constr type="h" for="ch" forName="ConnectLineEnd1" refType="h" fact="0.02"/>
                  <dgm:constr type="b" for="ch" forName="ConnectLineEnd1" refType="h" fact="0.65"/>
                  <dgm:constr type="ctrX" for="ch" forName="ConnectLineEnd1" refType="w" fact="0.5"/>
                  <dgm:constr type="w" for="ch" forName="EmptyPane1" refType="w"/>
                  <dgm:constr type="h" for="ch" forName="EmptyPane1" refType="h" fact="0.45"/>
                </dgm:constrLst>
              </dgm:else>
            </dgm:choose>
            <dgm:layoutNode name="parent1" styleLbl="alignNode1">
              <dgm:varLst>
                <dgm:chMax val="1"/>
                <dgm:chPref val="1"/>
                <dgm:bulletEnabled val="1"/>
              </dgm:varLst>
              <dgm:alg type="tx">
                <dgm:param type="txAnchorHorz" val="ctr"/>
                <dgm:param type="txAnchorVert" val="mid"/>
                <dgm:param type="parTxLTRAlign" val="ctr"/>
                <dgm:param type="parTxRTLAlign" val="ctr"/>
              </dgm:alg>
              <dgm:choose name="casesForFirstAndLastNode12">
                <dgm:if name="startNode12" axis="self" ptType="node" func="pos" op="equ" val="1">
                  <dgm:choose name="removeLineWhenOnlyOneNode12">
                    <dgm:if name="ifOnlyOneNode12" axis="followSib" ptType="node" func="cnt" op="equ" val="0">
                      <dgm:shape xmlns:r="http://schemas.openxmlformats.org/officeDocument/2006/relationships" type="roundRect" r:blip="">
                        <dgm:adjLst/>
                      </dgm:shape>
                    </dgm:if>
                    <dgm:else name="ifMoreThanOneNode12">
                      <dgm:choose name="Name181">
                        <dgm:if name="Name191" func="var" arg="dir" op="equ" val="norm">
                          <dgm:shape xmlns:r="http://schemas.openxmlformats.org/officeDocument/2006/relationships" rot="-90" type="round2SameRect" r:blip="">
                            <dgm:adjLst/>
                          </dgm:shape>
                        </dgm:if>
                        <dgm:else name="Name201">
                          <dgm:shape xmlns:r="http://schemas.openxmlformats.org/officeDocument/2006/relationships" rot="90" type="round2SameRect" r:blip="">
                            <dgm:adjLst/>
                          </dgm:shape>
                        </dgm:else>
                      </dgm:choose>
                    </dgm:else>
                  </dgm:choose>
                </dgm:if>
                <dgm:else name="notStartNode12">
                  <dgm:choose name="Name221">
                    <dgm:if name="Name231" axis="self" ptType="node" func="revPos" op="equ" val="1">
                      <dgm:choose name="Name241">
                        <dgm:if name="Name251" func="var" arg="dir" op="equ" val="norm">
                          <dgm:shape xmlns:r="http://schemas.openxmlformats.org/officeDocument/2006/relationships" rot="90" type="round2SameRect" r:blip="">
                            <dgm:adjLst/>
                          </dgm:shape>
                        </dgm:if>
                        <dgm:else name="Name261">
                          <dgm:shape xmlns:r="http://schemas.openxmlformats.org/officeDocument/2006/relationships" rot="-90" type="round2SameRect" r:blip="">
                            <dgm:adjLst/>
                          </dgm:shape>
                        </dgm:else>
                      </dgm:choose>
                    </dgm:if>
                    <dgm:else name="Name271">
                      <dgm:shape xmlns:r="http://schemas.openxmlformats.org/officeDocument/2006/relationships" type="rect" r:blip="">
                        <dgm:adjLst/>
                      </dgm:shape>
                    </dgm:else>
                  </dgm:choose>
                </dgm:else>
              </dgm:choose>
              <dgm:presOf axis="self" ptType="node"/>
              <dgm:constrLst>
                <dgm:constr type="lMarg" refType="primFontSz" fact="0.6"/>
                <dgm:constr type="rMarg" refType="primFontSz" fact="0.6"/>
                <dgm:constr type="tMarg" refType="primFontSz" fact="0.6"/>
                <dgm:constr type="bMarg" refType="primFontSz" fact="0.6"/>
              </dgm:constrLst>
              <dgm:ruleLst>
                <dgm:rule type="primFontSz" val="11" fact="NaN" max="NaN"/>
              </dgm:ruleLst>
            </dgm:layoutNode>
            <dgm:layoutNode name="Childtext1" styleLbl="revTx">
              <dgm:varLst>
                <dgm:bulletEnabled val="1"/>
              </dgm:varLst>
              <dgm:choose name="casesForTxtDirLogic1">
                <dgm:if name="Name771" axis="self" ptType="node" func="posOdd" op="equ" val="1">
                  <dgm:alg type="tx">
                    <dgm:param type="txAnchorVert" val="b"/>
                    <dgm:param type="txAnchorHorz" val="ctr"/>
                    <dgm:param type="parTxLTRAlign" val="ctr"/>
                    <dgm:param type="parTxRTLAlign" val="ctr"/>
                  </dgm:alg>
                  <dgm:constrLst>
                    <dgm:constr type="lMarg"/>
                    <dgm:constr type="rMarg"/>
                    <dgm:constr type="tMarg"/>
                    <dgm:constr type="bMarg" refType="primFontSz" fact="0.6"/>
                  </dgm:constrLst>
                </dgm:if>
                <dgm:else name="Name881">
                  <dgm:alg type="tx">
                    <dgm:param type="txAnchorVert" val="t"/>
                    <dgm:param type="txAnchorHorz" val="ctr"/>
                    <dgm:param type="parTxLTRAlign" val="ctr"/>
                    <dgm:param type="parTxRTLAlign" val="ctr"/>
                  </dgm:alg>
                  <dgm:constrLst>
                    <dgm:constr type="lMarg"/>
                    <dgm:constr type="rMarg"/>
                    <dgm:constr type="tMarg" refType="primFontSz" fact="0.6"/>
                    <dgm:constr type="bMarg"/>
                  </dgm:constrLst>
                </dgm:else>
              </dgm:choose>
              <dgm:shape xmlns:r="http://schemas.openxmlformats.org/officeDocument/2006/relationships" type="rect" r:blip="">
                <dgm:adjLst/>
              </dgm:shape>
              <dgm:presOf axis="ch" ptType="node"/>
              <dgm:ruleLst>
                <dgm:rule type="primFontSz" val="11" fact="NaN" max="NaN"/>
              </dgm:ruleLst>
            </dgm:layoutNode>
            <dgm:layoutNode name="ConnectLine1" styleLbl="sibTrans1D1">
              <dgm:alg type="sp"/>
              <dgm:shape xmlns:r="http://schemas.openxmlformats.org/officeDocument/2006/relationships" type="line" r:blip="">
                <dgm:adjLst/>
                <dgm:extLst>
                  <a:ext uri="{B698B0E9-8C71-41B9-8309-B3DCBF30829C}">
                    <dgm1612:spPr xmlns:dgm1612="http://schemas.microsoft.com/office/drawing/2016/12/diagram">
                      <a:ln>
                        <a:prstDash val="dash"/>
                      </a:ln>
                    </dgm1612:spPr>
                  </a:ext>
                </dgm:extLst>
              </dgm:shape>
              <dgm:presOf/>
              <dgm:constrLst/>
            </dgm:layoutNode>
            <dgm:layoutNode name="ConnectLineEnd1" styleLbl="lnNode1">
              <dgm:alg type="sp"/>
              <dgm:shape xmlns:r="http://schemas.openxmlformats.org/officeDocument/2006/relationships" type="ellipse" r:blip="">
                <dgm:adjLst/>
              </dgm:shape>
              <dgm:presOf/>
              <dgm:constrLst/>
            </dgm:layoutNode>
            <dgm:layoutNode name="EmptyPane1">
              <dgm:alg type="sp"/>
              <dgm:shape xmlns:r="http://schemas.openxmlformats.org/officeDocument/2006/relationships" r:blip="">
                <dgm:adjLst/>
              </dgm:shape>
              <dgm:presOf/>
              <dgm:constrLst/>
            </dgm:layoutNode>
          </dgm:layoutNode>
          <dgm:forEach name="Name281" axis="followSib" ptType="sibTrans" cnt="1">
            <dgm:layoutNode name="spaceBetweenRectangles1">
              <dgm:alg type="sp"/>
              <dgm:shape xmlns:r="http://schemas.openxmlformats.org/officeDocument/2006/relationships" r:blip="">
                <dgm:adjLst/>
              </dgm:shape>
              <dgm:presOf/>
              <dgm:constrLst/>
              <dgm:ruleLst/>
            </dgm:layoutNode>
          </dgm:forEach>
        </dgm:forEach>
      </dgm:else>
    </dgm:choose>
  </dgm:layoutNode>
</dgm:layoutDef>
</file>

<file path=ppt/diagrams/layout2.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3ABBC40-8876-4914-9291-3D9D8DDCDFCA}" type="datetimeFigureOut">
              <a:rPr lang="en-US" smtClean="0"/>
              <a:t>7/29/2025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DF6809D-347C-4ED3-B658-B251B21B0005}" type="slidenum">
              <a:rPr lang="en-US" smtClean="0"/>
              <a:t>‹#›</a:t>
            </a:fld>
            <a:endParaRPr lang="en-US" dirty="0"/>
          </a:p>
        </p:txBody>
      </p:sp>
    </p:spTree>
    <p:extLst>
      <p:ext uri="{BB962C8B-B14F-4D97-AF65-F5344CB8AC3E}">
        <p14:creationId xmlns:p14="http://schemas.microsoft.com/office/powerpoint/2010/main" val="21864416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DF6809D-347C-4ED3-B658-B251B21B0005}" type="slidenum">
              <a:rPr lang="en-US" smtClean="0"/>
              <a:t>1</a:t>
            </a:fld>
            <a:endParaRPr lang="en-US" dirty="0"/>
          </a:p>
        </p:txBody>
      </p:sp>
    </p:spTree>
    <p:extLst>
      <p:ext uri="{BB962C8B-B14F-4D97-AF65-F5344CB8AC3E}">
        <p14:creationId xmlns:p14="http://schemas.microsoft.com/office/powerpoint/2010/main" val="32232267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diving into the analysis, I want to highlight the sources of the data used in this project. The datasets were downloaded from the </a:t>
            </a:r>
            <a:r>
              <a:rPr lang="en-US" b="1" dirty="0"/>
              <a:t>Kaggle website</a:t>
            </a:r>
            <a:r>
              <a:rPr lang="en-US" dirty="0"/>
              <a:t>, a trusted platform for open data.</a:t>
            </a:r>
          </a:p>
          <a:p>
            <a:r>
              <a:rPr lang="en-US" dirty="0"/>
              <a:t>These datasets include detailed game-by-game statistics, covering key performance metrics like points, assists, rebounds, usage rate, shooting percentages, and more. </a:t>
            </a:r>
          </a:p>
          <a:p>
            <a:endParaRPr lang="en-US" dirty="0"/>
          </a:p>
          <a:p>
            <a:r>
              <a:rPr lang="en-US" dirty="0"/>
              <a:t>These data sets were used for all visualizations and statistical models in the project. For this project I aim to objectively compare each players individual and team impacts and ultimately explore the ever-popular question: </a:t>
            </a:r>
            <a:r>
              <a:rPr lang="en-US" i="1" dirty="0"/>
              <a:t>Who is the greatest of all time?</a:t>
            </a:r>
            <a:endParaRPr lang="en-US" dirty="0"/>
          </a:p>
          <a:p>
            <a:endParaRPr lang="en-US" dirty="0"/>
          </a:p>
        </p:txBody>
      </p:sp>
      <p:sp>
        <p:nvSpPr>
          <p:cNvPr id="4" name="Slide Number Placeholder 3"/>
          <p:cNvSpPr>
            <a:spLocks noGrp="1"/>
          </p:cNvSpPr>
          <p:nvPr>
            <p:ph type="sldNum" sz="quarter" idx="5"/>
          </p:nvPr>
        </p:nvSpPr>
        <p:spPr/>
        <p:txBody>
          <a:bodyPr/>
          <a:lstStyle/>
          <a:p>
            <a:fld id="{ADF6809D-347C-4ED3-B658-B251B21B0005}" type="slidenum">
              <a:rPr lang="en-US" smtClean="0"/>
              <a:t>2</a:t>
            </a:fld>
            <a:endParaRPr lang="en-US" dirty="0"/>
          </a:p>
        </p:txBody>
      </p:sp>
    </p:spTree>
    <p:extLst>
      <p:ext uri="{BB962C8B-B14F-4D97-AF65-F5344CB8AC3E}">
        <p14:creationId xmlns:p14="http://schemas.microsoft.com/office/powerpoint/2010/main" val="39625188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tackling this question, I needed to make sure the data was accurate and relevant for comparing the greatest basketball players of all time. On this slide I will walk through how I cleaned and prepared the dataset.</a:t>
            </a:r>
          </a:p>
          <a:p>
            <a:endParaRPr lang="en-US" dirty="0"/>
          </a:p>
          <a:p>
            <a:r>
              <a:rPr lang="en-US" dirty="0"/>
              <a:t>First, I </a:t>
            </a:r>
            <a:r>
              <a:rPr lang="en-US" b="1" dirty="0"/>
              <a:t>checked for missing values</a:t>
            </a:r>
            <a:r>
              <a:rPr lang="en-US" dirty="0"/>
              <a:t> and incomplete data. Any rows with zero minutes played were removed. </a:t>
            </a:r>
          </a:p>
          <a:p>
            <a:r>
              <a:rPr lang="en-US" dirty="0"/>
              <a:t>Next, I </a:t>
            </a:r>
            <a:r>
              <a:rPr lang="en-US" b="1" dirty="0"/>
              <a:t>filtered out columns</a:t>
            </a:r>
            <a:r>
              <a:rPr lang="en-US" dirty="0"/>
              <a:t> that didn’t directly contribute to evaluating individual performance.  Things like team name, league, or position. My goal was to focus on total production, not context-specific variables.         </a:t>
            </a:r>
          </a:p>
          <a:p>
            <a:r>
              <a:rPr lang="en-US" dirty="0"/>
              <a:t>Finally, I made sure that </a:t>
            </a:r>
            <a:r>
              <a:rPr lang="en-US" b="1" dirty="0"/>
              <a:t>all numeric data was formatted correctly</a:t>
            </a:r>
            <a:r>
              <a:rPr lang="en-US" dirty="0"/>
              <a:t>, allowing for accurate calculations and visualizations later on. This step was key for building clean comparisons across players.</a:t>
            </a:r>
          </a:p>
          <a:p>
            <a:r>
              <a:rPr lang="en-US" dirty="0"/>
              <a:t>Overall, this process helped me refine the dataset into a format that truly reflects each player's on-court impact  and sets the stage for fair and consistent analysis.</a:t>
            </a:r>
          </a:p>
          <a:p>
            <a:endParaRPr lang="en-US" dirty="0"/>
          </a:p>
        </p:txBody>
      </p:sp>
      <p:sp>
        <p:nvSpPr>
          <p:cNvPr id="4" name="Slide Number Placeholder 3"/>
          <p:cNvSpPr>
            <a:spLocks noGrp="1"/>
          </p:cNvSpPr>
          <p:nvPr>
            <p:ph type="sldNum" sz="quarter" idx="5"/>
          </p:nvPr>
        </p:nvSpPr>
        <p:spPr/>
        <p:txBody>
          <a:bodyPr/>
          <a:lstStyle/>
          <a:p>
            <a:fld id="{ADF6809D-347C-4ED3-B658-B251B21B0005}" type="slidenum">
              <a:rPr lang="en-US" smtClean="0"/>
              <a:t>3</a:t>
            </a:fld>
            <a:endParaRPr lang="en-US" dirty="0"/>
          </a:p>
        </p:txBody>
      </p:sp>
    </p:spTree>
    <p:extLst>
      <p:ext uri="{BB962C8B-B14F-4D97-AF65-F5344CB8AC3E}">
        <p14:creationId xmlns:p14="http://schemas.microsoft.com/office/powerpoint/2010/main" val="3924395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I’m showcasing some of the key data I gathered as the foundation of my project. These statistics come from career averages of the players and they give us a high-level snapshot of each player's performance in core areas. The goal here isn’t to draw final conclusions just yet, but to highlight the kind of information I’ve found so far and what I want to dive deeper into.</a:t>
            </a:r>
          </a:p>
          <a:p>
            <a:endParaRPr lang="en-US" dirty="0"/>
          </a:p>
          <a:p>
            <a:r>
              <a:rPr lang="en-US" dirty="0"/>
              <a:t>For example, I noticed </a:t>
            </a:r>
          </a:p>
          <a:p>
            <a:r>
              <a:rPr lang="en-US" dirty="0"/>
              <a:t>LeBron stands out in rebounds and assists, </a:t>
            </a:r>
          </a:p>
          <a:p>
            <a:r>
              <a:rPr lang="en-US" dirty="0"/>
              <a:t>Jordan dominates in points and steals, </a:t>
            </a:r>
          </a:p>
          <a:p>
            <a:r>
              <a:rPr lang="en-US" dirty="0"/>
              <a:t>while Kobe maintains a strong all-around game. </a:t>
            </a:r>
          </a:p>
          <a:p>
            <a:endParaRPr lang="en-US" dirty="0"/>
          </a:p>
          <a:p>
            <a:r>
              <a:rPr lang="en-US" dirty="0"/>
              <a:t>These differences got me thinking: </a:t>
            </a:r>
            <a:r>
              <a:rPr lang="en-US" i="1" dirty="0"/>
              <a:t>how do these stats translate to impact on team success?</a:t>
            </a:r>
            <a:r>
              <a:rPr lang="en-US" dirty="0"/>
              <a:t> And how do metrics like usage rate or true shooting efficiency add context?</a:t>
            </a:r>
          </a:p>
          <a:p>
            <a:r>
              <a:rPr lang="en-US" dirty="0"/>
              <a:t>So, this table acts as a launch point helping me decide what areas to explore further to better understand each player’s impact and contribution toward their teams.</a:t>
            </a:r>
          </a:p>
          <a:p>
            <a:endParaRPr lang="en-US" dirty="0"/>
          </a:p>
          <a:p>
            <a:endParaRPr lang="en-US" dirty="0"/>
          </a:p>
        </p:txBody>
      </p:sp>
      <p:sp>
        <p:nvSpPr>
          <p:cNvPr id="4" name="Slide Number Placeholder 3"/>
          <p:cNvSpPr>
            <a:spLocks noGrp="1"/>
          </p:cNvSpPr>
          <p:nvPr>
            <p:ph type="sldNum" sz="quarter" idx="5"/>
          </p:nvPr>
        </p:nvSpPr>
        <p:spPr/>
        <p:txBody>
          <a:bodyPr/>
          <a:lstStyle/>
          <a:p>
            <a:fld id="{ADF6809D-347C-4ED3-B658-B251B21B0005}" type="slidenum">
              <a:rPr lang="en-US" smtClean="0"/>
              <a:t>4</a:t>
            </a:fld>
            <a:endParaRPr lang="en-US" dirty="0"/>
          </a:p>
        </p:txBody>
      </p:sp>
    </p:spTree>
    <p:extLst>
      <p:ext uri="{BB962C8B-B14F-4D97-AF65-F5344CB8AC3E}">
        <p14:creationId xmlns:p14="http://schemas.microsoft.com/office/powerpoint/2010/main" val="31131658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marks the starting point of my analysis  figuring out how to define </a:t>
            </a:r>
            <a:r>
              <a:rPr lang="en-US" i="1" dirty="0"/>
              <a:t>‘greatness’</a:t>
            </a:r>
            <a:r>
              <a:rPr lang="en-US" dirty="0"/>
              <a:t> in basketball. It’s not just about points or championships. To truly compare legendary players, I need to identify which </a:t>
            </a:r>
            <a:r>
              <a:rPr lang="en-US" b="1" dirty="0"/>
              <a:t>metrics actually matter</a:t>
            </a:r>
            <a:r>
              <a:rPr lang="en-US" dirty="0"/>
              <a:t>.</a:t>
            </a:r>
          </a:p>
          <a:p>
            <a:r>
              <a:rPr lang="en-US" dirty="0"/>
              <a:t>I broke this into two categories: </a:t>
            </a:r>
            <a:r>
              <a:rPr lang="en-US" b="1" dirty="0"/>
              <a:t>Player Impact</a:t>
            </a:r>
            <a:r>
              <a:rPr lang="en-US" dirty="0"/>
              <a:t> and </a:t>
            </a:r>
            <a:r>
              <a:rPr lang="en-US" b="1" dirty="0"/>
              <a:t>Team Impact.</a:t>
            </a:r>
          </a:p>
          <a:p>
            <a:br>
              <a:rPr lang="en-US" dirty="0"/>
            </a:br>
            <a:r>
              <a:rPr lang="en-US" dirty="0"/>
              <a:t>Player Impact includes stats like points, rebounds, assists, steals, blocks, turnovers, field goal percentage, and efficiency rating these show how much a player contributes in every aspect of the game.</a:t>
            </a:r>
            <a:br>
              <a:rPr lang="en-US" dirty="0"/>
            </a:br>
            <a:endParaRPr lang="en-US" dirty="0"/>
          </a:p>
          <a:p>
            <a:r>
              <a:rPr lang="en-US" dirty="0"/>
              <a:t>Then, I considered Team Impact: things like win shares, usage rate, true shooting percentage, and overall win/loss records. These tell us how much a player’s performance translates into actual success for their team.</a:t>
            </a:r>
          </a:p>
          <a:p>
            <a:endParaRPr lang="en-US" dirty="0"/>
          </a:p>
          <a:p>
            <a:r>
              <a:rPr lang="en-US" dirty="0"/>
              <a:t>In short, this slide is about setting the foundation deciding </a:t>
            </a:r>
            <a:r>
              <a:rPr lang="en-US" i="1" dirty="0"/>
              <a:t>what</a:t>
            </a:r>
            <a:r>
              <a:rPr lang="en-US" dirty="0"/>
              <a:t> to analyze in order to make a fair and balanced comparison between some of the greatest to ever play the game.</a:t>
            </a:r>
          </a:p>
          <a:p>
            <a:endParaRPr lang="en-US" dirty="0"/>
          </a:p>
        </p:txBody>
      </p:sp>
      <p:sp>
        <p:nvSpPr>
          <p:cNvPr id="4" name="Slide Number Placeholder 3"/>
          <p:cNvSpPr>
            <a:spLocks noGrp="1"/>
          </p:cNvSpPr>
          <p:nvPr>
            <p:ph type="sldNum" sz="quarter" idx="5"/>
          </p:nvPr>
        </p:nvSpPr>
        <p:spPr/>
        <p:txBody>
          <a:bodyPr/>
          <a:lstStyle/>
          <a:p>
            <a:fld id="{ADF6809D-347C-4ED3-B658-B251B21B0005}" type="slidenum">
              <a:rPr lang="en-US" smtClean="0"/>
              <a:t>5</a:t>
            </a:fld>
            <a:endParaRPr lang="en-US" dirty="0"/>
          </a:p>
        </p:txBody>
      </p:sp>
    </p:spTree>
    <p:extLst>
      <p:ext uri="{BB962C8B-B14F-4D97-AF65-F5344CB8AC3E}">
        <p14:creationId xmlns:p14="http://schemas.microsoft.com/office/powerpoint/2010/main" val="22587097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DF6809D-347C-4ED3-B658-B251B21B0005}" type="slidenum">
              <a:rPr lang="en-US" smtClean="0"/>
              <a:t>6</a:t>
            </a:fld>
            <a:endParaRPr lang="en-US" dirty="0"/>
          </a:p>
        </p:txBody>
      </p:sp>
    </p:spTree>
    <p:extLst>
      <p:ext uri="{BB962C8B-B14F-4D97-AF65-F5344CB8AC3E}">
        <p14:creationId xmlns:p14="http://schemas.microsoft.com/office/powerpoint/2010/main" val="39939036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focuses on each player's </a:t>
            </a:r>
            <a:r>
              <a:rPr lang="en-US" b="1" dirty="0"/>
              <a:t>offensive impact</a:t>
            </a:r>
            <a:r>
              <a:rPr lang="en-US" dirty="0"/>
              <a:t>, visualized by the distribution of their points, assists, and rebounds per game across their careers. </a:t>
            </a:r>
          </a:p>
          <a:p>
            <a:br>
              <a:rPr lang="en-US" dirty="0"/>
            </a:br>
            <a:r>
              <a:rPr lang="en-US" dirty="0"/>
              <a:t>You can see Jordan's red bars are centered higher than the others, showing he consistently scored more points per game, his offensive scoring was elite and consistent.</a:t>
            </a:r>
          </a:p>
          <a:p>
            <a:r>
              <a:rPr lang="en-US" b="1" dirty="0"/>
              <a:t>Assists (top row)</a:t>
            </a:r>
            <a:r>
              <a:rPr lang="en-US" dirty="0"/>
              <a:t> tell another story. LeBron’s yellow bars are noticeably further right. Meaning he has the highest assist counts overall. He plays more like a point-forward, contributing to team offense through passing.</a:t>
            </a:r>
          </a:p>
          <a:p>
            <a:r>
              <a:rPr lang="en-US" dirty="0"/>
              <a:t>And in </a:t>
            </a:r>
            <a:r>
              <a:rPr lang="en-US" b="1" dirty="0"/>
              <a:t>Rebounds (bottom row)</a:t>
            </a:r>
            <a:r>
              <a:rPr lang="en-US" dirty="0"/>
              <a:t>, again LeBron leads with higher values. His size and playing style have allowed him to be more effective on the boards than Kobe or MJ.</a:t>
            </a:r>
          </a:p>
          <a:p>
            <a:endParaRPr lang="en-US" dirty="0"/>
          </a:p>
          <a:p>
            <a:r>
              <a:rPr lang="en-US" dirty="0"/>
              <a:t>This slide highlights how </a:t>
            </a:r>
            <a:r>
              <a:rPr lang="en-US" b="1" dirty="0"/>
              <a:t>each player impacted the game differently on offense. </a:t>
            </a:r>
          </a:p>
          <a:p>
            <a:r>
              <a:rPr lang="en-US" dirty="0"/>
              <a:t>Jordan as the dominant scorer, </a:t>
            </a:r>
          </a:p>
          <a:p>
            <a:r>
              <a:rPr lang="en-US" dirty="0"/>
              <a:t>LeBron as the all-around playmaker and rebounder, </a:t>
            </a:r>
          </a:p>
          <a:p>
            <a:r>
              <a:rPr lang="en-US" dirty="0"/>
              <a:t>and Kobe somewhere in between with scoring efficiency and versatility.</a:t>
            </a:r>
          </a:p>
          <a:p>
            <a:endParaRPr lang="en-US" dirty="0"/>
          </a:p>
          <a:p>
            <a:endParaRPr lang="en-US" dirty="0"/>
          </a:p>
        </p:txBody>
      </p:sp>
      <p:sp>
        <p:nvSpPr>
          <p:cNvPr id="4" name="Slide Number Placeholder 3"/>
          <p:cNvSpPr>
            <a:spLocks noGrp="1"/>
          </p:cNvSpPr>
          <p:nvPr>
            <p:ph type="sldNum" sz="quarter" idx="5"/>
          </p:nvPr>
        </p:nvSpPr>
        <p:spPr/>
        <p:txBody>
          <a:bodyPr/>
          <a:lstStyle/>
          <a:p>
            <a:fld id="{ADF6809D-347C-4ED3-B658-B251B21B0005}" type="slidenum">
              <a:rPr lang="en-US" smtClean="0"/>
              <a:t>7</a:t>
            </a:fld>
            <a:endParaRPr lang="en-US" dirty="0"/>
          </a:p>
        </p:txBody>
      </p:sp>
    </p:spTree>
    <p:extLst>
      <p:ext uri="{BB962C8B-B14F-4D97-AF65-F5344CB8AC3E}">
        <p14:creationId xmlns:p14="http://schemas.microsoft.com/office/powerpoint/2010/main" val="324864302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I’m comparing  the </a:t>
            </a:r>
            <a:r>
              <a:rPr lang="en-US" b="1" dirty="0"/>
              <a:t>defensive impact</a:t>
            </a:r>
            <a:r>
              <a:rPr lang="en-US" dirty="0"/>
              <a:t> of </a:t>
            </a:r>
            <a:r>
              <a:rPr lang="en-US" b="1" dirty="0"/>
              <a:t>the players </a:t>
            </a:r>
            <a:r>
              <a:rPr lang="en-US" dirty="0"/>
              <a:t>using distributions of </a:t>
            </a:r>
            <a:r>
              <a:rPr lang="en-US" b="1" dirty="0"/>
              <a:t>steals, blocks, and turnovers</a:t>
            </a:r>
            <a:r>
              <a:rPr lang="en-US" dirty="0"/>
              <a:t>.</a:t>
            </a:r>
          </a:p>
          <a:p>
            <a:endParaRPr lang="en-US" dirty="0"/>
          </a:p>
          <a:p>
            <a:pPr>
              <a:buFont typeface="Arial" panose="020B0604020202020204" pitchFamily="34" charset="0"/>
              <a:buChar char="•"/>
            </a:pPr>
            <a:r>
              <a:rPr lang="en-US" b="1" dirty="0"/>
              <a:t>Blocks:</a:t>
            </a:r>
            <a:r>
              <a:rPr lang="en-US" dirty="0"/>
              <a:t> All three have most games with 0–1 blocks, but LeBron shows a slightly higher frequency of games with multiple blocks, reflecting his size and versatility.</a:t>
            </a:r>
          </a:p>
          <a:p>
            <a:pPr>
              <a:buFont typeface="Arial" panose="020B0604020202020204" pitchFamily="34" charset="0"/>
              <a:buChar char="•"/>
            </a:pPr>
            <a:r>
              <a:rPr lang="en-US" b="1" dirty="0"/>
              <a:t>Steals:</a:t>
            </a:r>
            <a:r>
              <a:rPr lang="en-US" dirty="0"/>
              <a:t> Jordan dominates with more high-steal games, reinforcing his elite defensive reputation. Kobe and LeBron show similar, balanced steal patterns.</a:t>
            </a:r>
          </a:p>
          <a:p>
            <a:pPr>
              <a:buFont typeface="Arial" panose="020B0604020202020204" pitchFamily="34" charset="0"/>
              <a:buChar char="•"/>
            </a:pPr>
            <a:r>
              <a:rPr lang="en-US" b="1" dirty="0"/>
              <a:t>Turnovers:</a:t>
            </a:r>
            <a:r>
              <a:rPr lang="en-US" dirty="0"/>
              <a:t> LeBron has more high-turnover games due to his playmaking role. Kobe and Jordan have fewer turnovers on average, aligning with their scoring focus.</a:t>
            </a:r>
          </a:p>
          <a:p>
            <a:endParaRPr lang="en-US" dirty="0"/>
          </a:p>
          <a:p>
            <a:r>
              <a:rPr lang="en-US" dirty="0"/>
              <a:t>Overall, </a:t>
            </a:r>
            <a:r>
              <a:rPr lang="en-US" b="1" dirty="0"/>
              <a:t>Jordan</a:t>
            </a:r>
            <a:r>
              <a:rPr lang="en-US" dirty="0"/>
              <a:t> stands out for defensive disruption, </a:t>
            </a:r>
            <a:r>
              <a:rPr lang="en-US" b="1" dirty="0"/>
              <a:t>LeBron</a:t>
            </a:r>
            <a:r>
              <a:rPr lang="en-US" dirty="0"/>
              <a:t> for versatility and volume, and </a:t>
            </a:r>
            <a:r>
              <a:rPr lang="en-US" b="1" dirty="0"/>
              <a:t>Kobe</a:t>
            </a:r>
            <a:r>
              <a:rPr lang="en-US" dirty="0"/>
              <a:t> for consistency and balance on both ends.</a:t>
            </a:r>
          </a:p>
          <a:p>
            <a:endParaRPr lang="en-US" dirty="0"/>
          </a:p>
        </p:txBody>
      </p:sp>
      <p:sp>
        <p:nvSpPr>
          <p:cNvPr id="4" name="Slide Number Placeholder 3"/>
          <p:cNvSpPr>
            <a:spLocks noGrp="1"/>
          </p:cNvSpPr>
          <p:nvPr>
            <p:ph type="sldNum" sz="quarter" idx="5"/>
          </p:nvPr>
        </p:nvSpPr>
        <p:spPr/>
        <p:txBody>
          <a:bodyPr/>
          <a:lstStyle/>
          <a:p>
            <a:fld id="{ADF6809D-347C-4ED3-B658-B251B21B0005}" type="slidenum">
              <a:rPr lang="en-US" smtClean="0"/>
              <a:t>8</a:t>
            </a:fld>
            <a:endParaRPr lang="en-US" dirty="0"/>
          </a:p>
        </p:txBody>
      </p:sp>
    </p:spTree>
    <p:extLst>
      <p:ext uri="{BB962C8B-B14F-4D97-AF65-F5344CB8AC3E}">
        <p14:creationId xmlns:p14="http://schemas.microsoft.com/office/powerpoint/2010/main" val="237982502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analyzes the relationship between </a:t>
            </a:r>
            <a:r>
              <a:rPr lang="en-US" b="1" dirty="0"/>
              <a:t>Field Goals Made (FG)</a:t>
            </a:r>
            <a:r>
              <a:rPr lang="en-US" dirty="0"/>
              <a:t> and </a:t>
            </a:r>
            <a:r>
              <a:rPr lang="en-US" b="1" dirty="0"/>
              <a:t>Field Goal Attempts (FGA)</a:t>
            </a:r>
            <a:r>
              <a:rPr lang="en-US" dirty="0"/>
              <a:t> . Each player’s data points and regression lines show how efficiently they convert shot attempts into made baskets.</a:t>
            </a:r>
          </a:p>
          <a:p>
            <a:endParaRPr lang="en-US" dirty="0"/>
          </a:p>
          <a:p>
            <a:pPr>
              <a:buFont typeface="Arial" panose="020B0604020202020204" pitchFamily="34" charset="0"/>
              <a:buChar char="•"/>
            </a:pPr>
            <a:r>
              <a:rPr lang="en-US" b="1" dirty="0"/>
              <a:t>Kobe Bryant</a:t>
            </a:r>
            <a:r>
              <a:rPr lang="en-US" dirty="0"/>
              <a:t> tends to take more shots per game, as indicated by data points extending further right, but his conversion rate is slightly lower compared to the others.</a:t>
            </a:r>
          </a:p>
          <a:p>
            <a:pPr>
              <a:buFont typeface="Arial" panose="020B0604020202020204" pitchFamily="34" charset="0"/>
              <a:buChar char="•"/>
            </a:pPr>
            <a:r>
              <a:rPr lang="en-US" b="1" dirty="0"/>
              <a:t>Michael Jordan</a:t>
            </a:r>
            <a:r>
              <a:rPr lang="en-US" dirty="0"/>
              <a:t> shows a strong positive correlation with a higher field goal conversion efficiency than Kobe, with many games around 15–30 attempts and solid scoring outputs.</a:t>
            </a:r>
          </a:p>
          <a:p>
            <a:pPr>
              <a:buFont typeface="Arial" panose="020B0604020202020204" pitchFamily="34" charset="0"/>
              <a:buChar char="•"/>
            </a:pPr>
            <a:r>
              <a:rPr lang="en-US" b="1" dirty="0"/>
              <a:t>LeBron James</a:t>
            </a:r>
            <a:r>
              <a:rPr lang="en-US" dirty="0"/>
              <a:t> demonstrates a balanced efficiency and volume, with regression closely following Jordan’s line but with fewer high-volume shooting games.</a:t>
            </a:r>
          </a:p>
          <a:p>
            <a:endParaRPr lang="en-US" dirty="0"/>
          </a:p>
          <a:p>
            <a:r>
              <a:rPr lang="en-US" dirty="0"/>
              <a:t>Overall, this slide highlights differences in shooting volume and efficiency among the three legends, with Kobe taking more shots, Jordan being highly efficient, and LeBron balancing both.</a:t>
            </a:r>
          </a:p>
          <a:p>
            <a:pPr>
              <a:buFont typeface="Arial" panose="020B0604020202020204" pitchFamily="34" charset="0"/>
              <a:buNone/>
            </a:pPr>
            <a:endParaRPr lang="en-US" dirty="0"/>
          </a:p>
          <a:p>
            <a:pPr marL="457200" lvl="1" indent="0">
              <a:buFont typeface="Arial" panose="020B0604020202020204" pitchFamily="34" charset="0"/>
              <a:buNone/>
            </a:pPr>
            <a:endParaRPr lang="en-US" dirty="0"/>
          </a:p>
          <a:p>
            <a:pPr marL="457200" lvl="1" indent="0">
              <a:buFont typeface="Arial" panose="020B0604020202020204" pitchFamily="34" charset="0"/>
              <a:buNone/>
            </a:pPr>
            <a:endParaRPr lang="en-US" dirty="0"/>
          </a:p>
          <a:p>
            <a:pPr marL="457200" lvl="1" indent="0">
              <a:buFont typeface="Arial" panose="020B0604020202020204" pitchFamily="34" charset="0"/>
              <a:buNone/>
            </a:pPr>
            <a:endParaRPr lang="en-US" dirty="0"/>
          </a:p>
          <a:p>
            <a:endParaRPr lang="en-US" dirty="0"/>
          </a:p>
        </p:txBody>
      </p:sp>
      <p:sp>
        <p:nvSpPr>
          <p:cNvPr id="4" name="Slide Number Placeholder 3"/>
          <p:cNvSpPr>
            <a:spLocks noGrp="1"/>
          </p:cNvSpPr>
          <p:nvPr>
            <p:ph type="sldNum" sz="quarter" idx="5"/>
          </p:nvPr>
        </p:nvSpPr>
        <p:spPr/>
        <p:txBody>
          <a:bodyPr/>
          <a:lstStyle/>
          <a:p>
            <a:fld id="{ADF6809D-347C-4ED3-B658-B251B21B0005}" type="slidenum">
              <a:rPr lang="en-US" smtClean="0"/>
              <a:t>9</a:t>
            </a:fld>
            <a:endParaRPr lang="en-US" dirty="0"/>
          </a:p>
        </p:txBody>
      </p:sp>
    </p:spTree>
    <p:extLst>
      <p:ext uri="{BB962C8B-B14F-4D97-AF65-F5344CB8AC3E}">
        <p14:creationId xmlns:p14="http://schemas.microsoft.com/office/powerpoint/2010/main" val="375004575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compares the </a:t>
            </a:r>
            <a:r>
              <a:rPr lang="en-US" b="1" dirty="0"/>
              <a:t>Player Efficiency Rating (PER)</a:t>
            </a:r>
          </a:p>
          <a:p>
            <a:endParaRPr lang="en-US" b="1" dirty="0"/>
          </a:p>
          <a:p>
            <a:r>
              <a:rPr lang="en-US" b="1" dirty="0"/>
              <a:t>LeBron James</a:t>
            </a:r>
            <a:r>
              <a:rPr lang="en-US" dirty="0"/>
              <a:t> and </a:t>
            </a:r>
            <a:r>
              <a:rPr lang="en-US" b="1" dirty="0"/>
              <a:t>Michael Jordan</a:t>
            </a:r>
            <a:r>
              <a:rPr lang="en-US" dirty="0"/>
              <a:t> have similar median PER values around 28-29, indicating consistently high overall efficiency.</a:t>
            </a:r>
          </a:p>
          <a:p>
            <a:pPr>
              <a:buFont typeface="Arial" panose="020B0604020202020204" pitchFamily="34" charset="0"/>
              <a:buChar char="•"/>
            </a:pPr>
            <a:r>
              <a:rPr lang="en-US" b="1" dirty="0"/>
              <a:t>Kobe Bryant</a:t>
            </a:r>
            <a:r>
              <a:rPr lang="en-US" dirty="0"/>
              <a:t> shows a lower median PER, around 23, with a wider range, suggesting more variability in his performance.</a:t>
            </a:r>
          </a:p>
          <a:p>
            <a:pPr>
              <a:buFont typeface="Arial" panose="020B0604020202020204" pitchFamily="34" charset="0"/>
              <a:buChar char="•"/>
            </a:pPr>
            <a:r>
              <a:rPr lang="en-US" dirty="0"/>
              <a:t>Both LeBron and Jordan have tighter PER distributions, reflecting steadier efficiency across games.</a:t>
            </a:r>
          </a:p>
          <a:p>
            <a:endParaRPr lang="en-US" dirty="0"/>
          </a:p>
          <a:p>
            <a:r>
              <a:rPr lang="en-US" dirty="0"/>
              <a:t>Overall, LeBron and Jordan demonstrate higher and more consistent efficiency compared to Kobe.</a:t>
            </a:r>
          </a:p>
          <a:p>
            <a:endParaRPr lang="en-US" dirty="0"/>
          </a:p>
          <a:p>
            <a:endParaRPr lang="en-US" dirty="0"/>
          </a:p>
        </p:txBody>
      </p:sp>
      <p:sp>
        <p:nvSpPr>
          <p:cNvPr id="4" name="Slide Number Placeholder 3"/>
          <p:cNvSpPr>
            <a:spLocks noGrp="1"/>
          </p:cNvSpPr>
          <p:nvPr>
            <p:ph type="sldNum" sz="quarter" idx="5"/>
          </p:nvPr>
        </p:nvSpPr>
        <p:spPr/>
        <p:txBody>
          <a:bodyPr/>
          <a:lstStyle/>
          <a:p>
            <a:fld id="{ADF6809D-347C-4ED3-B658-B251B21B0005}" type="slidenum">
              <a:rPr lang="en-US" smtClean="0"/>
              <a:t>10</a:t>
            </a:fld>
            <a:endParaRPr lang="en-US" dirty="0"/>
          </a:p>
        </p:txBody>
      </p:sp>
    </p:spTree>
    <p:extLst>
      <p:ext uri="{BB962C8B-B14F-4D97-AF65-F5344CB8AC3E}">
        <p14:creationId xmlns:p14="http://schemas.microsoft.com/office/powerpoint/2010/main" val="190078057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compares the Total Win Shares (WS) of each player </a:t>
            </a:r>
          </a:p>
          <a:p>
            <a:endParaRPr lang="en-US" dirty="0"/>
          </a:p>
          <a:p>
            <a:r>
              <a:rPr lang="en-US" dirty="0"/>
              <a:t>LeBron James leads with the highest total win shares, reflecting his significant overall contribution to team victories.</a:t>
            </a:r>
          </a:p>
          <a:p>
            <a:r>
              <a:rPr lang="en-US" dirty="0"/>
              <a:t>Michael Jordan follows closely behind, demonstrating his strong impact on winning throughout his career.</a:t>
            </a:r>
          </a:p>
          <a:p>
            <a:r>
              <a:rPr lang="en-US" dirty="0"/>
              <a:t>Kobe Bryant, while still impressive, has the lowest total win shares among the three, indicating comparatively fewer contributions to in assists and rebounds. over his career.</a:t>
            </a:r>
          </a:p>
          <a:p>
            <a:endParaRPr lang="en-US" b="1" dirty="0"/>
          </a:p>
          <a:p>
            <a:r>
              <a:rPr lang="en-US" b="1" dirty="0"/>
              <a:t>Why It Matters For Comparing Kobe, LeBron, and MJ</a:t>
            </a:r>
          </a:p>
          <a:p>
            <a:r>
              <a:rPr lang="en-US" dirty="0"/>
              <a:t>When comparing the three players Win Shares help quantify not just how </a:t>
            </a:r>
            <a:r>
              <a:rPr lang="en-US" i="1" dirty="0"/>
              <a:t>good</a:t>
            </a:r>
            <a:r>
              <a:rPr lang="en-US" dirty="0"/>
              <a:t> a player is, but how much their performance translates directly into </a:t>
            </a:r>
            <a:r>
              <a:rPr lang="en-US" b="1" dirty="0"/>
              <a:t>winning. </a:t>
            </a:r>
            <a:r>
              <a:rPr lang="en-US" dirty="0"/>
              <a:t> Making it a valuable metric for GOAT debates.</a:t>
            </a:r>
          </a:p>
          <a:p>
            <a:endParaRPr lang="en-US" dirty="0"/>
          </a:p>
          <a:p>
            <a:endParaRPr lang="en-US" dirty="0"/>
          </a:p>
        </p:txBody>
      </p:sp>
      <p:sp>
        <p:nvSpPr>
          <p:cNvPr id="4" name="Slide Number Placeholder 3"/>
          <p:cNvSpPr>
            <a:spLocks noGrp="1"/>
          </p:cNvSpPr>
          <p:nvPr>
            <p:ph type="sldNum" sz="quarter" idx="5"/>
          </p:nvPr>
        </p:nvSpPr>
        <p:spPr/>
        <p:txBody>
          <a:bodyPr/>
          <a:lstStyle/>
          <a:p>
            <a:fld id="{ADF6809D-347C-4ED3-B658-B251B21B0005}" type="slidenum">
              <a:rPr lang="en-US" smtClean="0"/>
              <a:t>12</a:t>
            </a:fld>
            <a:endParaRPr lang="en-US" dirty="0"/>
          </a:p>
        </p:txBody>
      </p:sp>
    </p:spTree>
    <p:extLst>
      <p:ext uri="{BB962C8B-B14F-4D97-AF65-F5344CB8AC3E}">
        <p14:creationId xmlns:p14="http://schemas.microsoft.com/office/powerpoint/2010/main" val="6818837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illustrates the distribution of Usage Rate (USG) for each player.</a:t>
            </a:r>
          </a:p>
          <a:p>
            <a:endParaRPr lang="en-US" dirty="0"/>
          </a:p>
          <a:p>
            <a:r>
              <a:rPr lang="en-US" dirty="0"/>
              <a:t>Michael Jordan in red  shows a higher and more consistent usage rate, often reaching up to 39%, indicating he was frequently involved in offensive plays.</a:t>
            </a:r>
          </a:p>
          <a:p>
            <a:r>
              <a:rPr lang="en-US" dirty="0"/>
              <a:t>LeBron James has a slightly lower but still significant usage rate, generally clustering around 30-35%, reflecting his pivotal role in team offense.</a:t>
            </a:r>
          </a:p>
          <a:p>
            <a:r>
              <a:rPr lang="en-US" dirty="0"/>
              <a:t>Kobe Bryant exhibits a wider range of usage rates, including lower values starting near 22%, suggesting more variability in his offensive involvement throughout his career.</a:t>
            </a:r>
          </a:p>
          <a:p>
            <a:endParaRPr lang="en-US" dirty="0"/>
          </a:p>
          <a:p>
            <a:r>
              <a:rPr lang="en-US" dirty="0"/>
              <a:t>Overall, Michael Jordan leads in offensive usage, followed by LeBron James and Kobe Bryant.</a:t>
            </a:r>
          </a:p>
        </p:txBody>
      </p:sp>
      <p:sp>
        <p:nvSpPr>
          <p:cNvPr id="4" name="Slide Number Placeholder 3"/>
          <p:cNvSpPr>
            <a:spLocks noGrp="1"/>
          </p:cNvSpPr>
          <p:nvPr>
            <p:ph type="sldNum" sz="quarter" idx="5"/>
          </p:nvPr>
        </p:nvSpPr>
        <p:spPr/>
        <p:txBody>
          <a:bodyPr/>
          <a:lstStyle/>
          <a:p>
            <a:fld id="{ADF6809D-347C-4ED3-B658-B251B21B0005}" type="slidenum">
              <a:rPr lang="en-US" smtClean="0"/>
              <a:t>13</a:t>
            </a:fld>
            <a:endParaRPr lang="en-US" dirty="0"/>
          </a:p>
        </p:txBody>
      </p:sp>
    </p:spTree>
    <p:extLst>
      <p:ext uri="{BB962C8B-B14F-4D97-AF65-F5344CB8AC3E}">
        <p14:creationId xmlns:p14="http://schemas.microsoft.com/office/powerpoint/2010/main" val="76306445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density plot comparing the True Shooting Percentage (TS%) of the three players. True Shooting Percentage is an advanced efficiency metric that accounts for field goals, three-point shots, and free throws, offering a more comprehensive measure of scoring efficiency than traditional shooting percentages.</a:t>
            </a:r>
          </a:p>
          <a:p>
            <a:endParaRPr lang="en-US" dirty="0"/>
          </a:p>
          <a:p>
            <a:r>
              <a:rPr lang="en-US" dirty="0"/>
              <a:t>Kobe Bryant, represented by the purple curve, shows a peak around the average TS% of 0.562 but demonstrates more variability with a slightly lower overall efficiency. </a:t>
            </a:r>
          </a:p>
          <a:p>
            <a:r>
              <a:rPr lang="en-US" dirty="0"/>
              <a:t>LeBron James, in yellow, exhibits a broader distribution skewed toward higher TS% values, indicating greater scoring efficiency on average. </a:t>
            </a:r>
          </a:p>
          <a:p>
            <a:r>
              <a:rPr lang="en-US" dirty="0"/>
              <a:t>Michael Jordan, shown in red, has a consistent and relatively high TS%, with his distribution centered just below LeBron’s but above Kobe’s.</a:t>
            </a:r>
          </a:p>
          <a:p>
            <a:endParaRPr lang="en-US" dirty="0"/>
          </a:p>
          <a:p>
            <a:r>
              <a:rPr lang="en-US" dirty="0"/>
              <a:t>Overall, LeBron James leads in scoring efficiency, followed by Michael Jordan, with Kobe Bryant showing the most fluctuation and slightly lower efficiency in this metric.</a:t>
            </a:r>
          </a:p>
          <a:p>
            <a:pPr>
              <a:buFont typeface="Arial" panose="020B0604020202020204" pitchFamily="34" charset="0"/>
              <a:buChar char="•"/>
            </a:pPr>
            <a:endParaRPr lang="en-US" sz="1200" dirty="0"/>
          </a:p>
          <a:p>
            <a:pPr>
              <a:buFont typeface="Arial" panose="020B0604020202020204" pitchFamily="34" charset="0"/>
              <a:buChar char="•"/>
            </a:pPr>
            <a:endParaRPr lang="en-US" sz="1200" dirty="0"/>
          </a:p>
        </p:txBody>
      </p:sp>
      <p:sp>
        <p:nvSpPr>
          <p:cNvPr id="4" name="Slide Number Placeholder 3"/>
          <p:cNvSpPr>
            <a:spLocks noGrp="1"/>
          </p:cNvSpPr>
          <p:nvPr>
            <p:ph type="sldNum" sz="quarter" idx="5"/>
          </p:nvPr>
        </p:nvSpPr>
        <p:spPr/>
        <p:txBody>
          <a:bodyPr/>
          <a:lstStyle/>
          <a:p>
            <a:fld id="{ADF6809D-347C-4ED3-B658-B251B21B0005}" type="slidenum">
              <a:rPr lang="en-US" smtClean="0"/>
              <a:t>14</a:t>
            </a:fld>
            <a:endParaRPr lang="en-US" dirty="0"/>
          </a:p>
        </p:txBody>
      </p:sp>
    </p:spTree>
    <p:extLst>
      <p:ext uri="{BB962C8B-B14F-4D97-AF65-F5344CB8AC3E}">
        <p14:creationId xmlns:p14="http://schemas.microsoft.com/office/powerpoint/2010/main" val="320232009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comparison of the winning and losing percentages throughout their careers. Each player's bar is divided into two sections: green representing the percentage of games won, and red representing the percentage of games lost.</a:t>
            </a:r>
          </a:p>
          <a:p>
            <a:endParaRPr lang="en-US" dirty="0"/>
          </a:p>
          <a:p>
            <a:r>
              <a:rPr lang="en-US" dirty="0"/>
              <a:t>Kobe Bryant has a winning percentage of 62% and a losing percentage of 38%. </a:t>
            </a:r>
          </a:p>
          <a:p>
            <a:r>
              <a:rPr lang="en-US" dirty="0"/>
              <a:t>LeBron James with the highest winning percentage at 65.8%, and a corresponding losing percentage of 34.2%.</a:t>
            </a:r>
          </a:p>
          <a:p>
            <a:r>
              <a:rPr lang="en-US" dirty="0"/>
              <a:t>Michael Jordan closely follows with a winning percentage of 65.9% and a losing percentage of 34.1%.</a:t>
            </a:r>
          </a:p>
          <a:p>
            <a:endParaRPr lang="en-US" dirty="0"/>
          </a:p>
          <a:p>
            <a:r>
              <a:rPr lang="en-US" dirty="0"/>
              <a:t>Overall, LeBron James and Michael Jordan demonstrate similar, higher winning percentages compared to Kobe Bryant, indicating their teams experienced slightly more success in games during their careers.</a:t>
            </a:r>
          </a:p>
          <a:p>
            <a:endParaRPr lang="en-US" dirty="0"/>
          </a:p>
        </p:txBody>
      </p:sp>
      <p:sp>
        <p:nvSpPr>
          <p:cNvPr id="4" name="Slide Number Placeholder 3"/>
          <p:cNvSpPr>
            <a:spLocks noGrp="1"/>
          </p:cNvSpPr>
          <p:nvPr>
            <p:ph type="sldNum" sz="quarter" idx="5"/>
          </p:nvPr>
        </p:nvSpPr>
        <p:spPr/>
        <p:txBody>
          <a:bodyPr/>
          <a:lstStyle/>
          <a:p>
            <a:fld id="{ADF6809D-347C-4ED3-B658-B251B21B0005}" type="slidenum">
              <a:rPr lang="en-US" smtClean="0"/>
              <a:t>15</a:t>
            </a:fld>
            <a:endParaRPr lang="en-US" dirty="0"/>
          </a:p>
        </p:txBody>
      </p:sp>
    </p:spTree>
    <p:extLst>
      <p:ext uri="{BB962C8B-B14F-4D97-AF65-F5344CB8AC3E}">
        <p14:creationId xmlns:p14="http://schemas.microsoft.com/office/powerpoint/2010/main" val="223057189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provides an overall analysis of the basketball careers of Kobe Bryant, LeBron James, and Michael Jordan, highlighting their unique strengths and playing styles.</a:t>
            </a:r>
          </a:p>
          <a:p>
            <a:endParaRPr lang="en-US" dirty="0"/>
          </a:p>
          <a:p>
            <a:r>
              <a:rPr lang="en-US" dirty="0"/>
              <a:t>Kobe Bryant is described as "The Fearless Competitor," known for his intense work ethic, unyielding determination, and clutch performances that often inspired his team.</a:t>
            </a:r>
          </a:p>
          <a:p>
            <a:r>
              <a:rPr lang="en-US" dirty="0"/>
              <a:t>LeBron James is labeled "The Complete All-Around Force," emphasizing his versatility on the court, exceptional passing ability, scoring, and leadership that make him a dominant and well-rounded player.</a:t>
            </a:r>
          </a:p>
          <a:p>
            <a:r>
              <a:rPr lang="en-US" dirty="0"/>
              <a:t>Michael Jordan is called "The Relentless Scorer Winner," reflecting his legendary scoring ability, competitive drive, and six NBA championships that cement his legacy as one of the greatest winners in the sport.</a:t>
            </a:r>
          </a:p>
          <a:p>
            <a:endParaRPr lang="en-US" dirty="0"/>
          </a:p>
          <a:p>
            <a:r>
              <a:rPr lang="en-US" dirty="0"/>
              <a:t>Together, these descriptions capture the distinct qualities that set each player apart and contribute to their status as basketball legends.</a:t>
            </a:r>
          </a:p>
          <a:p>
            <a:endParaRPr lang="en-US" sz="1200" dirty="0">
              <a:solidFill>
                <a:sysClr val="windowText" lastClr="000000"/>
              </a:solidFill>
            </a:endParaRPr>
          </a:p>
        </p:txBody>
      </p:sp>
      <p:sp>
        <p:nvSpPr>
          <p:cNvPr id="4" name="Slide Number Placeholder 3"/>
          <p:cNvSpPr>
            <a:spLocks noGrp="1"/>
          </p:cNvSpPr>
          <p:nvPr>
            <p:ph type="sldNum" sz="quarter" idx="5"/>
          </p:nvPr>
        </p:nvSpPr>
        <p:spPr/>
        <p:txBody>
          <a:bodyPr/>
          <a:lstStyle/>
          <a:p>
            <a:fld id="{ADF6809D-347C-4ED3-B658-B251B21B0005}" type="slidenum">
              <a:rPr lang="en-US" smtClean="0"/>
              <a:t>16</a:t>
            </a:fld>
            <a:endParaRPr lang="en-US" dirty="0"/>
          </a:p>
        </p:txBody>
      </p:sp>
    </p:spTree>
    <p:extLst>
      <p:ext uri="{BB962C8B-B14F-4D97-AF65-F5344CB8AC3E}">
        <p14:creationId xmlns:p14="http://schemas.microsoft.com/office/powerpoint/2010/main" val="258847600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Based on the data provided, Michael Jordan’s has to be crowned as the GOAT! This title is backed by impressive statistics and achievements. He holds </a:t>
            </a:r>
            <a:r>
              <a:rPr lang="en-US" b="1" dirty="0"/>
              <a:t>6 NBA championships</a:t>
            </a:r>
            <a:r>
              <a:rPr lang="en-US" dirty="0"/>
              <a:t> with a perfect </a:t>
            </a:r>
            <a:r>
              <a:rPr lang="en-US" b="1" dirty="0"/>
              <a:t>6-0 Finals record</a:t>
            </a:r>
            <a:r>
              <a:rPr lang="en-US" dirty="0"/>
              <a:t>, demonstrating unmatched success on the biggest stage. His </a:t>
            </a:r>
            <a:r>
              <a:rPr lang="en-US" b="1" dirty="0"/>
              <a:t>True Shooting Percentage</a:t>
            </a:r>
            <a:r>
              <a:rPr lang="en-US" dirty="0"/>
              <a:t> shows high scoring efficiency, and his winning percentage of </a:t>
            </a:r>
            <a:r>
              <a:rPr lang="en-US" b="1" dirty="0"/>
              <a:t>65.9%</a:t>
            </a:r>
            <a:r>
              <a:rPr lang="en-US" dirty="0"/>
              <a:t> ranks closely with LeBron James, reflecting consistent team success.</a:t>
            </a:r>
          </a:p>
          <a:p>
            <a:endParaRPr lang="en-US" dirty="0"/>
          </a:p>
          <a:p>
            <a:r>
              <a:rPr lang="en-US" dirty="0"/>
              <a:t>In addition to the data evaluated in these slides  Jordan also earned </a:t>
            </a:r>
            <a:r>
              <a:rPr lang="en-US" b="1" dirty="0"/>
              <a:t>5 MVP awards</a:t>
            </a:r>
            <a:r>
              <a:rPr lang="en-US" dirty="0"/>
              <a:t> and was a </a:t>
            </a:r>
            <a:r>
              <a:rPr lang="en-US" b="1" dirty="0"/>
              <a:t>10-time scoring champion</a:t>
            </a:r>
            <a:r>
              <a:rPr lang="en-US" dirty="0"/>
              <a:t>, proving his dominance as a scorer. His combination of elite scoring efficiency, championship wins, and clutch performance solidifies his legacy as the greatest player in NBA history.</a:t>
            </a:r>
          </a:p>
        </p:txBody>
      </p:sp>
      <p:sp>
        <p:nvSpPr>
          <p:cNvPr id="4" name="Slide Number Placeholder 3"/>
          <p:cNvSpPr>
            <a:spLocks noGrp="1"/>
          </p:cNvSpPr>
          <p:nvPr>
            <p:ph type="sldNum" sz="quarter" idx="5"/>
          </p:nvPr>
        </p:nvSpPr>
        <p:spPr/>
        <p:txBody>
          <a:bodyPr/>
          <a:lstStyle/>
          <a:p>
            <a:fld id="{ADF6809D-347C-4ED3-B658-B251B21B0005}" type="slidenum">
              <a:rPr lang="en-US" smtClean="0"/>
              <a:t>17</a:t>
            </a:fld>
            <a:endParaRPr lang="en-US" dirty="0"/>
          </a:p>
        </p:txBody>
      </p:sp>
    </p:spTree>
    <p:extLst>
      <p:ext uri="{BB962C8B-B14F-4D97-AF65-F5344CB8AC3E}">
        <p14:creationId xmlns:p14="http://schemas.microsoft.com/office/powerpoint/2010/main" val="212497871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DF6809D-347C-4ED3-B658-B251B21B0005}" type="slidenum">
              <a:rPr lang="en-US" smtClean="0"/>
              <a:t>18</a:t>
            </a:fld>
            <a:endParaRPr lang="en-US" dirty="0"/>
          </a:p>
        </p:txBody>
      </p:sp>
    </p:spTree>
    <p:extLst>
      <p:ext uri="{BB962C8B-B14F-4D97-AF65-F5344CB8AC3E}">
        <p14:creationId xmlns:p14="http://schemas.microsoft.com/office/powerpoint/2010/main" val="37128153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tx1">
                    <a:lumMod val="75000"/>
                    <a:lumOff val="2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7/29/2025</a:t>
            </a:fld>
            <a:endParaRPr lang="en-US" dirty="0"/>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90017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2" y="702156"/>
            <a:ext cx="11029616" cy="118872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340864"/>
            <a:ext cx="11029615" cy="363448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7/29/2025</a:t>
            </a:fld>
            <a:endParaRPr lang="en-US" dirty="0"/>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8524434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2393950"/>
            <a:ext cx="11029615" cy="2147467"/>
          </a:xfrm>
        </p:spPr>
        <p:txBody>
          <a:bodyPr anchor="b">
            <a:normAutofit/>
          </a:bodyPr>
          <a:lstStyle>
            <a:lvl1pPr algn="l">
              <a:defRPr sz="3600" b="0" cap="all">
                <a:solidFill>
                  <a:schemeClr val="tx1">
                    <a:lumMod val="75000"/>
                    <a:lumOff val="2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7/29/2025</a:t>
            </a:fld>
            <a:endParaRPr lang="en-US" dirty="0"/>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666809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194767"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6039" y="2228003"/>
            <a:ext cx="5194769"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BFFD690-9426-415D-8B65-26881E07B2D4}" type="datetime1">
              <a:rPr lang="en-US" smtClean="0"/>
              <a:t>7/29/2025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4833232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581191" y="2250891"/>
            <a:ext cx="5194769" cy="557784"/>
          </a:xfrm>
        </p:spPr>
        <p:txBody>
          <a:bodyPr anchor="ctr">
            <a:noAutofit/>
          </a:bodyPr>
          <a:lstStyle>
            <a:lvl1pPr marL="0" indent="0">
              <a:buNone/>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194766"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6039" y="2250892"/>
            <a:ext cx="5194770" cy="553373"/>
          </a:xfrm>
        </p:spPr>
        <p:txBody>
          <a:bodyPr anchor="ctr">
            <a:noAutofit/>
          </a:bodyPr>
          <a:lstStyle>
            <a:lvl1pPr marL="0" marR="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6416037" y="2926052"/>
            <a:ext cx="5194771"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4C4989A-474C-40DE-95B9-011C28B71673}" type="datetime1">
              <a:rPr lang="en-US" smtClean="0"/>
              <a:t>7/29/2025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7480465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DB4ED54-5B5E-4A04-93D3-5772E3CE3818}" type="datetime1">
              <a:rPr lang="en-US" smtClean="0"/>
              <a:t>7/29/2025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129363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7/29/2025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129494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601200"/>
            <a:ext cx="3682723" cy="581547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767857" y="933450"/>
            <a:ext cx="3031852" cy="1722419"/>
          </a:xfrm>
        </p:spPr>
        <p:txBody>
          <a:bodyPr anchor="b">
            <a:normAutofit/>
          </a:bodyPr>
          <a:lstStyle>
            <a:lvl1pPr algn="l">
              <a:defRPr sz="24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900928" y="1179829"/>
            <a:ext cx="6650991" cy="4658216"/>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67857" y="2836654"/>
            <a:ext cx="3031852" cy="3001392"/>
          </a:xfrm>
        </p:spPr>
        <p:txBody>
          <a:bodyPr anchor="t">
            <a:normAutofit/>
          </a:bodyPr>
          <a:lstStyle>
            <a:lvl1pPr marL="0" indent="0" algn="l">
              <a:buNone/>
              <a:defRPr sz="1600">
                <a:solidFill>
                  <a:srgbClr val="FFFFFF"/>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7605951" y="6456916"/>
            <a:ext cx="2844799" cy="365125"/>
          </a:xfrm>
        </p:spPr>
        <p:txBody>
          <a:bodyPr/>
          <a:lstStyle/>
          <a:p>
            <a:fld id="{D82884F1-FFEA-405F-9602-3DCA865EDA4E}" type="datetime1">
              <a:rPr lang="en-US" smtClean="0"/>
              <a:t>7/29/2025</a:t>
            </a:fld>
            <a:endParaRPr lang="en-US" dirty="0"/>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581192" y="6452590"/>
            <a:ext cx="6917210" cy="365125"/>
          </a:xfrm>
        </p:spPr>
        <p:txBody>
          <a:bodyPr/>
          <a:lstStyle/>
          <a:p>
            <a:endParaRPr lang="en-US" dirty="0"/>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10558300" y="6456916"/>
            <a:ext cx="1052510" cy="365125"/>
          </a:xfrm>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12617666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tx1">
                    <a:lumMod val="75000"/>
                    <a:lumOff val="25000"/>
                  </a:schemeClr>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641350"/>
            <a:ext cx="11290859" cy="3651249"/>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4" name="Text Placeholder 3"/>
          <p:cNvSpPr>
            <a:spLocks noGrp="1"/>
          </p:cNvSpPr>
          <p:nvPr>
            <p:ph type="body" sz="half" idx="2"/>
          </p:nvPr>
        </p:nvSpPr>
        <p:spPr>
          <a:xfrm>
            <a:off x="581192" y="5260127"/>
            <a:ext cx="11029617" cy="998148"/>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7/29/2025</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5732895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CED4963-E985-44C4-B8C4-FDD613B7C2F8}" type="datetime1">
              <a:rPr lang="en-US" smtClean="0"/>
              <a:t>7/29/2025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2835911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058151" y="599725"/>
            <a:ext cx="3687316" cy="581695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204200" y="863600"/>
            <a:ext cx="3124200" cy="4807326"/>
          </a:xfrm>
        </p:spPr>
        <p:txBody>
          <a:bodyPr vert="eaVert" anchor="ctr"/>
          <a:lstStyle>
            <a:lvl1pPr>
              <a:defRPr>
                <a:solidFill>
                  <a:srgbClr val="FFFF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774923" y="863600"/>
            <a:ext cx="7161625" cy="4807326"/>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446534" y="457200"/>
            <a:ext cx="3703320" cy="94997"/>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8042147" y="453643"/>
            <a:ext cx="3703320" cy="98554"/>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7/29/2025</a:t>
            </a:fld>
            <a:endParaRPr lang="en-US" dirty="0"/>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dirty="0"/>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3888496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2"/>
            <a:ext cx="11029616" cy="3652047"/>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6423914"/>
            <a:ext cx="2844799"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ED291B17-9318-49DB-B28B-6E5994AE9581}" type="datetime1">
              <a:rPr lang="en-US" smtClean="0"/>
              <a:t>7/29/2025</a:t>
            </a:fld>
            <a:endParaRPr lang="en-US" dirty="0"/>
          </a:p>
        </p:txBody>
      </p:sp>
      <p:sp>
        <p:nvSpPr>
          <p:cNvPr id="5" name="Footer Placeholder 4"/>
          <p:cNvSpPr>
            <a:spLocks noGrp="1"/>
          </p:cNvSpPr>
          <p:nvPr>
            <p:ph type="ftr" sz="quarter" idx="3"/>
          </p:nvPr>
        </p:nvSpPr>
        <p:spPr>
          <a:xfrm>
            <a:off x="581192" y="6423914"/>
            <a:ext cx="6917210" cy="365125"/>
          </a:xfrm>
          <a:prstGeom prst="rect">
            <a:avLst/>
          </a:prstGeom>
        </p:spPr>
        <p:txBody>
          <a:bodyPr vert="horz" lIns="91440" tIns="45720" rIns="91440" bIns="45720" rtlCol="0" anchor="ctr"/>
          <a:lstStyle>
            <a:lvl1pPr algn="l">
              <a:defRPr sz="900" cap="all">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10558300" y="6423914"/>
            <a:ext cx="1052510"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3A98EE3D-8CD1-4C3F-BD1C-C98C9596463C}" type="slidenum">
              <a:rPr lang="en-US" smtClean="0"/>
              <a:t>‹#›</a:t>
            </a:fld>
            <a:endParaRPr lang="en-US" dirty="0"/>
          </a:p>
        </p:txBody>
      </p:sp>
      <p:sp>
        <p:nvSpPr>
          <p:cNvPr id="9" name="Rectangle 8"/>
          <p:cNvSpPr/>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3000897896"/>
      </p:ext>
    </p:extLst>
  </p:cSld>
  <p:clrMap bg1="lt1" tx1="dk1" bg2="lt2" tx2="dk2" accent1="accent1" accent2="accent2" accent3="accent3" accent4="accent4" accent5="accent5" accent6="accent6" hlink="hlink" folHlink="folHlink"/>
  <p:sldLayoutIdLst>
    <p:sldLayoutId id="2147483756" r:id="rId1"/>
    <p:sldLayoutId id="2147483757" r:id="rId2"/>
    <p:sldLayoutId id="2147483758" r:id="rId3"/>
    <p:sldLayoutId id="2147483759" r:id="rId4"/>
    <p:sldLayoutId id="2147483711" r:id="rId5"/>
    <p:sldLayoutId id="2147483760" r:id="rId6"/>
    <p:sldLayoutId id="2147483762" r:id="rId7"/>
    <p:sldLayoutId id="2147483706" r:id="rId8"/>
    <p:sldLayoutId id="2147483709" r:id="rId9"/>
    <p:sldLayoutId id="2147483707" r:id="rId10"/>
    <p:sldLayoutId id="2147483708" r:id="rId11"/>
  </p:sldLayoutIdLst>
  <p:hf sldNum="0" hdr="0" ftr="0" dt="0"/>
  <p:txStyles>
    <p:title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microsoft.com/office/2007/relationships/hdphoto" Target="../media/hdphoto1.wdp"/><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hyperlink" Target="https://www.kaggle.com/code/xvivancos/michael-jordan-vs-kobe-bryant-vs-lebron-james/report" TargetMode="External"/><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 Id="rId9" Type="http://schemas.openxmlformats.org/officeDocument/2006/relationships/image" Target="../media/image3.jpg"/></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18.jpeg"/><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21.jpeg"/></Relationships>
</file>

<file path=ppt/slides/_rels/slide11.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23.png"/></Relationships>
</file>

<file path=ppt/slides/_rels/slide1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25.png"/></Relationships>
</file>

<file path=ppt/slides/_rels/slide1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27.png"/></Relationships>
</file>

<file path=ppt/slides/_rels/slide15.xml.rels><?xml version="1.0" encoding="UTF-8" standalone="yes"?>
<Relationships xmlns="http://schemas.openxmlformats.org/package/2006/relationships"><Relationship Id="rId3" Type="http://schemas.openxmlformats.org/officeDocument/2006/relationships/image" Target="../media/image28.jp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29.png"/></Relationships>
</file>

<file path=ppt/slides/_rels/slide1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5.xml"/><Relationship Id="rId1" Type="http://schemas.openxmlformats.org/officeDocument/2006/relationships/slideLayout" Target="../slideLayouts/slideLayout7.xml"/><Relationship Id="rId5" Type="http://schemas.openxmlformats.org/officeDocument/2006/relationships/image" Target="../media/image32.svg"/><Relationship Id="rId4" Type="http://schemas.openxmlformats.org/officeDocument/2006/relationships/image" Target="../media/image31.png"/></Relationships>
</file>

<file path=ppt/slides/_rels/slide17.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16.xml"/><Relationship Id="rId1" Type="http://schemas.openxmlformats.org/officeDocument/2006/relationships/slideLayout" Target="../slideLayouts/slideLayout7.xml"/><Relationship Id="rId5" Type="http://schemas.microsoft.com/office/2007/relationships/hdphoto" Target="../media/hdphoto2.wdp"/><Relationship Id="rId4" Type="http://schemas.openxmlformats.org/officeDocument/2006/relationships/image" Target="../media/image34.png"/></Relationships>
</file>

<file path=ppt/slides/_rels/slide18.xml.rels><?xml version="1.0" encoding="UTF-8" standalone="yes"?>
<Relationships xmlns="http://schemas.openxmlformats.org/package/2006/relationships"><Relationship Id="rId3" Type="http://schemas.openxmlformats.org/officeDocument/2006/relationships/image" Target="../media/image35.eVblozzwTsluv5fqWpWXXzvL7EDfUu4nvHd58kLTuPo"/><Relationship Id="rId2" Type="http://schemas.openxmlformats.org/officeDocument/2006/relationships/notesSlide" Target="../notesSlides/notesSlide17.xml"/><Relationship Id="rId1" Type="http://schemas.openxmlformats.org/officeDocument/2006/relationships/slideLayout" Target="../slideLayouts/slideLayout7.xml"/><Relationship Id="rId6" Type="http://schemas.openxmlformats.org/officeDocument/2006/relationships/hyperlink" Target="http://skythlee.deviantart.com/art/Michael-Jordan-Chicago-NBA-Art-657976663" TargetMode="External"/><Relationship Id="rId5" Type="http://schemas.openxmlformats.org/officeDocument/2006/relationships/image" Target="../media/image36.jpg"/><Relationship Id="rId4" Type="http://schemas.openxmlformats.org/officeDocument/2006/relationships/hyperlink" Target="https://www.deviantart.com/skythlee/art/Michael-Jordan-Wallpaper-559599785"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D6D7A0BC-0046-4CAA-8E7F-DCAFE511EA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1C21E816-31F5-48BB-BD02-D15F2F18B48A}"/>
              </a:ext>
            </a:extLst>
          </p:cNvPr>
          <p:cNvSpPr>
            <a:spLocks noGrp="1"/>
          </p:cNvSpPr>
          <p:nvPr>
            <p:ph type="ctrTitle"/>
          </p:nvPr>
        </p:nvSpPr>
        <p:spPr>
          <a:xfrm>
            <a:off x="463155" y="548640"/>
            <a:ext cx="10993549" cy="1475013"/>
          </a:xfrm>
        </p:spPr>
        <p:txBody>
          <a:bodyPr>
            <a:normAutofit/>
          </a:bodyPr>
          <a:lstStyle/>
          <a:p>
            <a:r>
              <a:rPr lang="en-US" dirty="0"/>
              <a:t>WHO’S the Greatest of All time (</a:t>
            </a:r>
            <a:r>
              <a:rPr lang="en-US" dirty="0">
                <a:solidFill>
                  <a:srgbClr val="C00000"/>
                </a:solidFill>
              </a:rPr>
              <a:t>GOAT</a:t>
            </a:r>
            <a:r>
              <a:rPr lang="en-US" dirty="0"/>
              <a:t>)? </a:t>
            </a:r>
          </a:p>
        </p:txBody>
      </p:sp>
      <p:sp>
        <p:nvSpPr>
          <p:cNvPr id="3" name="Subtitle 2">
            <a:extLst>
              <a:ext uri="{FF2B5EF4-FFF2-40B4-BE49-F238E27FC236}">
                <a16:creationId xmlns:a16="http://schemas.microsoft.com/office/drawing/2014/main" id="{835D6E6B-3353-491C-A3C6-F278D6CED8B3}"/>
              </a:ext>
            </a:extLst>
          </p:cNvPr>
          <p:cNvSpPr>
            <a:spLocks noGrp="1"/>
          </p:cNvSpPr>
          <p:nvPr>
            <p:ph type="subTitle" idx="1"/>
          </p:nvPr>
        </p:nvSpPr>
        <p:spPr>
          <a:xfrm>
            <a:off x="515724" y="1974700"/>
            <a:ext cx="10993546" cy="468233"/>
          </a:xfrm>
        </p:spPr>
        <p:txBody>
          <a:bodyPr>
            <a:normAutofit/>
          </a:bodyPr>
          <a:lstStyle/>
          <a:p>
            <a:r>
              <a:rPr lang="en-US" dirty="0"/>
              <a:t>Michael Jordan vs. Kobe Bryant vs. Lebron James</a:t>
            </a:r>
          </a:p>
        </p:txBody>
      </p:sp>
      <p:sp>
        <p:nvSpPr>
          <p:cNvPr id="20" name="Rectangle 19">
            <a:extLst>
              <a:ext uri="{FF2B5EF4-FFF2-40B4-BE49-F238E27FC236}">
                <a16:creationId xmlns:a16="http://schemas.microsoft.com/office/drawing/2014/main" id="{E7C6334F-6411-41EC-AD7D-179EDD8B5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1">
            <a:extLst>
              <a:ext uri="{FF2B5EF4-FFF2-40B4-BE49-F238E27FC236}">
                <a16:creationId xmlns:a16="http://schemas.microsoft.com/office/drawing/2014/main" id="{E6B02CEE-3AF8-4349-9B3E-8970E6DF62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3">
            <a:extLst>
              <a:ext uri="{FF2B5EF4-FFF2-40B4-BE49-F238E27FC236}">
                <a16:creationId xmlns:a16="http://schemas.microsoft.com/office/drawing/2014/main" id="{AAA01CF0-3FB5-44EB-B7DE-F2E86374C2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pic>
        <p:nvPicPr>
          <p:cNvPr id="6" name="Picture 5" descr="abstract image">
            <a:extLst>
              <a:ext uri="{FF2B5EF4-FFF2-40B4-BE49-F238E27FC236}">
                <a16:creationId xmlns:a16="http://schemas.microsoft.com/office/drawing/2014/main" id="{F1A8C364-94D4-4630-BAD0-78722F347055}"/>
              </a:ext>
            </a:extLst>
          </p:cNvPr>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484800" y="3177208"/>
            <a:ext cx="11260667" cy="3310466"/>
          </a:xfrm>
          <a:prstGeom prst="rect">
            <a:avLst/>
          </a:prstGeom>
        </p:spPr>
      </p:pic>
      <p:pic>
        <p:nvPicPr>
          <p:cNvPr id="1026" name="Picture 2">
            <a:extLst>
              <a:ext uri="{FF2B5EF4-FFF2-40B4-BE49-F238E27FC236}">
                <a16:creationId xmlns:a16="http://schemas.microsoft.com/office/drawing/2014/main" id="{3BBE87AB-E7A0-4EE5-87D7-3CCA8C18C093}"/>
              </a:ext>
            </a:extLst>
          </p:cNvPr>
          <p:cNvPicPr>
            <a:picLocks noChangeAspect="1" noChangeArrowheads="1"/>
          </p:cNvPicPr>
          <p:nvPr/>
        </p:nvPicPr>
        <p:blipFill>
          <a:blip r:embed="rId4">
            <a:extLst>
              <a:ext uri="{BEBA8EAE-BF5A-486C-A8C5-ECC9F3942E4B}">
                <a14:imgProps xmlns:a14="http://schemas.microsoft.com/office/drawing/2010/main">
                  <a14:imgLayer r:embed="rId5">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3707266" y="1775361"/>
            <a:ext cx="4505325" cy="4712313"/>
          </a:xfrm>
          <a:prstGeom prst="rect">
            <a:avLst/>
          </a:prstGeom>
          <a:noFill/>
          <a:extLst>
            <a:ext uri="{909E8E84-426E-40DD-AFC4-6F175D3DCCD1}">
              <a14:hiddenFill xmlns:a14="http://schemas.microsoft.com/office/drawing/2010/main">
                <a:solidFill>
                  <a:srgbClr val="FFFFFF"/>
                </a:solidFill>
              </a14:hiddenFill>
            </a:ext>
          </a:extLst>
        </p:spPr>
      </p:pic>
      <p:sp>
        <p:nvSpPr>
          <p:cNvPr id="10" name="Subtitle 2">
            <a:extLst>
              <a:ext uri="{FF2B5EF4-FFF2-40B4-BE49-F238E27FC236}">
                <a16:creationId xmlns:a16="http://schemas.microsoft.com/office/drawing/2014/main" id="{76EA1F1B-7032-44F3-874A-49F3C1FA69EA}"/>
              </a:ext>
            </a:extLst>
          </p:cNvPr>
          <p:cNvSpPr txBox="1">
            <a:spLocks/>
          </p:cNvSpPr>
          <p:nvPr/>
        </p:nvSpPr>
        <p:spPr>
          <a:xfrm>
            <a:off x="578819" y="2408155"/>
            <a:ext cx="2008401" cy="468233"/>
          </a:xfrm>
          <a:prstGeom prst="rect">
            <a:avLst/>
          </a:prstGeom>
        </p:spPr>
        <p:txBody>
          <a:bodyPr vert="horz" lIns="91440" tIns="45720" rIns="91440" bIns="45720" rtlCol="0" anchor="t">
            <a:normAutofit fontScale="85000" lnSpcReduction="10000"/>
          </a:bodyPr>
          <a:lstStyle>
            <a:lvl1pPr marL="0" indent="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None/>
              <a:defRPr sz="1600" kern="1200" cap="all">
                <a:solidFill>
                  <a:schemeClr val="accent1"/>
                </a:solidFill>
                <a:latin typeface="+mn-lt"/>
                <a:ea typeface="+mn-ea"/>
                <a:cs typeface="+mn-cs"/>
              </a:defRPr>
            </a:lvl1pPr>
            <a:lvl2pPr marL="457200" indent="0" algn="ctr" defTabSz="457200" rtl="0" eaLnBrk="1" latinLnBrk="0" hangingPunct="1">
              <a:spcBef>
                <a:spcPct val="20000"/>
              </a:spcBef>
              <a:spcAft>
                <a:spcPts val="600"/>
              </a:spcAft>
              <a:buClr>
                <a:schemeClr val="accent1"/>
              </a:buClr>
              <a:buSzPct val="92000"/>
              <a:buFont typeface="Wingdings 2" panose="05020102010507070707" pitchFamily="18" charset="2"/>
              <a:buNone/>
              <a:defRPr sz="1400" kern="1200">
                <a:solidFill>
                  <a:schemeClr val="tx1">
                    <a:tint val="75000"/>
                  </a:schemeClr>
                </a:solidFill>
                <a:latin typeface="+mn-lt"/>
                <a:ea typeface="+mn-ea"/>
                <a:cs typeface="+mn-cs"/>
              </a:defRPr>
            </a:lvl2pPr>
            <a:lvl3pPr marL="914400" indent="0" algn="ctr" defTabSz="457200" rtl="0" eaLnBrk="1" latinLnBrk="0" hangingPunct="1">
              <a:spcBef>
                <a:spcPct val="20000"/>
              </a:spcBef>
              <a:spcAft>
                <a:spcPts val="600"/>
              </a:spcAft>
              <a:buClr>
                <a:schemeClr val="accent1"/>
              </a:buClr>
              <a:buSzPct val="92000"/>
              <a:buFont typeface="Wingdings 2" panose="05020102010507070707" pitchFamily="18" charset="2"/>
              <a:buNone/>
              <a:defRPr sz="1300" kern="1200">
                <a:solidFill>
                  <a:schemeClr val="tx1">
                    <a:tint val="75000"/>
                  </a:schemeClr>
                </a:solidFill>
                <a:latin typeface="+mn-lt"/>
                <a:ea typeface="+mn-ea"/>
                <a:cs typeface="+mn-cs"/>
              </a:defRPr>
            </a:lvl3pPr>
            <a:lvl4pPr marL="1371600" indent="0" algn="ctr" defTabSz="457200" rtl="0" eaLnBrk="1" latinLnBrk="0" hangingPunct="1">
              <a:spcBef>
                <a:spcPct val="20000"/>
              </a:spcBef>
              <a:spcAft>
                <a:spcPts val="600"/>
              </a:spcAft>
              <a:buClr>
                <a:schemeClr val="accent1"/>
              </a:buClr>
              <a:buSzPct val="92000"/>
              <a:buFont typeface="Wingdings 2" panose="05020102010507070707" pitchFamily="18" charset="2"/>
              <a:buNone/>
              <a:defRPr sz="1100" kern="1200">
                <a:solidFill>
                  <a:schemeClr val="tx1">
                    <a:tint val="75000"/>
                  </a:schemeClr>
                </a:solidFill>
                <a:latin typeface="+mn-lt"/>
                <a:ea typeface="+mn-ea"/>
                <a:cs typeface="+mn-cs"/>
              </a:defRPr>
            </a:lvl4pPr>
            <a:lvl5pPr marL="1828800" indent="0" algn="ctr" defTabSz="457200" rtl="0" eaLnBrk="1" latinLnBrk="0" hangingPunct="1">
              <a:spcBef>
                <a:spcPct val="20000"/>
              </a:spcBef>
              <a:spcAft>
                <a:spcPts val="600"/>
              </a:spcAft>
              <a:buClr>
                <a:schemeClr val="accent1"/>
              </a:buClr>
              <a:buSzPct val="92000"/>
              <a:buFont typeface="Wingdings 2" panose="05020102010507070707" pitchFamily="18" charset="2"/>
              <a:buNone/>
              <a:defRPr sz="1100" kern="1200">
                <a:solidFill>
                  <a:schemeClr val="tx1">
                    <a:tint val="75000"/>
                  </a:schemeClr>
                </a:solidFill>
                <a:latin typeface="+mn-lt"/>
                <a:ea typeface="+mn-ea"/>
                <a:cs typeface="+mn-cs"/>
              </a:defRPr>
            </a:lvl5pPr>
            <a:lvl6pPr marL="22860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6pPr>
            <a:lvl7pPr marL="27432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7pPr>
            <a:lvl8pPr marL="32004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8pPr>
            <a:lvl9pPr marL="36576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9pPr>
          </a:lstStyle>
          <a:p>
            <a:r>
              <a:rPr lang="en-US" dirty="0">
                <a:solidFill>
                  <a:schemeClr val="tx1"/>
                </a:solidFill>
              </a:rPr>
              <a:t>BY:MONIQUE TOWNSON </a:t>
            </a:r>
          </a:p>
        </p:txBody>
      </p:sp>
      <p:cxnSp>
        <p:nvCxnSpPr>
          <p:cNvPr id="5" name="Straight Connector 4">
            <a:extLst>
              <a:ext uri="{FF2B5EF4-FFF2-40B4-BE49-F238E27FC236}">
                <a16:creationId xmlns:a16="http://schemas.microsoft.com/office/drawing/2014/main" id="{0733EA5D-0037-49AA-BADF-CEA517FF235C}"/>
              </a:ext>
            </a:extLst>
          </p:cNvPr>
          <p:cNvCxnSpPr/>
          <p:nvPr/>
        </p:nvCxnSpPr>
        <p:spPr>
          <a:xfrm>
            <a:off x="515724" y="2300601"/>
            <a:ext cx="4027204"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758055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562972-3449-42D1-8185-B4BEFD52AB44}"/>
              </a:ext>
            </a:extLst>
          </p:cNvPr>
          <p:cNvSpPr>
            <a:spLocks noGrp="1"/>
          </p:cNvSpPr>
          <p:nvPr>
            <p:ph type="title"/>
          </p:nvPr>
        </p:nvSpPr>
        <p:spPr>
          <a:xfrm>
            <a:off x="438692" y="661689"/>
            <a:ext cx="11029616" cy="598138"/>
          </a:xfrm>
        </p:spPr>
        <p:txBody>
          <a:bodyPr/>
          <a:lstStyle/>
          <a:p>
            <a:r>
              <a:rPr lang="en-US" dirty="0"/>
              <a:t>DATASETS </a:t>
            </a:r>
          </a:p>
        </p:txBody>
      </p:sp>
      <p:graphicFrame>
        <p:nvGraphicFramePr>
          <p:cNvPr id="4" name="Content Placeholder 2" descr="timeline">
            <a:extLst>
              <a:ext uri="{FF2B5EF4-FFF2-40B4-BE49-F238E27FC236}">
                <a16:creationId xmlns:a16="http://schemas.microsoft.com/office/drawing/2014/main" id="{FF3F0D82-0AA6-45C3-8367-955CBFA02ED6}"/>
              </a:ext>
            </a:extLst>
          </p:cNvPr>
          <p:cNvGraphicFramePr>
            <a:graphicFrameLocks noGrp="1"/>
          </p:cNvGraphicFramePr>
          <p:nvPr>
            <p:ph idx="1"/>
            <p:extLst>
              <p:ext uri="{D42A27DB-BD31-4B8C-83A1-F6EECF244321}">
                <p14:modId xmlns:p14="http://schemas.microsoft.com/office/powerpoint/2010/main" val="3740414974"/>
              </p:ext>
            </p:extLst>
          </p:nvPr>
        </p:nvGraphicFramePr>
        <p:xfrm>
          <a:off x="580858" y="3429000"/>
          <a:ext cx="11029950" cy="297855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0" name="Rectangle 5">
            <a:extLst>
              <a:ext uri="{FF2B5EF4-FFF2-40B4-BE49-F238E27FC236}">
                <a16:creationId xmlns:a16="http://schemas.microsoft.com/office/drawing/2014/main" id="{48C0DA14-330C-4B83-941F-D4B39D5B9C03}"/>
              </a:ext>
            </a:extLst>
          </p:cNvPr>
          <p:cNvSpPr>
            <a:spLocks noChangeArrowheads="1"/>
          </p:cNvSpPr>
          <p:nvPr/>
        </p:nvSpPr>
        <p:spPr bwMode="auto">
          <a:xfrm>
            <a:off x="581192" y="1300294"/>
            <a:ext cx="7069902" cy="2462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rPr>
              <a:t>All Games Stats Dataset: Found on the </a:t>
            </a:r>
            <a:r>
              <a:rPr kumimoji="0" lang="en-US" altLang="en-US" sz="1400" b="1" i="0" u="none" strike="noStrike" cap="none" normalizeH="0" baseline="0" dirty="0">
                <a:ln>
                  <a:noFill/>
                </a:ln>
                <a:solidFill>
                  <a:schemeClr val="tx1"/>
                </a:solidFill>
                <a:effectLst/>
                <a:hlinkClick r:id="rId8"/>
              </a:rPr>
              <a:t>Kaggle website</a:t>
            </a:r>
            <a:br>
              <a:rPr kumimoji="0" lang="en-US" altLang="en-US" sz="1400" b="0" i="0" u="none" strike="noStrike" cap="none" normalizeH="0" baseline="0" dirty="0">
                <a:ln>
                  <a:noFill/>
                </a:ln>
                <a:solidFill>
                  <a:schemeClr val="tx1"/>
                </a:solidFill>
                <a:effectLst/>
              </a:rPr>
            </a:br>
            <a:r>
              <a:rPr kumimoji="0" lang="en-US" altLang="en-US" sz="1400" b="0" i="0" u="none" strike="noStrike" cap="none" normalizeH="0" baseline="0" dirty="0">
                <a:ln>
                  <a:noFill/>
                </a:ln>
                <a:solidFill>
                  <a:schemeClr val="tx1"/>
                </a:solidFill>
                <a:effectLst/>
              </a:rPr>
              <a:t>This dataset contains detailed per-game statistics spanning multiple seasons for each player. Key variables include field goals made and attempted, total points, assists, rebounds, steals, blocks, turnovers, and game outcomes (wins/losses). It provides a view of each player’s game-by-game performance and scoring efficiency.</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rPr>
              <a:t>Advanced Stats Dataset: Found on the </a:t>
            </a:r>
            <a:r>
              <a:rPr kumimoji="0" lang="en-US" altLang="en-US" sz="1400" b="1" i="0" u="none" strike="noStrike" cap="none" normalizeH="0" baseline="0" dirty="0">
                <a:ln>
                  <a:noFill/>
                </a:ln>
                <a:solidFill>
                  <a:schemeClr val="tx1"/>
                </a:solidFill>
                <a:effectLst/>
                <a:hlinkClick r:id="rId8"/>
              </a:rPr>
              <a:t>Kaggle website</a:t>
            </a:r>
            <a:br>
              <a:rPr kumimoji="0" lang="en-US" altLang="en-US" sz="1400" b="0" i="0" u="none" strike="noStrike" cap="none" normalizeH="0" baseline="0" dirty="0">
                <a:ln>
                  <a:noFill/>
                </a:ln>
                <a:solidFill>
                  <a:schemeClr val="tx1"/>
                </a:solidFill>
                <a:effectLst/>
              </a:rPr>
            </a:br>
            <a:r>
              <a:rPr kumimoji="0" lang="en-US" altLang="en-US" sz="1400" b="0" i="0" u="none" strike="noStrike" cap="none" normalizeH="0" baseline="0" dirty="0">
                <a:ln>
                  <a:noFill/>
                </a:ln>
                <a:solidFill>
                  <a:schemeClr val="tx1"/>
                </a:solidFill>
                <a:effectLst/>
              </a:rPr>
              <a:t>This dataset offers advanced performance metrics that capture a player’s overall impact and efficiency beyond traditional box score stats. Variables analyzed include true shooting percentage (TS%), usage rate, win shares, box plus-minus (BPM), and distribution patterns of points, rebounds, assists, steals, blocks, and turnovers</a:t>
            </a:r>
          </a:p>
        </p:txBody>
      </p:sp>
      <p:pic>
        <p:nvPicPr>
          <p:cNvPr id="11" name="Picture 10">
            <a:extLst>
              <a:ext uri="{FF2B5EF4-FFF2-40B4-BE49-F238E27FC236}">
                <a16:creationId xmlns:a16="http://schemas.microsoft.com/office/drawing/2014/main" id="{BA6896F1-159D-4588-A57E-144EA7B0151F}"/>
              </a:ext>
            </a:extLst>
          </p:cNvPr>
          <p:cNvPicPr>
            <a:picLocks noChangeAspect="1"/>
          </p:cNvPicPr>
          <p:nvPr/>
        </p:nvPicPr>
        <p:blipFill rotWithShape="1">
          <a:blip r:embed="rId9"/>
          <a:srcRect t="19533" b="1977"/>
          <a:stretch/>
        </p:blipFill>
        <p:spPr>
          <a:xfrm>
            <a:off x="8011485" y="960758"/>
            <a:ext cx="3741823" cy="2908587"/>
          </a:xfrm>
          <a:prstGeom prst="rect">
            <a:avLst/>
          </a:prstGeom>
        </p:spPr>
      </p:pic>
    </p:spTree>
    <p:extLst>
      <p:ext uri="{BB962C8B-B14F-4D97-AF65-F5344CB8AC3E}">
        <p14:creationId xmlns:p14="http://schemas.microsoft.com/office/powerpoint/2010/main" val="33469916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4CB162-D537-4F4B-A00B-D786BBFF808F}"/>
              </a:ext>
            </a:extLst>
          </p:cNvPr>
          <p:cNvSpPr txBox="1">
            <a:spLocks/>
          </p:cNvSpPr>
          <p:nvPr/>
        </p:nvSpPr>
        <p:spPr>
          <a:xfrm>
            <a:off x="691646" y="1118405"/>
            <a:ext cx="11029616" cy="1639407"/>
          </a:xfrm>
          <a:prstGeom prst="rect">
            <a:avLst/>
          </a:prstGeom>
        </p:spPr>
        <p:txBody>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a:t>Cleaning DATA </a:t>
            </a:r>
            <a:r>
              <a:rPr lang="en-US" sz="2800" dirty="0">
                <a:solidFill>
                  <a:srgbClr val="273540"/>
                </a:solidFill>
                <a:effectLst/>
                <a:latin typeface="Lato" panose="020F0502020204030203" pitchFamily="34" charset="0"/>
                <a:ea typeface="Times New Roman" panose="02020603050405020304" pitchFamily="18" charset="0"/>
                <a:cs typeface="Times New Roman" panose="02020603050405020304" pitchFamily="18" charset="0"/>
              </a:rPr>
              <a:t> </a:t>
            </a:r>
          </a:p>
        </p:txBody>
      </p:sp>
      <p:graphicFrame>
        <p:nvGraphicFramePr>
          <p:cNvPr id="3" name="Content Placeholder 2" descr="SmartArt graphic">
            <a:extLst>
              <a:ext uri="{FF2B5EF4-FFF2-40B4-BE49-F238E27FC236}">
                <a16:creationId xmlns:a16="http://schemas.microsoft.com/office/drawing/2014/main" id="{3C67EA41-BD4F-4BC9-81A6-7C3771395D4A}"/>
              </a:ext>
            </a:extLst>
          </p:cNvPr>
          <p:cNvGraphicFramePr>
            <a:graphicFrameLocks/>
          </p:cNvGraphicFramePr>
          <p:nvPr>
            <p:extLst>
              <p:ext uri="{D42A27DB-BD31-4B8C-83A1-F6EECF244321}">
                <p14:modId xmlns:p14="http://schemas.microsoft.com/office/powerpoint/2010/main" val="819141177"/>
              </p:ext>
            </p:extLst>
          </p:nvPr>
        </p:nvGraphicFramePr>
        <p:xfrm>
          <a:off x="970325" y="2591557"/>
          <a:ext cx="10472258" cy="299487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9946892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562972-3449-42D1-8185-B4BEFD52AB44}"/>
              </a:ext>
            </a:extLst>
          </p:cNvPr>
          <p:cNvSpPr>
            <a:spLocks noGrp="1"/>
          </p:cNvSpPr>
          <p:nvPr>
            <p:ph type="title"/>
          </p:nvPr>
        </p:nvSpPr>
        <p:spPr>
          <a:xfrm>
            <a:off x="642517" y="945977"/>
            <a:ext cx="11029616" cy="358971"/>
          </a:xfrm>
        </p:spPr>
        <p:txBody>
          <a:bodyPr>
            <a:normAutofit fontScale="90000"/>
          </a:bodyPr>
          <a:lstStyle/>
          <a:p>
            <a:r>
              <a:rPr lang="en-US" dirty="0"/>
              <a:t>EVALUATION OF INFORMATION </a:t>
            </a:r>
          </a:p>
        </p:txBody>
      </p:sp>
      <p:sp>
        <p:nvSpPr>
          <p:cNvPr id="3" name="TextBox 2">
            <a:extLst>
              <a:ext uri="{FF2B5EF4-FFF2-40B4-BE49-F238E27FC236}">
                <a16:creationId xmlns:a16="http://schemas.microsoft.com/office/drawing/2014/main" id="{1938B153-39C3-44EE-A757-F49CBA28F22A}"/>
              </a:ext>
            </a:extLst>
          </p:cNvPr>
          <p:cNvSpPr txBox="1"/>
          <p:nvPr/>
        </p:nvSpPr>
        <p:spPr>
          <a:xfrm>
            <a:off x="642517" y="1304948"/>
            <a:ext cx="11029616" cy="1015663"/>
          </a:xfrm>
          <a:prstGeom prst="rect">
            <a:avLst/>
          </a:prstGeom>
          <a:noFill/>
        </p:spPr>
        <p:txBody>
          <a:bodyPr wrap="square" rtlCol="0">
            <a:spAutoFit/>
          </a:bodyPr>
          <a:lstStyle/>
          <a:p>
            <a:r>
              <a:rPr lang="en-US" sz="1400" dirty="0"/>
              <a:t>To determine who is the greatest basketball player of all time, it’s essential to analyze a variety of key performance metrics that capture different aspects of their impact on the game. The selected variables provide a comprehensive view of each player’s offensive efficiency, scoring ability, playmaking, defensive contributions, and overall effectiveness:</a:t>
            </a:r>
          </a:p>
          <a:p>
            <a:endParaRPr lang="en-US" dirty="0"/>
          </a:p>
        </p:txBody>
      </p:sp>
      <p:graphicFrame>
        <p:nvGraphicFramePr>
          <p:cNvPr id="6" name="Table 6">
            <a:extLst>
              <a:ext uri="{FF2B5EF4-FFF2-40B4-BE49-F238E27FC236}">
                <a16:creationId xmlns:a16="http://schemas.microsoft.com/office/drawing/2014/main" id="{A8B0B514-D912-42C4-870B-B9CD60667128}"/>
              </a:ext>
            </a:extLst>
          </p:cNvPr>
          <p:cNvGraphicFramePr>
            <a:graphicFrameLocks noGrp="1"/>
          </p:cNvGraphicFramePr>
          <p:nvPr>
            <p:extLst>
              <p:ext uri="{D42A27DB-BD31-4B8C-83A1-F6EECF244321}">
                <p14:modId xmlns:p14="http://schemas.microsoft.com/office/powerpoint/2010/main" val="1147669387"/>
              </p:ext>
            </p:extLst>
          </p:nvPr>
        </p:nvGraphicFramePr>
        <p:xfrm>
          <a:off x="630332" y="2320611"/>
          <a:ext cx="11029616" cy="1838634"/>
        </p:xfrm>
        <a:graphic>
          <a:graphicData uri="http://schemas.openxmlformats.org/drawingml/2006/table">
            <a:tbl>
              <a:tblPr firstRow="1" bandRow="1">
                <a:tableStyleId>{5C22544A-7EE6-4342-B048-85BDC9FD1C3A}</a:tableStyleId>
              </a:tblPr>
              <a:tblGrid>
                <a:gridCol w="2137748">
                  <a:extLst>
                    <a:ext uri="{9D8B030D-6E8A-4147-A177-3AD203B41FA5}">
                      <a16:colId xmlns:a16="http://schemas.microsoft.com/office/drawing/2014/main" val="2923791112"/>
                    </a:ext>
                  </a:extLst>
                </a:gridCol>
                <a:gridCol w="1401264">
                  <a:extLst>
                    <a:ext uri="{9D8B030D-6E8A-4147-A177-3AD203B41FA5}">
                      <a16:colId xmlns:a16="http://schemas.microsoft.com/office/drawing/2014/main" val="1502386096"/>
                    </a:ext>
                  </a:extLst>
                </a:gridCol>
                <a:gridCol w="1233182">
                  <a:extLst>
                    <a:ext uri="{9D8B030D-6E8A-4147-A177-3AD203B41FA5}">
                      <a16:colId xmlns:a16="http://schemas.microsoft.com/office/drawing/2014/main" val="2471684970"/>
                    </a:ext>
                  </a:extLst>
                </a:gridCol>
                <a:gridCol w="1375795">
                  <a:extLst>
                    <a:ext uri="{9D8B030D-6E8A-4147-A177-3AD203B41FA5}">
                      <a16:colId xmlns:a16="http://schemas.microsoft.com/office/drawing/2014/main" val="2815190188"/>
                    </a:ext>
                  </a:extLst>
                </a:gridCol>
                <a:gridCol w="1736521">
                  <a:extLst>
                    <a:ext uri="{9D8B030D-6E8A-4147-A177-3AD203B41FA5}">
                      <a16:colId xmlns:a16="http://schemas.microsoft.com/office/drawing/2014/main" val="1091748202"/>
                    </a:ext>
                  </a:extLst>
                </a:gridCol>
                <a:gridCol w="864066">
                  <a:extLst>
                    <a:ext uri="{9D8B030D-6E8A-4147-A177-3AD203B41FA5}">
                      <a16:colId xmlns:a16="http://schemas.microsoft.com/office/drawing/2014/main" val="382584010"/>
                    </a:ext>
                  </a:extLst>
                </a:gridCol>
                <a:gridCol w="1035768">
                  <a:extLst>
                    <a:ext uri="{9D8B030D-6E8A-4147-A177-3AD203B41FA5}">
                      <a16:colId xmlns:a16="http://schemas.microsoft.com/office/drawing/2014/main" val="2205313684"/>
                    </a:ext>
                  </a:extLst>
                </a:gridCol>
                <a:gridCol w="1245272">
                  <a:extLst>
                    <a:ext uri="{9D8B030D-6E8A-4147-A177-3AD203B41FA5}">
                      <a16:colId xmlns:a16="http://schemas.microsoft.com/office/drawing/2014/main" val="3189446578"/>
                    </a:ext>
                  </a:extLst>
                </a:gridCol>
              </a:tblGrid>
              <a:tr h="657589">
                <a:tc>
                  <a:txBody>
                    <a:bodyPr/>
                    <a:lstStyle/>
                    <a:p>
                      <a:pPr algn="ctr"/>
                      <a:r>
                        <a:rPr lang="en-US" dirty="0"/>
                        <a:t>Player</a:t>
                      </a:r>
                    </a:p>
                  </a:txBody>
                  <a:tcPr anchor="ctr"/>
                </a:tc>
                <a:tc>
                  <a:txBody>
                    <a:bodyPr/>
                    <a:lstStyle/>
                    <a:p>
                      <a:pPr algn="ctr"/>
                      <a:r>
                        <a:rPr lang="en-US" dirty="0"/>
                        <a:t>Points/ Game (PTS)</a:t>
                      </a:r>
                    </a:p>
                  </a:txBody>
                  <a:tcPr anchor="ctr"/>
                </a:tc>
                <a:tc>
                  <a:txBody>
                    <a:bodyPr/>
                    <a:lstStyle/>
                    <a:p>
                      <a:pPr algn="ctr"/>
                      <a:r>
                        <a:rPr lang="en-US" dirty="0"/>
                        <a:t>Field Goal Avg. (FG.) </a:t>
                      </a:r>
                    </a:p>
                  </a:txBody>
                  <a:tcPr anchor="ctr"/>
                </a:tc>
                <a:tc>
                  <a:txBody>
                    <a:bodyPr/>
                    <a:lstStyle/>
                    <a:p>
                      <a:pPr algn="ctr"/>
                      <a:r>
                        <a:rPr lang="en-US" dirty="0"/>
                        <a:t>Three Point Avg. (X3P.)</a:t>
                      </a:r>
                    </a:p>
                  </a:txBody>
                  <a:tcPr anchor="ctr"/>
                </a:tc>
                <a:tc>
                  <a:txBody>
                    <a:bodyPr/>
                    <a:lstStyle/>
                    <a:p>
                      <a:pPr algn="ctr"/>
                      <a:r>
                        <a:rPr lang="en-US" dirty="0"/>
                        <a:t>Total Rebounds (TRB)</a:t>
                      </a:r>
                    </a:p>
                  </a:txBody>
                  <a:tcPr anchor="ctr"/>
                </a:tc>
                <a:tc>
                  <a:txBody>
                    <a:bodyPr/>
                    <a:lstStyle/>
                    <a:p>
                      <a:pPr algn="ctr"/>
                      <a:r>
                        <a:rPr lang="en-US" dirty="0"/>
                        <a:t>Assist (AST)</a:t>
                      </a:r>
                    </a:p>
                  </a:txBody>
                  <a:tcPr anchor="ctr"/>
                </a:tc>
                <a:tc>
                  <a:txBody>
                    <a:bodyPr/>
                    <a:lstStyle/>
                    <a:p>
                      <a:pPr algn="ctr"/>
                      <a:r>
                        <a:rPr lang="en-US" dirty="0"/>
                        <a:t>Steals (STL) </a:t>
                      </a:r>
                    </a:p>
                  </a:txBody>
                  <a:tcPr anchor="ctr"/>
                </a:tc>
                <a:tc>
                  <a:txBody>
                    <a:bodyPr/>
                    <a:lstStyle/>
                    <a:p>
                      <a:pPr algn="ctr"/>
                      <a:r>
                        <a:rPr lang="en-US" dirty="0"/>
                        <a:t>Turnovers (TOV)</a:t>
                      </a:r>
                    </a:p>
                  </a:txBody>
                  <a:tcPr anchor="ctr"/>
                </a:tc>
                <a:extLst>
                  <a:ext uri="{0D108BD9-81ED-4DB2-BD59-A6C34878D82A}">
                    <a16:rowId xmlns:a16="http://schemas.microsoft.com/office/drawing/2014/main" val="3866295560"/>
                  </a:ext>
                </a:extLst>
              </a:tr>
              <a:tr h="126787">
                <a:tc>
                  <a:txBody>
                    <a:bodyPr/>
                    <a:lstStyle/>
                    <a:p>
                      <a:r>
                        <a:rPr lang="en-US" dirty="0">
                          <a:solidFill>
                            <a:schemeClr val="bg1"/>
                          </a:solidFill>
                        </a:rPr>
                        <a:t>Kobe Bryant </a:t>
                      </a:r>
                    </a:p>
                  </a:txBody>
                  <a:tcPr>
                    <a:solidFill>
                      <a:srgbClr val="7030A0"/>
                    </a:solidFill>
                  </a:tcPr>
                </a:tc>
                <a:tc>
                  <a:txBody>
                    <a:bodyPr/>
                    <a:lstStyle/>
                    <a:p>
                      <a:r>
                        <a:rPr lang="en-US" dirty="0">
                          <a:effectLst/>
                        </a:rPr>
                        <a:t>25.08</a:t>
                      </a:r>
                      <a:endParaRPr lang="en-US" dirty="0"/>
                    </a:p>
                  </a:txBody>
                  <a:tcPr/>
                </a:tc>
                <a:tc>
                  <a:txBody>
                    <a:bodyPr/>
                    <a:lstStyle/>
                    <a:p>
                      <a:r>
                        <a:rPr lang="en-US" dirty="0"/>
                        <a:t>44.41%</a:t>
                      </a:r>
                    </a:p>
                  </a:txBody>
                  <a:tcPr/>
                </a:tc>
                <a:tc>
                  <a:txBody>
                    <a:bodyPr/>
                    <a:lstStyle/>
                    <a:p>
                      <a:r>
                        <a:rPr lang="en-US" dirty="0"/>
                        <a:t>30.01%</a:t>
                      </a:r>
                    </a:p>
                  </a:txBody>
                  <a:tcPr/>
                </a:tc>
                <a:tc>
                  <a:txBody>
                    <a:bodyPr/>
                    <a:lstStyle/>
                    <a:p>
                      <a:r>
                        <a:rPr lang="en-US" dirty="0"/>
                        <a:t>5.21</a:t>
                      </a:r>
                    </a:p>
                  </a:txBody>
                  <a:tcPr/>
                </a:tc>
                <a:tc>
                  <a:txBody>
                    <a:bodyPr/>
                    <a:lstStyle/>
                    <a:p>
                      <a:r>
                        <a:rPr lang="en-US" dirty="0"/>
                        <a:t>4.69</a:t>
                      </a:r>
                    </a:p>
                  </a:txBody>
                  <a:tcPr/>
                </a:tc>
                <a:tc>
                  <a:txBody>
                    <a:bodyPr/>
                    <a:lstStyle/>
                    <a:p>
                      <a:r>
                        <a:rPr lang="en-US" dirty="0"/>
                        <a:t>1.44</a:t>
                      </a:r>
                    </a:p>
                  </a:txBody>
                  <a:tcPr/>
                </a:tc>
                <a:tc>
                  <a:txBody>
                    <a:bodyPr/>
                    <a:lstStyle/>
                    <a:p>
                      <a:r>
                        <a:rPr lang="en-US" dirty="0"/>
                        <a:t>2.97</a:t>
                      </a:r>
                    </a:p>
                  </a:txBody>
                  <a:tcPr/>
                </a:tc>
                <a:extLst>
                  <a:ext uri="{0D108BD9-81ED-4DB2-BD59-A6C34878D82A}">
                    <a16:rowId xmlns:a16="http://schemas.microsoft.com/office/drawing/2014/main" val="1976826621"/>
                  </a:ext>
                </a:extLst>
              </a:tr>
              <a:tr h="414529">
                <a:tc>
                  <a:txBody>
                    <a:bodyPr/>
                    <a:lstStyle/>
                    <a:p>
                      <a:r>
                        <a:rPr lang="en-US" dirty="0">
                          <a:solidFill>
                            <a:schemeClr val="bg1"/>
                          </a:solidFill>
                        </a:rPr>
                        <a:t>Lebron James</a:t>
                      </a:r>
                    </a:p>
                  </a:txBody>
                  <a:tcPr>
                    <a:solidFill>
                      <a:schemeClr val="accent2"/>
                    </a:solidFill>
                  </a:tcPr>
                </a:tc>
                <a:tc>
                  <a:txBody>
                    <a:bodyPr/>
                    <a:lstStyle/>
                    <a:p>
                      <a:r>
                        <a:rPr lang="en-US" dirty="0"/>
                        <a:t>27.44</a:t>
                      </a:r>
                    </a:p>
                  </a:txBody>
                  <a:tcPr/>
                </a:tc>
                <a:tc>
                  <a:txBody>
                    <a:bodyPr/>
                    <a:lstStyle/>
                    <a:p>
                      <a:r>
                        <a:rPr lang="en-US" dirty="0"/>
                        <a:t>50.33%</a:t>
                      </a:r>
                    </a:p>
                  </a:txBody>
                  <a:tcPr/>
                </a:tc>
                <a:tc>
                  <a:txBody>
                    <a:bodyPr/>
                    <a:lstStyle/>
                    <a:p>
                      <a:r>
                        <a:rPr lang="en-US" dirty="0"/>
                        <a:t>30.95%</a:t>
                      </a:r>
                    </a:p>
                  </a:txBody>
                  <a:tcPr/>
                </a:tc>
                <a:tc>
                  <a:txBody>
                    <a:bodyPr/>
                    <a:lstStyle/>
                    <a:p>
                      <a:r>
                        <a:rPr lang="en-US" dirty="0"/>
                        <a:t>7.66</a:t>
                      </a:r>
                    </a:p>
                  </a:txBody>
                  <a:tcPr/>
                </a:tc>
                <a:tc>
                  <a:txBody>
                    <a:bodyPr/>
                    <a:lstStyle/>
                    <a:p>
                      <a:r>
                        <a:rPr lang="en-US" dirty="0"/>
                        <a:t>7.20</a:t>
                      </a:r>
                    </a:p>
                  </a:txBody>
                  <a:tcPr/>
                </a:tc>
                <a:tc>
                  <a:txBody>
                    <a:bodyPr/>
                    <a:lstStyle/>
                    <a:p>
                      <a:r>
                        <a:rPr lang="en-US" dirty="0"/>
                        <a:t>1.64</a:t>
                      </a:r>
                    </a:p>
                  </a:txBody>
                  <a:tcPr/>
                </a:tc>
                <a:tc>
                  <a:txBody>
                    <a:bodyPr/>
                    <a:lstStyle/>
                    <a:p>
                      <a:r>
                        <a:rPr lang="en-US" dirty="0"/>
                        <a:t>3.50</a:t>
                      </a:r>
                    </a:p>
                  </a:txBody>
                  <a:tcPr/>
                </a:tc>
                <a:extLst>
                  <a:ext uri="{0D108BD9-81ED-4DB2-BD59-A6C34878D82A}">
                    <a16:rowId xmlns:a16="http://schemas.microsoft.com/office/drawing/2014/main" val="46415247"/>
                  </a:ext>
                </a:extLst>
              </a:tr>
              <a:tr h="400756">
                <a:tc>
                  <a:txBody>
                    <a:bodyPr/>
                    <a:lstStyle/>
                    <a:p>
                      <a:r>
                        <a:rPr lang="en-US" dirty="0">
                          <a:solidFill>
                            <a:schemeClr val="bg1"/>
                          </a:solidFill>
                        </a:rPr>
                        <a:t>Michael Jordan </a:t>
                      </a:r>
                    </a:p>
                  </a:txBody>
                  <a:tcPr>
                    <a:solidFill>
                      <a:schemeClr val="accent1"/>
                    </a:solidFill>
                  </a:tcPr>
                </a:tc>
                <a:tc>
                  <a:txBody>
                    <a:bodyPr/>
                    <a:lstStyle/>
                    <a:p>
                      <a:r>
                        <a:rPr lang="en-US" dirty="0">
                          <a:effectLst/>
                        </a:rPr>
                        <a:t>30.44</a:t>
                      </a:r>
                      <a:endParaRPr lang="en-US" dirty="0"/>
                    </a:p>
                  </a:txBody>
                  <a:tcPr/>
                </a:tc>
                <a:tc>
                  <a:txBody>
                    <a:bodyPr/>
                    <a:lstStyle/>
                    <a:p>
                      <a:r>
                        <a:rPr lang="en-US" dirty="0"/>
                        <a:t>49.39%</a:t>
                      </a:r>
                    </a:p>
                  </a:txBody>
                  <a:tcPr/>
                </a:tc>
                <a:tc>
                  <a:txBody>
                    <a:bodyPr/>
                    <a:lstStyle/>
                    <a:p>
                      <a:r>
                        <a:rPr lang="en-US" dirty="0"/>
                        <a:t>27.89%</a:t>
                      </a:r>
                    </a:p>
                  </a:txBody>
                  <a:tcPr/>
                </a:tc>
                <a:tc>
                  <a:txBody>
                    <a:bodyPr/>
                    <a:lstStyle/>
                    <a:p>
                      <a:r>
                        <a:rPr lang="en-US" dirty="0"/>
                        <a:t>6.25</a:t>
                      </a:r>
                    </a:p>
                  </a:txBody>
                  <a:tcPr/>
                </a:tc>
                <a:tc>
                  <a:txBody>
                    <a:bodyPr/>
                    <a:lstStyle/>
                    <a:p>
                      <a:r>
                        <a:rPr lang="en-US" dirty="0"/>
                        <a:t>5.32</a:t>
                      </a:r>
                    </a:p>
                  </a:txBody>
                  <a:tcPr/>
                </a:tc>
                <a:tc>
                  <a:txBody>
                    <a:bodyPr/>
                    <a:lstStyle/>
                    <a:p>
                      <a:r>
                        <a:rPr lang="en-US" dirty="0"/>
                        <a:t>2.26</a:t>
                      </a:r>
                    </a:p>
                  </a:txBody>
                  <a:tcPr/>
                </a:tc>
                <a:tc>
                  <a:txBody>
                    <a:bodyPr/>
                    <a:lstStyle/>
                    <a:p>
                      <a:r>
                        <a:rPr lang="en-US" dirty="0"/>
                        <a:t>2.77</a:t>
                      </a:r>
                    </a:p>
                  </a:txBody>
                  <a:tcPr/>
                </a:tc>
                <a:extLst>
                  <a:ext uri="{0D108BD9-81ED-4DB2-BD59-A6C34878D82A}">
                    <a16:rowId xmlns:a16="http://schemas.microsoft.com/office/drawing/2014/main" val="3332370089"/>
                  </a:ext>
                </a:extLst>
              </a:tr>
            </a:tbl>
          </a:graphicData>
        </a:graphic>
      </p:graphicFrame>
      <p:graphicFrame>
        <p:nvGraphicFramePr>
          <p:cNvPr id="10" name="Table 19">
            <a:extLst>
              <a:ext uri="{FF2B5EF4-FFF2-40B4-BE49-F238E27FC236}">
                <a16:creationId xmlns:a16="http://schemas.microsoft.com/office/drawing/2014/main" id="{A6DE03DA-A06D-43C9-B975-750FFB7774F1}"/>
              </a:ext>
            </a:extLst>
          </p:cNvPr>
          <p:cNvGraphicFramePr>
            <a:graphicFrameLocks noGrp="1"/>
          </p:cNvGraphicFramePr>
          <p:nvPr>
            <p:extLst>
              <p:ext uri="{D42A27DB-BD31-4B8C-83A1-F6EECF244321}">
                <p14:modId xmlns:p14="http://schemas.microsoft.com/office/powerpoint/2010/main" val="822150959"/>
              </p:ext>
            </p:extLst>
          </p:nvPr>
        </p:nvGraphicFramePr>
        <p:xfrm>
          <a:off x="612773" y="4671988"/>
          <a:ext cx="11089104" cy="1005840"/>
        </p:xfrm>
        <a:graphic>
          <a:graphicData uri="http://schemas.openxmlformats.org/drawingml/2006/table">
            <a:tbl>
              <a:tblPr firstRow="1" bandRow="1">
                <a:tableStyleId>{5C22544A-7EE6-4342-B048-85BDC9FD1C3A}</a:tableStyleId>
              </a:tblPr>
              <a:tblGrid>
                <a:gridCol w="3696368">
                  <a:extLst>
                    <a:ext uri="{9D8B030D-6E8A-4147-A177-3AD203B41FA5}">
                      <a16:colId xmlns:a16="http://schemas.microsoft.com/office/drawing/2014/main" val="994911127"/>
                    </a:ext>
                  </a:extLst>
                </a:gridCol>
                <a:gridCol w="3696368">
                  <a:extLst>
                    <a:ext uri="{9D8B030D-6E8A-4147-A177-3AD203B41FA5}">
                      <a16:colId xmlns:a16="http://schemas.microsoft.com/office/drawing/2014/main" val="1849510146"/>
                    </a:ext>
                  </a:extLst>
                </a:gridCol>
                <a:gridCol w="3696368">
                  <a:extLst>
                    <a:ext uri="{9D8B030D-6E8A-4147-A177-3AD203B41FA5}">
                      <a16:colId xmlns:a16="http://schemas.microsoft.com/office/drawing/2014/main" val="3772028547"/>
                    </a:ext>
                  </a:extLst>
                </a:gridCol>
              </a:tblGrid>
              <a:tr h="856477">
                <a:tc>
                  <a:txBody>
                    <a:bodyPr/>
                    <a:lstStyle/>
                    <a:p>
                      <a:pPr algn="ctr"/>
                      <a:r>
                        <a:rPr lang="en-US" sz="1200" b="1" dirty="0">
                          <a:solidFill>
                            <a:srgbClr val="7030A0"/>
                          </a:solidFill>
                        </a:rPr>
                        <a:t>Kobe Bryant</a:t>
                      </a:r>
                    </a:p>
                    <a:p>
                      <a:pPr algn="ctr"/>
                      <a:r>
                        <a:rPr lang="en-US" sz="1200" b="0" dirty="0">
                          <a:solidFill>
                            <a:sysClr val="windowText" lastClr="000000"/>
                          </a:solidFill>
                        </a:rPr>
                        <a:t>Trails slightly in efficiency and playmaking but remains a strong scorer. Can possibly show a high impact in other areas. </a:t>
                      </a:r>
                      <a:endParaRPr lang="en-US" sz="1200" dirty="0">
                        <a:solidFill>
                          <a:sysClr val="windowText" lastClr="000000"/>
                        </a:solidFill>
                      </a:endParaRPr>
                    </a:p>
                    <a:p>
                      <a:endParaRPr lang="en-US" sz="1200" dirty="0">
                        <a:solidFill>
                          <a:sysClr val="windowText" lastClr="000000"/>
                        </a:solidFill>
                      </a:endParaRPr>
                    </a:p>
                  </a:txBody>
                  <a:tcPr>
                    <a:lnL w="12700" cmpd="sng">
                      <a:noFill/>
                    </a:lnL>
                    <a:lnR w="12700" cap="flat" cmpd="sng" algn="ctr">
                      <a:solidFill>
                        <a:srgbClr val="FF0000"/>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sz="1200" b="1" dirty="0">
                          <a:solidFill>
                            <a:schemeClr val="accent5"/>
                          </a:solidFill>
                        </a:rPr>
                        <a:t>LeBron James </a:t>
                      </a:r>
                    </a:p>
                    <a:p>
                      <a:pPr algn="ctr"/>
                      <a:r>
                        <a:rPr lang="en-US" sz="1200" b="0" dirty="0">
                          <a:solidFill>
                            <a:sysClr val="windowText" lastClr="000000"/>
                          </a:solidFill>
                        </a:rPr>
                        <a:t>Excels in shooting efficiency, rebounds, assists, and overall game impact, reflecting his all-around versatility</a:t>
                      </a:r>
                      <a:endParaRPr lang="en-US" sz="1200" dirty="0">
                        <a:solidFill>
                          <a:sysClr val="windowText" lastClr="000000"/>
                        </a:solidFill>
                      </a:endParaRPr>
                    </a:p>
                  </a:txBody>
                  <a:tcP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sz="1200" b="1" dirty="0">
                          <a:solidFill>
                            <a:srgbClr val="C00000"/>
                          </a:solidFill>
                        </a:rPr>
                        <a:t>Michael Jordan </a:t>
                      </a:r>
                    </a:p>
                    <a:p>
                      <a:pPr algn="ctr"/>
                      <a:r>
                        <a:rPr lang="en-US" sz="1200" b="0" dirty="0">
                          <a:solidFill>
                            <a:sysClr val="windowText" lastClr="000000"/>
                          </a:solidFill>
                        </a:rPr>
                        <a:t>Leads in scoring and steals, highlighting his offensive dominance and defensive impact</a:t>
                      </a:r>
                    </a:p>
                  </a:txBody>
                  <a:tcPr>
                    <a:lnL w="12700" cap="flat" cmpd="sng" algn="ctr">
                      <a:solidFill>
                        <a:srgbClr val="FF0000"/>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326698379"/>
                  </a:ext>
                </a:extLst>
              </a:tr>
            </a:tbl>
          </a:graphicData>
        </a:graphic>
      </p:graphicFrame>
    </p:spTree>
    <p:extLst>
      <p:ext uri="{BB962C8B-B14F-4D97-AF65-F5344CB8AC3E}">
        <p14:creationId xmlns:p14="http://schemas.microsoft.com/office/powerpoint/2010/main" val="2318422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78A1D6-4E32-45D4-A10B-5A423937EF25}"/>
              </a:ext>
            </a:extLst>
          </p:cNvPr>
          <p:cNvSpPr txBox="1">
            <a:spLocks/>
          </p:cNvSpPr>
          <p:nvPr/>
        </p:nvSpPr>
        <p:spPr>
          <a:xfrm>
            <a:off x="542441" y="3274571"/>
            <a:ext cx="11107117" cy="869795"/>
          </a:xfrm>
          <a:prstGeom prst="rect">
            <a:avLst/>
          </a:prstGeom>
        </p:spPr>
        <p:txBody>
          <a:bodyPr>
            <a:normAutofit/>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a:t>HOW TO Determine the Greatest Player?</a:t>
            </a:r>
          </a:p>
          <a:p>
            <a:r>
              <a:rPr lang="en-US" sz="1800" b="1" dirty="0">
                <a:solidFill>
                  <a:schemeClr val="accent1"/>
                </a:solidFill>
              </a:rPr>
              <a:t>Identifying Metrics to Analyze</a:t>
            </a:r>
          </a:p>
          <a:p>
            <a:endParaRPr lang="en-US" dirty="0"/>
          </a:p>
        </p:txBody>
      </p:sp>
      <p:pic>
        <p:nvPicPr>
          <p:cNvPr id="4" name="Picture 3">
            <a:extLst>
              <a:ext uri="{FF2B5EF4-FFF2-40B4-BE49-F238E27FC236}">
                <a16:creationId xmlns:a16="http://schemas.microsoft.com/office/drawing/2014/main" id="{88DE2EA8-245F-4E04-8BD1-CF108E2C39CC}"/>
              </a:ext>
              <a:ext uri="{C183D7F6-B498-43B3-948B-1728B52AA6E4}">
                <adec:decorative xmlns:adec="http://schemas.microsoft.com/office/drawing/2017/decorative" val="1"/>
              </a:ext>
            </a:extLst>
          </p:cNvPr>
          <p:cNvPicPr>
            <a:picLocks noChangeAspect="1"/>
          </p:cNvPicPr>
          <p:nvPr/>
        </p:nvPicPr>
        <p:blipFill rotWithShape="1">
          <a:blip r:embed="rId3"/>
          <a:srcRect l="-1491" t="12446" r="1491" b="37134"/>
          <a:stretch/>
        </p:blipFill>
        <p:spPr>
          <a:xfrm>
            <a:off x="267424" y="583263"/>
            <a:ext cx="11472593" cy="2565269"/>
          </a:xfrm>
          <a:prstGeom prst="rect">
            <a:avLst/>
          </a:prstGeom>
        </p:spPr>
      </p:pic>
      <p:sp>
        <p:nvSpPr>
          <p:cNvPr id="6" name="TextBox 5">
            <a:extLst>
              <a:ext uri="{FF2B5EF4-FFF2-40B4-BE49-F238E27FC236}">
                <a16:creationId xmlns:a16="http://schemas.microsoft.com/office/drawing/2014/main" id="{ADDD00C1-144F-4883-AE73-0A6BE68C881F}"/>
              </a:ext>
            </a:extLst>
          </p:cNvPr>
          <p:cNvSpPr txBox="1"/>
          <p:nvPr/>
        </p:nvSpPr>
        <p:spPr>
          <a:xfrm>
            <a:off x="542441" y="4019675"/>
            <a:ext cx="10967254" cy="1991827"/>
          </a:xfrm>
          <a:prstGeom prst="rect">
            <a:avLst/>
          </a:prstGeom>
          <a:noFill/>
        </p:spPr>
        <p:txBody>
          <a:bodyPr wrap="square">
            <a:spAutoFit/>
          </a:bodyPr>
          <a:lstStyle/>
          <a:p>
            <a:pPr>
              <a:lnSpc>
                <a:spcPct val="150000"/>
              </a:lnSpc>
              <a:buFont typeface="Arial" panose="020B0604020202020204" pitchFamily="34" charset="0"/>
              <a:buChar char="•"/>
            </a:pPr>
            <a:r>
              <a:rPr lang="en-US" sz="1400" b="1" dirty="0"/>
              <a:t>Shooting Efficiency:</a:t>
            </a:r>
            <a:r>
              <a:rPr lang="en-US" sz="1400" dirty="0"/>
              <a:t> Examined field goals made vs. attempted and true shooting percentage to assess scoring efficiency.</a:t>
            </a:r>
          </a:p>
          <a:p>
            <a:pPr>
              <a:lnSpc>
                <a:spcPct val="150000"/>
              </a:lnSpc>
              <a:buFont typeface="Arial" panose="020B0604020202020204" pitchFamily="34" charset="0"/>
              <a:buChar char="•"/>
            </a:pPr>
            <a:r>
              <a:rPr lang="en-US" sz="1400" b="1" dirty="0"/>
              <a:t>Overall Contribution:</a:t>
            </a:r>
            <a:r>
              <a:rPr lang="en-US" sz="1400" dirty="0"/>
              <a:t> Compared total points, assists, rebounds, steals, blocks, and turnovers to understand each player’s all-around impact.</a:t>
            </a:r>
          </a:p>
          <a:p>
            <a:pPr>
              <a:lnSpc>
                <a:spcPct val="150000"/>
              </a:lnSpc>
              <a:buFont typeface="Arial" panose="020B0604020202020204" pitchFamily="34" charset="0"/>
              <a:buChar char="•"/>
            </a:pPr>
            <a:r>
              <a:rPr lang="en-US" sz="1400" b="1" dirty="0"/>
              <a:t>Advanced Metrics:</a:t>
            </a:r>
            <a:r>
              <a:rPr lang="en-US" sz="1400" dirty="0"/>
              <a:t> Used win shares and box plus-minus to quantify each player's contribution to team success and overall value.</a:t>
            </a:r>
          </a:p>
          <a:p>
            <a:pPr>
              <a:lnSpc>
                <a:spcPct val="150000"/>
              </a:lnSpc>
              <a:buFont typeface="Arial" panose="020B0604020202020204" pitchFamily="34" charset="0"/>
              <a:buChar char="•"/>
            </a:pPr>
            <a:r>
              <a:rPr lang="en-US" sz="1400" b="1" dirty="0"/>
              <a:t>Usage and Distribution:</a:t>
            </a:r>
            <a:r>
              <a:rPr lang="en-US" sz="1400" dirty="0"/>
              <a:t> Analyzed usage rates and the distribution of key stats to understand how players influence the game and their roles within their teams.</a:t>
            </a:r>
          </a:p>
          <a:p>
            <a:pPr>
              <a:lnSpc>
                <a:spcPct val="150000"/>
              </a:lnSpc>
              <a:buFont typeface="Arial" panose="020B0604020202020204" pitchFamily="34" charset="0"/>
              <a:buChar char="•"/>
            </a:pPr>
            <a:r>
              <a:rPr lang="en-US" sz="1400" b="1" dirty="0"/>
              <a:t>Win/Loss Impact:</a:t>
            </a:r>
            <a:r>
              <a:rPr lang="en-US" sz="1400" dirty="0"/>
              <a:t> Investigated game outcomes to evaluate the players’ impact on team success.</a:t>
            </a:r>
          </a:p>
        </p:txBody>
      </p:sp>
    </p:spTree>
    <p:extLst>
      <p:ext uri="{BB962C8B-B14F-4D97-AF65-F5344CB8AC3E}">
        <p14:creationId xmlns:p14="http://schemas.microsoft.com/office/powerpoint/2010/main" val="41377743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F1F6728-12EF-48B0-821B-2502C89B61B0}"/>
              </a:ext>
              <a:ext uri="{C183D7F6-B498-43B3-948B-1728B52AA6E4}">
                <adec:decorative xmlns:adec="http://schemas.microsoft.com/office/drawing/2017/decorative" val="1"/>
              </a:ext>
            </a:extLst>
          </p:cNvPr>
          <p:cNvPicPr>
            <a:picLocks noChangeAspect="1"/>
          </p:cNvPicPr>
          <p:nvPr/>
        </p:nvPicPr>
        <p:blipFill rotWithShape="1">
          <a:blip r:embed="rId3"/>
          <a:srcRect t="6844" b="6844"/>
          <a:stretch/>
        </p:blipFill>
        <p:spPr>
          <a:xfrm>
            <a:off x="0" y="0"/>
            <a:ext cx="12192000" cy="6858000"/>
          </a:xfrm>
          <a:prstGeom prst="rect">
            <a:avLst/>
          </a:prstGeom>
        </p:spPr>
      </p:pic>
      <p:sp>
        <p:nvSpPr>
          <p:cNvPr id="3" name="Title 1">
            <a:extLst>
              <a:ext uri="{FF2B5EF4-FFF2-40B4-BE49-F238E27FC236}">
                <a16:creationId xmlns:a16="http://schemas.microsoft.com/office/drawing/2014/main" id="{293D335D-D7AB-4845-8960-A7849F1A1E24}"/>
              </a:ext>
            </a:extLst>
          </p:cNvPr>
          <p:cNvSpPr txBox="1">
            <a:spLocks/>
          </p:cNvSpPr>
          <p:nvPr/>
        </p:nvSpPr>
        <p:spPr>
          <a:xfrm>
            <a:off x="6336707" y="4257714"/>
            <a:ext cx="3887948" cy="2420504"/>
          </a:xfrm>
          <a:prstGeom prst="rect">
            <a:avLst/>
          </a:prstGeom>
          <a:solidFill>
            <a:schemeClr val="tx1"/>
          </a:solidFill>
        </p:spPr>
        <p:txBody>
          <a:bodyPr>
            <a:normAutofit/>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4000" dirty="0">
                <a:solidFill>
                  <a:srgbClr val="FFFF00"/>
                </a:solidFill>
              </a:rPr>
              <a:t>PLAYER IMPACT </a:t>
            </a:r>
          </a:p>
        </p:txBody>
      </p:sp>
      <p:sp>
        <p:nvSpPr>
          <p:cNvPr id="4" name="Subtitle 2">
            <a:extLst>
              <a:ext uri="{FF2B5EF4-FFF2-40B4-BE49-F238E27FC236}">
                <a16:creationId xmlns:a16="http://schemas.microsoft.com/office/drawing/2014/main" id="{168C8A20-9323-4C47-83C1-9E4D5C909249}"/>
              </a:ext>
            </a:extLst>
          </p:cNvPr>
          <p:cNvSpPr txBox="1">
            <a:spLocks/>
          </p:cNvSpPr>
          <p:nvPr/>
        </p:nvSpPr>
        <p:spPr>
          <a:xfrm>
            <a:off x="6440102" y="5050652"/>
            <a:ext cx="3485072" cy="1026544"/>
          </a:xfrm>
          <a:prstGeom prst="rect">
            <a:avLst/>
          </a:prstGeom>
        </p:spPr>
        <p:txBody>
          <a:bodyPr>
            <a:normAutofit fontScale="47500" lnSpcReduction="20000"/>
          </a:bodyPr>
          <a:lstStyle>
            <a:lvl1pPr marL="306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r>
              <a:rPr lang="en-US" sz="2300" dirty="0">
                <a:solidFill>
                  <a:srgbClr val="FFFF00"/>
                </a:solidFill>
              </a:rPr>
              <a:t>OFFENSIVE IMPACT</a:t>
            </a:r>
          </a:p>
          <a:p>
            <a:r>
              <a:rPr lang="en-US" sz="2300" dirty="0">
                <a:solidFill>
                  <a:srgbClr val="FFFF00"/>
                </a:solidFill>
              </a:rPr>
              <a:t>DEFENSIVE IMPACT </a:t>
            </a:r>
          </a:p>
          <a:p>
            <a:r>
              <a:rPr lang="en-US" sz="2300" dirty="0">
                <a:solidFill>
                  <a:srgbClr val="FFFF00"/>
                </a:solidFill>
              </a:rPr>
              <a:t>FIELD GOALS (FG)</a:t>
            </a:r>
          </a:p>
          <a:p>
            <a:r>
              <a:rPr lang="en-US" sz="2300" dirty="0">
                <a:solidFill>
                  <a:srgbClr val="FFFF00"/>
                </a:solidFill>
              </a:rPr>
              <a:t>PLAYER EFFICIENCY RATING (PER) </a:t>
            </a:r>
          </a:p>
        </p:txBody>
      </p:sp>
    </p:spTree>
    <p:extLst>
      <p:ext uri="{BB962C8B-B14F-4D97-AF65-F5344CB8AC3E}">
        <p14:creationId xmlns:p14="http://schemas.microsoft.com/office/powerpoint/2010/main" val="26889557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78A1D6-4E32-45D4-A10B-5A423937EF25}"/>
              </a:ext>
            </a:extLst>
          </p:cNvPr>
          <p:cNvSpPr txBox="1">
            <a:spLocks/>
          </p:cNvSpPr>
          <p:nvPr/>
        </p:nvSpPr>
        <p:spPr>
          <a:xfrm>
            <a:off x="6482765" y="784727"/>
            <a:ext cx="3399466" cy="411480"/>
          </a:xfrm>
          <a:prstGeom prst="rect">
            <a:avLst/>
          </a:prstGeom>
        </p:spPr>
        <p:txBody>
          <a:bodyPr>
            <a:noAutofit/>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a:t>OFFENSIVE IMPACT </a:t>
            </a:r>
          </a:p>
        </p:txBody>
      </p:sp>
      <p:pic>
        <p:nvPicPr>
          <p:cNvPr id="4" name="Picture 3">
            <a:extLst>
              <a:ext uri="{FF2B5EF4-FFF2-40B4-BE49-F238E27FC236}">
                <a16:creationId xmlns:a16="http://schemas.microsoft.com/office/drawing/2014/main" id="{88DE2EA8-245F-4E04-8BD1-CF108E2C39CC}"/>
              </a:ext>
              <a:ext uri="{C183D7F6-B498-43B3-948B-1728B52AA6E4}">
                <adec:decorative xmlns:adec="http://schemas.microsoft.com/office/drawing/2017/decorative" val="1"/>
              </a:ext>
            </a:extLst>
          </p:cNvPr>
          <p:cNvPicPr>
            <a:picLocks noChangeAspect="1"/>
          </p:cNvPicPr>
          <p:nvPr/>
        </p:nvPicPr>
        <p:blipFill rotWithShape="1">
          <a:blip r:embed="rId3"/>
          <a:srcRect l="7367" r="7367"/>
          <a:stretch/>
        </p:blipFill>
        <p:spPr>
          <a:xfrm>
            <a:off x="433301" y="484990"/>
            <a:ext cx="3717067" cy="5034966"/>
          </a:xfrm>
          <a:prstGeom prst="rect">
            <a:avLst/>
          </a:prstGeom>
        </p:spPr>
      </p:pic>
      <p:pic>
        <p:nvPicPr>
          <p:cNvPr id="5" name="Picture 4">
            <a:extLst>
              <a:ext uri="{FF2B5EF4-FFF2-40B4-BE49-F238E27FC236}">
                <a16:creationId xmlns:a16="http://schemas.microsoft.com/office/drawing/2014/main" id="{5ED03587-362C-4324-A87D-0AAA6EF0D19D}"/>
              </a:ext>
            </a:extLst>
          </p:cNvPr>
          <p:cNvPicPr>
            <a:picLocks noChangeAspect="1"/>
          </p:cNvPicPr>
          <p:nvPr/>
        </p:nvPicPr>
        <p:blipFill>
          <a:blip r:embed="rId4"/>
          <a:stretch>
            <a:fillRect/>
          </a:stretch>
        </p:blipFill>
        <p:spPr>
          <a:xfrm>
            <a:off x="4434071" y="1338043"/>
            <a:ext cx="7684909" cy="4323750"/>
          </a:xfrm>
          <a:prstGeom prst="rect">
            <a:avLst/>
          </a:prstGeom>
        </p:spPr>
      </p:pic>
      <p:graphicFrame>
        <p:nvGraphicFramePr>
          <p:cNvPr id="8" name="Table 19">
            <a:extLst>
              <a:ext uri="{FF2B5EF4-FFF2-40B4-BE49-F238E27FC236}">
                <a16:creationId xmlns:a16="http://schemas.microsoft.com/office/drawing/2014/main" id="{94D94DCF-DCA8-489A-A71B-84915F8C5EDE}"/>
              </a:ext>
            </a:extLst>
          </p:cNvPr>
          <p:cNvGraphicFramePr>
            <a:graphicFrameLocks noGrp="1"/>
          </p:cNvGraphicFramePr>
          <p:nvPr>
            <p:extLst>
              <p:ext uri="{D42A27DB-BD31-4B8C-83A1-F6EECF244321}">
                <p14:modId xmlns:p14="http://schemas.microsoft.com/office/powerpoint/2010/main" val="3694111708"/>
              </p:ext>
            </p:extLst>
          </p:nvPr>
        </p:nvGraphicFramePr>
        <p:xfrm>
          <a:off x="433301" y="5661793"/>
          <a:ext cx="11494923" cy="822960"/>
        </p:xfrm>
        <a:graphic>
          <a:graphicData uri="http://schemas.openxmlformats.org/drawingml/2006/table">
            <a:tbl>
              <a:tblPr firstRow="1" bandRow="1">
                <a:tableStyleId>{5C22544A-7EE6-4342-B048-85BDC9FD1C3A}</a:tableStyleId>
              </a:tblPr>
              <a:tblGrid>
                <a:gridCol w="3831641">
                  <a:extLst>
                    <a:ext uri="{9D8B030D-6E8A-4147-A177-3AD203B41FA5}">
                      <a16:colId xmlns:a16="http://schemas.microsoft.com/office/drawing/2014/main" val="994911127"/>
                    </a:ext>
                  </a:extLst>
                </a:gridCol>
                <a:gridCol w="3831641">
                  <a:extLst>
                    <a:ext uri="{9D8B030D-6E8A-4147-A177-3AD203B41FA5}">
                      <a16:colId xmlns:a16="http://schemas.microsoft.com/office/drawing/2014/main" val="1849510146"/>
                    </a:ext>
                  </a:extLst>
                </a:gridCol>
                <a:gridCol w="3831641">
                  <a:extLst>
                    <a:ext uri="{9D8B030D-6E8A-4147-A177-3AD203B41FA5}">
                      <a16:colId xmlns:a16="http://schemas.microsoft.com/office/drawing/2014/main" val="3772028547"/>
                    </a:ext>
                  </a:extLst>
                </a:gridCol>
              </a:tblGrid>
              <a:tr h="771786">
                <a:tc>
                  <a:txBody>
                    <a:bodyPr/>
                    <a:lstStyle/>
                    <a:p>
                      <a:pPr algn="ctr"/>
                      <a:r>
                        <a:rPr lang="en-US" sz="1200" b="1" dirty="0">
                          <a:solidFill>
                            <a:srgbClr val="7030A0"/>
                          </a:solidFill>
                        </a:rPr>
                        <a:t>Kobe Bryant (Purple Bars)</a:t>
                      </a:r>
                    </a:p>
                    <a:p>
                      <a:pPr>
                        <a:buFont typeface="Arial" panose="020B0604020202020204" pitchFamily="34" charset="0"/>
                        <a:buNone/>
                      </a:pPr>
                      <a:r>
                        <a:rPr lang="en-US" sz="1200" b="0" dirty="0">
                          <a:solidFill>
                            <a:sysClr val="windowText" lastClr="000000"/>
                          </a:solidFill>
                        </a:rPr>
                        <a:t>Maintained strong but slightly lower averages in scoring, assists, and rebounds, highlighting his role as a primary scorer with a more focused contribution profile.</a:t>
                      </a:r>
                      <a:endParaRPr lang="en-US" sz="1200" dirty="0">
                        <a:solidFill>
                          <a:sysClr val="windowText" lastClr="000000"/>
                        </a:solidFill>
                      </a:endParaRPr>
                    </a:p>
                  </a:txBody>
                  <a:tcPr>
                    <a:lnL w="12700" cmpd="sng">
                      <a:noFill/>
                    </a:lnL>
                    <a:lnR w="12700" cap="flat" cmpd="sng" algn="ctr">
                      <a:solidFill>
                        <a:srgbClr val="FF0000"/>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sz="1200" b="1" dirty="0">
                          <a:solidFill>
                            <a:schemeClr val="accent5"/>
                          </a:solidFill>
                        </a:rPr>
                        <a:t>LeBron James (Yellow Bars)</a:t>
                      </a:r>
                    </a:p>
                    <a:p>
                      <a:pPr>
                        <a:buFont typeface="Arial" panose="020B0604020202020204" pitchFamily="34" charset="0"/>
                        <a:buNone/>
                      </a:pPr>
                      <a:r>
                        <a:rPr lang="en-US" sz="1200" b="0" dirty="0">
                          <a:solidFill>
                            <a:sysClr val="windowText" lastClr="000000"/>
                          </a:solidFill>
                        </a:rPr>
                        <a:t>Demonstrated the most well-rounded impact, leading in both assists and rebounds, reflecting his versatility and all-around contribution to team play.</a:t>
                      </a:r>
                      <a:endParaRPr lang="en-US" sz="1200" dirty="0">
                        <a:solidFill>
                          <a:sysClr val="windowText" lastClr="000000"/>
                        </a:solidFill>
                      </a:endParaRPr>
                    </a:p>
                  </a:txBody>
                  <a:tcP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sz="1200" b="1" dirty="0">
                          <a:solidFill>
                            <a:srgbClr val="C00000"/>
                          </a:solidFill>
                        </a:rPr>
                        <a:t>Michael Jordan (Red Bars )</a:t>
                      </a:r>
                    </a:p>
                    <a:p>
                      <a:pPr>
                        <a:buFont typeface="Arial" panose="020B0604020202020204" pitchFamily="34" charset="0"/>
                        <a:buNone/>
                      </a:pPr>
                      <a:r>
                        <a:rPr lang="en-US" sz="1200" b="0" dirty="0">
                          <a:solidFill>
                            <a:sysClr val="windowText" lastClr="000000"/>
                          </a:solidFill>
                        </a:rPr>
                        <a:t>Led in scoring with the highest median points per game, showcasing his dominant offensive role across a wide range of high-scoring performances.</a:t>
                      </a:r>
                      <a:endParaRPr lang="en-US" sz="1200" dirty="0">
                        <a:solidFill>
                          <a:sysClr val="windowText" lastClr="000000"/>
                        </a:solidFill>
                      </a:endParaRPr>
                    </a:p>
                  </a:txBody>
                  <a:tcPr>
                    <a:lnL w="12700" cap="flat" cmpd="sng" algn="ctr">
                      <a:solidFill>
                        <a:srgbClr val="FF0000"/>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326698379"/>
                  </a:ext>
                </a:extLst>
              </a:tr>
            </a:tbl>
          </a:graphicData>
        </a:graphic>
      </p:graphicFrame>
    </p:spTree>
    <p:extLst>
      <p:ext uri="{BB962C8B-B14F-4D97-AF65-F5344CB8AC3E}">
        <p14:creationId xmlns:p14="http://schemas.microsoft.com/office/powerpoint/2010/main" val="8605958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78A1D6-4E32-45D4-A10B-5A423937EF25}"/>
              </a:ext>
            </a:extLst>
          </p:cNvPr>
          <p:cNvSpPr txBox="1">
            <a:spLocks/>
          </p:cNvSpPr>
          <p:nvPr/>
        </p:nvSpPr>
        <p:spPr>
          <a:xfrm>
            <a:off x="6394440" y="735348"/>
            <a:ext cx="3890464" cy="460753"/>
          </a:xfrm>
          <a:prstGeom prst="rect">
            <a:avLst/>
          </a:prstGeom>
        </p:spPr>
        <p:txBody>
          <a:bodyPr>
            <a:normAutofit fontScale="92500" lnSpcReduction="10000"/>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a:t>DEFFENSIVE IMPACT </a:t>
            </a:r>
          </a:p>
        </p:txBody>
      </p:sp>
      <p:pic>
        <p:nvPicPr>
          <p:cNvPr id="4" name="Picture 3">
            <a:extLst>
              <a:ext uri="{FF2B5EF4-FFF2-40B4-BE49-F238E27FC236}">
                <a16:creationId xmlns:a16="http://schemas.microsoft.com/office/drawing/2014/main" id="{88DE2EA8-245F-4E04-8BD1-CF108E2C39CC}"/>
              </a:ext>
              <a:ext uri="{C183D7F6-B498-43B3-948B-1728B52AA6E4}">
                <adec:decorative xmlns:adec="http://schemas.microsoft.com/office/drawing/2017/decorative" val="1"/>
              </a:ext>
            </a:extLst>
          </p:cNvPr>
          <p:cNvPicPr>
            <a:picLocks noChangeAspect="1"/>
          </p:cNvPicPr>
          <p:nvPr/>
        </p:nvPicPr>
        <p:blipFill>
          <a:blip r:embed="rId3"/>
          <a:srcRect/>
          <a:stretch/>
        </p:blipFill>
        <p:spPr>
          <a:xfrm>
            <a:off x="448073" y="478171"/>
            <a:ext cx="3704477" cy="6045505"/>
          </a:xfrm>
          <a:prstGeom prst="rect">
            <a:avLst/>
          </a:prstGeom>
        </p:spPr>
      </p:pic>
      <p:pic>
        <p:nvPicPr>
          <p:cNvPr id="10" name="Picture 9">
            <a:extLst>
              <a:ext uri="{FF2B5EF4-FFF2-40B4-BE49-F238E27FC236}">
                <a16:creationId xmlns:a16="http://schemas.microsoft.com/office/drawing/2014/main" id="{58C29869-3CA2-4CFB-A871-DC5C834DD320}"/>
              </a:ext>
            </a:extLst>
          </p:cNvPr>
          <p:cNvPicPr>
            <a:picLocks noChangeAspect="1"/>
          </p:cNvPicPr>
          <p:nvPr/>
        </p:nvPicPr>
        <p:blipFill>
          <a:blip r:embed="rId4"/>
          <a:stretch>
            <a:fillRect/>
          </a:stretch>
        </p:blipFill>
        <p:spPr>
          <a:xfrm>
            <a:off x="4398724" y="1196101"/>
            <a:ext cx="7679999" cy="4272850"/>
          </a:xfrm>
          <a:prstGeom prst="rect">
            <a:avLst/>
          </a:prstGeom>
        </p:spPr>
      </p:pic>
      <p:graphicFrame>
        <p:nvGraphicFramePr>
          <p:cNvPr id="11" name="Table 19">
            <a:extLst>
              <a:ext uri="{FF2B5EF4-FFF2-40B4-BE49-F238E27FC236}">
                <a16:creationId xmlns:a16="http://schemas.microsoft.com/office/drawing/2014/main" id="{613ED136-D69A-408D-B55C-867D9BB3BA01}"/>
              </a:ext>
            </a:extLst>
          </p:cNvPr>
          <p:cNvGraphicFramePr>
            <a:graphicFrameLocks noGrp="1"/>
          </p:cNvGraphicFramePr>
          <p:nvPr>
            <p:extLst>
              <p:ext uri="{D42A27DB-BD31-4B8C-83A1-F6EECF244321}">
                <p14:modId xmlns:p14="http://schemas.microsoft.com/office/powerpoint/2010/main" val="2187349239"/>
              </p:ext>
            </p:extLst>
          </p:nvPr>
        </p:nvGraphicFramePr>
        <p:xfrm>
          <a:off x="4398724" y="5468951"/>
          <a:ext cx="6861459" cy="1188720"/>
        </p:xfrm>
        <a:graphic>
          <a:graphicData uri="http://schemas.openxmlformats.org/drawingml/2006/table">
            <a:tbl>
              <a:tblPr firstRow="1" bandRow="1">
                <a:tableStyleId>{5C22544A-7EE6-4342-B048-85BDC9FD1C3A}</a:tableStyleId>
              </a:tblPr>
              <a:tblGrid>
                <a:gridCol w="2287153">
                  <a:extLst>
                    <a:ext uri="{9D8B030D-6E8A-4147-A177-3AD203B41FA5}">
                      <a16:colId xmlns:a16="http://schemas.microsoft.com/office/drawing/2014/main" val="994911127"/>
                    </a:ext>
                  </a:extLst>
                </a:gridCol>
                <a:gridCol w="2287153">
                  <a:extLst>
                    <a:ext uri="{9D8B030D-6E8A-4147-A177-3AD203B41FA5}">
                      <a16:colId xmlns:a16="http://schemas.microsoft.com/office/drawing/2014/main" val="1849510146"/>
                    </a:ext>
                  </a:extLst>
                </a:gridCol>
                <a:gridCol w="2287153">
                  <a:extLst>
                    <a:ext uri="{9D8B030D-6E8A-4147-A177-3AD203B41FA5}">
                      <a16:colId xmlns:a16="http://schemas.microsoft.com/office/drawing/2014/main" val="3772028547"/>
                    </a:ext>
                  </a:extLst>
                </a:gridCol>
              </a:tblGrid>
              <a:tr h="844763">
                <a:tc>
                  <a:txBody>
                    <a:bodyPr/>
                    <a:lstStyle/>
                    <a:p>
                      <a:pPr algn="ctr"/>
                      <a:r>
                        <a:rPr lang="en-US" sz="1200" b="1" dirty="0">
                          <a:solidFill>
                            <a:srgbClr val="7030A0"/>
                          </a:solidFill>
                        </a:rPr>
                        <a:t>Kobe Bryant (Purple Bars)</a:t>
                      </a:r>
                    </a:p>
                    <a:p>
                      <a:pPr>
                        <a:buFont typeface="Arial" panose="020B0604020202020204" pitchFamily="34" charset="0"/>
                        <a:buNone/>
                      </a:pPr>
                      <a:r>
                        <a:rPr lang="en-US" sz="1200" b="0" dirty="0">
                          <a:solidFill>
                            <a:sysClr val="windowText" lastClr="000000"/>
                          </a:solidFill>
                        </a:rPr>
                        <a:t>Contributed consistently on defense with moderate steals and blocks, while maintaining a controlled turnover rate compared to LeBron.</a:t>
                      </a:r>
                    </a:p>
                  </a:txBody>
                  <a:tcPr>
                    <a:lnL w="12700" cmpd="sng">
                      <a:noFill/>
                    </a:lnL>
                    <a:lnR w="12700" cap="flat" cmpd="sng" algn="ctr">
                      <a:solidFill>
                        <a:srgbClr val="FF0000"/>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sz="1200" b="1" dirty="0">
                          <a:solidFill>
                            <a:schemeClr val="accent5"/>
                          </a:solidFill>
                        </a:rPr>
                        <a:t>LeBron James (Yellow Bars)</a:t>
                      </a:r>
                    </a:p>
                    <a:p>
                      <a:pPr>
                        <a:buFont typeface="Arial" panose="020B0604020202020204" pitchFamily="34" charset="0"/>
                        <a:buNone/>
                      </a:pPr>
                      <a:r>
                        <a:rPr lang="en-US" sz="1200" b="0" dirty="0">
                          <a:solidFill>
                            <a:sysClr val="windowText" lastClr="000000"/>
                          </a:solidFill>
                        </a:rPr>
                        <a:t>Showed balanced defensive stats with solid steal and block numbers but had the highest turnover rate due to his high playmaking role.</a:t>
                      </a:r>
                      <a:endParaRPr lang="en-US" sz="1200" dirty="0">
                        <a:solidFill>
                          <a:sysClr val="windowText" lastClr="000000"/>
                        </a:solidFill>
                      </a:endParaRPr>
                    </a:p>
                  </a:txBody>
                  <a:tcP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sz="1200" b="1" dirty="0">
                          <a:solidFill>
                            <a:srgbClr val="C00000"/>
                          </a:solidFill>
                        </a:rPr>
                        <a:t>Michael Jordan (Red Bars)</a:t>
                      </a:r>
                    </a:p>
                    <a:p>
                      <a:pPr>
                        <a:buFont typeface="Arial" panose="020B0604020202020204" pitchFamily="34" charset="0"/>
                        <a:buNone/>
                      </a:pPr>
                      <a:r>
                        <a:rPr lang="en-US" sz="1200" b="0" dirty="0">
                          <a:solidFill>
                            <a:sysClr val="windowText" lastClr="000000"/>
                          </a:solidFill>
                        </a:rPr>
                        <a:t>Led in steals and had low turnovers, highlighting his defensive sharpness and ball control</a:t>
                      </a:r>
                      <a:endParaRPr lang="en-US" sz="1200" dirty="0">
                        <a:solidFill>
                          <a:sysClr val="windowText" lastClr="000000"/>
                        </a:solidFill>
                      </a:endParaRPr>
                    </a:p>
                  </a:txBody>
                  <a:tcPr>
                    <a:lnL w="12700" cap="flat" cmpd="sng" algn="ctr">
                      <a:solidFill>
                        <a:srgbClr val="FF0000"/>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326698379"/>
                  </a:ext>
                </a:extLst>
              </a:tr>
            </a:tbl>
          </a:graphicData>
        </a:graphic>
      </p:graphicFrame>
    </p:spTree>
    <p:extLst>
      <p:ext uri="{BB962C8B-B14F-4D97-AF65-F5344CB8AC3E}">
        <p14:creationId xmlns:p14="http://schemas.microsoft.com/office/powerpoint/2010/main" val="32436096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894A75-BEE2-408B-9267-F2F3FAE8BC93}"/>
              </a:ext>
            </a:extLst>
          </p:cNvPr>
          <p:cNvSpPr txBox="1">
            <a:spLocks/>
          </p:cNvSpPr>
          <p:nvPr/>
        </p:nvSpPr>
        <p:spPr>
          <a:xfrm>
            <a:off x="8065709" y="3314365"/>
            <a:ext cx="3058667" cy="653486"/>
          </a:xfrm>
          <a:prstGeom prst="rect">
            <a:avLst/>
          </a:prstGeom>
        </p:spPr>
        <p:txBody>
          <a:bodyPr>
            <a:normAutofit/>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a:t>Field goals (FG) </a:t>
            </a:r>
          </a:p>
        </p:txBody>
      </p:sp>
      <p:pic>
        <p:nvPicPr>
          <p:cNvPr id="11" name="Picture 10">
            <a:extLst>
              <a:ext uri="{FF2B5EF4-FFF2-40B4-BE49-F238E27FC236}">
                <a16:creationId xmlns:a16="http://schemas.microsoft.com/office/drawing/2014/main" id="{6846C787-F3A7-48F6-81F8-5BEE2582320F}"/>
              </a:ext>
            </a:extLst>
          </p:cNvPr>
          <p:cNvPicPr>
            <a:picLocks noChangeAspect="1"/>
          </p:cNvPicPr>
          <p:nvPr/>
        </p:nvPicPr>
        <p:blipFill>
          <a:blip r:embed="rId3"/>
          <a:stretch>
            <a:fillRect/>
          </a:stretch>
        </p:blipFill>
        <p:spPr>
          <a:xfrm>
            <a:off x="406147" y="609600"/>
            <a:ext cx="7445949" cy="4752975"/>
          </a:xfrm>
          <a:prstGeom prst="rect">
            <a:avLst/>
          </a:prstGeom>
        </p:spPr>
      </p:pic>
      <p:pic>
        <p:nvPicPr>
          <p:cNvPr id="13" name="Picture 12">
            <a:extLst>
              <a:ext uri="{FF2B5EF4-FFF2-40B4-BE49-F238E27FC236}">
                <a16:creationId xmlns:a16="http://schemas.microsoft.com/office/drawing/2014/main" id="{2C6938AA-07C5-41A6-9C7C-CE8A374674CA}"/>
              </a:ext>
            </a:extLst>
          </p:cNvPr>
          <p:cNvPicPr>
            <a:picLocks noChangeAspect="1"/>
          </p:cNvPicPr>
          <p:nvPr/>
        </p:nvPicPr>
        <p:blipFill>
          <a:blip r:embed="rId4"/>
          <a:stretch>
            <a:fillRect/>
          </a:stretch>
        </p:blipFill>
        <p:spPr>
          <a:xfrm>
            <a:off x="174010" y="606953"/>
            <a:ext cx="7678660" cy="4752975"/>
          </a:xfrm>
          <a:prstGeom prst="rect">
            <a:avLst/>
          </a:prstGeom>
        </p:spPr>
      </p:pic>
      <p:pic>
        <p:nvPicPr>
          <p:cNvPr id="3076" name="Picture 4" descr="Image result for kobe lebron and mj">
            <a:extLst>
              <a:ext uri="{FF2B5EF4-FFF2-40B4-BE49-F238E27FC236}">
                <a16:creationId xmlns:a16="http://schemas.microsoft.com/office/drawing/2014/main" id="{D275B9FB-A831-4988-BADF-B349B151F00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065709" y="785708"/>
            <a:ext cx="3720144" cy="2462444"/>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16" name="Table 19">
            <a:extLst>
              <a:ext uri="{FF2B5EF4-FFF2-40B4-BE49-F238E27FC236}">
                <a16:creationId xmlns:a16="http://schemas.microsoft.com/office/drawing/2014/main" id="{DE84F9D3-1201-4292-B320-030325BDBC96}"/>
              </a:ext>
            </a:extLst>
          </p:cNvPr>
          <p:cNvGraphicFramePr>
            <a:graphicFrameLocks noGrp="1"/>
          </p:cNvGraphicFramePr>
          <p:nvPr>
            <p:extLst>
              <p:ext uri="{D42A27DB-BD31-4B8C-83A1-F6EECF244321}">
                <p14:modId xmlns:p14="http://schemas.microsoft.com/office/powerpoint/2010/main" val="1588961456"/>
              </p:ext>
            </p:extLst>
          </p:nvPr>
        </p:nvGraphicFramePr>
        <p:xfrm>
          <a:off x="173436" y="5428788"/>
          <a:ext cx="11758698" cy="1114136"/>
        </p:xfrm>
        <a:graphic>
          <a:graphicData uri="http://schemas.openxmlformats.org/drawingml/2006/table">
            <a:tbl>
              <a:tblPr firstRow="1" bandRow="1">
                <a:tableStyleId>{5C22544A-7EE6-4342-B048-85BDC9FD1C3A}</a:tableStyleId>
              </a:tblPr>
              <a:tblGrid>
                <a:gridCol w="3919566">
                  <a:extLst>
                    <a:ext uri="{9D8B030D-6E8A-4147-A177-3AD203B41FA5}">
                      <a16:colId xmlns:a16="http://schemas.microsoft.com/office/drawing/2014/main" val="994911127"/>
                    </a:ext>
                  </a:extLst>
                </a:gridCol>
                <a:gridCol w="3919566">
                  <a:extLst>
                    <a:ext uri="{9D8B030D-6E8A-4147-A177-3AD203B41FA5}">
                      <a16:colId xmlns:a16="http://schemas.microsoft.com/office/drawing/2014/main" val="1849510146"/>
                    </a:ext>
                  </a:extLst>
                </a:gridCol>
                <a:gridCol w="3919566">
                  <a:extLst>
                    <a:ext uri="{9D8B030D-6E8A-4147-A177-3AD203B41FA5}">
                      <a16:colId xmlns:a16="http://schemas.microsoft.com/office/drawing/2014/main" val="3772028547"/>
                    </a:ext>
                  </a:extLst>
                </a:gridCol>
              </a:tblGrid>
              <a:tr h="1114136">
                <a:tc>
                  <a:txBody>
                    <a:bodyPr/>
                    <a:lstStyle/>
                    <a:p>
                      <a:pPr algn="ctr"/>
                      <a:r>
                        <a:rPr lang="en-US" sz="1200" b="1" dirty="0">
                          <a:solidFill>
                            <a:srgbClr val="7030A0"/>
                          </a:solidFill>
                        </a:rPr>
                        <a:t>Kobe Bryant (Purple Dots/Line)</a:t>
                      </a:r>
                    </a:p>
                    <a:p>
                      <a:pPr>
                        <a:buFont typeface="Arial" panose="020B0604020202020204" pitchFamily="34" charset="0"/>
                        <a:buNone/>
                      </a:pPr>
                      <a:r>
                        <a:rPr lang="en-US" sz="1200" b="0" dirty="0">
                          <a:solidFill>
                            <a:sysClr val="windowText" lastClr="000000"/>
                          </a:solidFill>
                        </a:rPr>
                        <a:t>Kobe’s regression line has a positive slope but slightly less steep than Jordan’s and LeBron’s, suggesting solid but comparatively lower shooting efficiency, especially as attempts increase</a:t>
                      </a:r>
                      <a:endParaRPr lang="en-US" sz="1200" dirty="0">
                        <a:solidFill>
                          <a:sysClr val="windowText" lastClr="000000"/>
                        </a:solidFill>
                      </a:endParaRPr>
                    </a:p>
                  </a:txBody>
                  <a:tcPr>
                    <a:lnL w="12700" cmpd="sng">
                      <a:noFill/>
                    </a:lnL>
                    <a:lnR w="12700" cap="flat" cmpd="sng" algn="ctr">
                      <a:solidFill>
                        <a:srgbClr val="FF0000"/>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sz="1200" b="1" dirty="0">
                          <a:solidFill>
                            <a:schemeClr val="accent5"/>
                          </a:solidFill>
                        </a:rPr>
                        <a:t>LeBron James (Yellow Dots/Line)</a:t>
                      </a:r>
                    </a:p>
                    <a:p>
                      <a:pPr>
                        <a:buFont typeface="Arial" panose="020B0604020202020204" pitchFamily="34" charset="0"/>
                        <a:buNone/>
                      </a:pPr>
                      <a:r>
                        <a:rPr lang="en-US" sz="1200" b="0" dirty="0">
                          <a:solidFill>
                            <a:sysClr val="windowText" lastClr="000000"/>
                          </a:solidFill>
                        </a:rPr>
                        <a:t>LeBron’s regression line shows the steepest slope among the three, indicating his high scoring efficiency even at higher volumes of shot attempts, emphasizing his ability to maintain efficiency as usage increases.</a:t>
                      </a:r>
                      <a:endParaRPr lang="en-US" sz="1200" dirty="0">
                        <a:solidFill>
                          <a:sysClr val="windowText" lastClr="000000"/>
                        </a:solidFill>
                      </a:endParaRPr>
                    </a:p>
                  </a:txBody>
                  <a:tcP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sz="1200" b="1" dirty="0">
                          <a:solidFill>
                            <a:srgbClr val="C00000"/>
                          </a:solidFill>
                        </a:rPr>
                        <a:t>Michael Jordan (Red Dots/Line)</a:t>
                      </a:r>
                    </a:p>
                    <a:p>
                      <a:pPr>
                        <a:buFont typeface="Arial" panose="020B0604020202020204" pitchFamily="34" charset="0"/>
                        <a:buNone/>
                      </a:pPr>
                      <a:r>
                        <a:rPr lang="en-US" sz="1200" b="0" dirty="0">
                          <a:solidFill>
                            <a:sysClr val="windowText" lastClr="000000"/>
                          </a:solidFill>
                        </a:rPr>
                        <a:t>Jordan’s regression line has a strong positive slope, reflecting his consistent ability to convert a high proportion of shot attempts into made field goals, demonstrating efficient scoring regardless of volume.</a:t>
                      </a:r>
                      <a:endParaRPr lang="en-US" sz="1200" dirty="0">
                        <a:solidFill>
                          <a:sysClr val="windowText" lastClr="000000"/>
                        </a:solidFill>
                      </a:endParaRPr>
                    </a:p>
                  </a:txBody>
                  <a:tcPr>
                    <a:lnL w="12700" cap="flat" cmpd="sng" algn="ctr">
                      <a:solidFill>
                        <a:srgbClr val="FF0000"/>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326698379"/>
                  </a:ext>
                </a:extLst>
              </a:tr>
            </a:tbl>
          </a:graphicData>
        </a:graphic>
      </p:graphicFrame>
      <p:sp>
        <p:nvSpPr>
          <p:cNvPr id="18" name="TextBox 17">
            <a:extLst>
              <a:ext uri="{FF2B5EF4-FFF2-40B4-BE49-F238E27FC236}">
                <a16:creationId xmlns:a16="http://schemas.microsoft.com/office/drawing/2014/main" id="{4DBE1774-2BB5-4981-A274-997419A9BC7F}"/>
              </a:ext>
            </a:extLst>
          </p:cNvPr>
          <p:cNvSpPr txBox="1"/>
          <p:nvPr/>
        </p:nvSpPr>
        <p:spPr>
          <a:xfrm>
            <a:off x="8094027" y="3759489"/>
            <a:ext cx="3720143" cy="1600438"/>
          </a:xfrm>
          <a:prstGeom prst="rect">
            <a:avLst/>
          </a:prstGeom>
          <a:noFill/>
        </p:spPr>
        <p:txBody>
          <a:bodyPr wrap="square">
            <a:spAutoFit/>
          </a:bodyPr>
          <a:lstStyle/>
          <a:p>
            <a:r>
              <a:rPr lang="en-US" sz="1400" b="1" dirty="0"/>
              <a:t>The regression line</a:t>
            </a:r>
            <a:r>
              <a:rPr lang="en-US" sz="1400" dirty="0"/>
              <a:t> on this scatter represents the relationship between how many shots each  player attempts and how many they make. The</a:t>
            </a:r>
            <a:r>
              <a:rPr lang="en-US" sz="1400" b="1" dirty="0"/>
              <a:t> horizontal reference</a:t>
            </a:r>
            <a:r>
              <a:rPr lang="en-US" sz="1400" dirty="0"/>
              <a:t> line marks the level where a player scores 10 field goals in a game. The </a:t>
            </a:r>
            <a:r>
              <a:rPr lang="en-US" sz="1400" b="1" dirty="0"/>
              <a:t>vertical reference </a:t>
            </a:r>
            <a:r>
              <a:rPr lang="en-US" sz="1400" dirty="0"/>
              <a:t>line marks where a player attempts 15 field goals in a game. </a:t>
            </a:r>
            <a:endParaRPr lang="en-US" sz="1400" dirty="0">
              <a:solidFill>
                <a:sysClr val="windowText" lastClr="000000"/>
              </a:solidFill>
            </a:endParaRPr>
          </a:p>
        </p:txBody>
      </p:sp>
      <p:pic>
        <p:nvPicPr>
          <p:cNvPr id="19" name="Picture 18">
            <a:extLst>
              <a:ext uri="{FF2B5EF4-FFF2-40B4-BE49-F238E27FC236}">
                <a16:creationId xmlns:a16="http://schemas.microsoft.com/office/drawing/2014/main" id="{2F332BDA-5C5B-4358-A24B-B7D12ED64FB4}"/>
              </a:ext>
            </a:extLst>
          </p:cNvPr>
          <p:cNvPicPr>
            <a:picLocks noChangeAspect="1"/>
          </p:cNvPicPr>
          <p:nvPr/>
        </p:nvPicPr>
        <p:blipFill>
          <a:blip r:embed="rId6"/>
          <a:stretch>
            <a:fillRect/>
          </a:stretch>
        </p:blipFill>
        <p:spPr>
          <a:xfrm>
            <a:off x="164216" y="649742"/>
            <a:ext cx="7678660" cy="4710185"/>
          </a:xfrm>
          <a:prstGeom prst="rect">
            <a:avLst/>
          </a:prstGeom>
        </p:spPr>
      </p:pic>
    </p:spTree>
    <p:extLst>
      <p:ext uri="{BB962C8B-B14F-4D97-AF65-F5344CB8AC3E}">
        <p14:creationId xmlns:p14="http://schemas.microsoft.com/office/powerpoint/2010/main" val="35000150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261B8B48-63C0-4FDE-A759-87AA67F6F34E}"/>
              </a:ext>
            </a:extLst>
          </p:cNvPr>
          <p:cNvSpPr txBox="1">
            <a:spLocks/>
          </p:cNvSpPr>
          <p:nvPr/>
        </p:nvSpPr>
        <p:spPr>
          <a:xfrm>
            <a:off x="2785145" y="374594"/>
            <a:ext cx="6937695" cy="970450"/>
          </a:xfrm>
          <a:prstGeom prst="rect">
            <a:avLst/>
          </a:prstGeom>
        </p:spPr>
        <p:txBody>
          <a:bodyPr anchor="b">
            <a:normAutofit fontScale="85000" lnSpcReduction="10000"/>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4000" dirty="0"/>
              <a:t>Player Efficiency Rating (PER) </a:t>
            </a:r>
          </a:p>
        </p:txBody>
      </p:sp>
      <p:pic>
        <p:nvPicPr>
          <p:cNvPr id="8" name="Picture 7">
            <a:extLst>
              <a:ext uri="{FF2B5EF4-FFF2-40B4-BE49-F238E27FC236}">
                <a16:creationId xmlns:a16="http://schemas.microsoft.com/office/drawing/2014/main" id="{7749BADB-FF47-4D12-A5BD-B85C921E5653}"/>
              </a:ext>
            </a:extLst>
          </p:cNvPr>
          <p:cNvPicPr>
            <a:picLocks noChangeAspect="1"/>
          </p:cNvPicPr>
          <p:nvPr/>
        </p:nvPicPr>
        <p:blipFill>
          <a:blip r:embed="rId3"/>
          <a:stretch>
            <a:fillRect/>
          </a:stretch>
        </p:blipFill>
        <p:spPr>
          <a:xfrm>
            <a:off x="5234258" y="1951519"/>
            <a:ext cx="5822432" cy="3431103"/>
          </a:xfrm>
          <a:prstGeom prst="rect">
            <a:avLst/>
          </a:prstGeom>
        </p:spPr>
      </p:pic>
      <p:graphicFrame>
        <p:nvGraphicFramePr>
          <p:cNvPr id="9" name="Table 19">
            <a:extLst>
              <a:ext uri="{FF2B5EF4-FFF2-40B4-BE49-F238E27FC236}">
                <a16:creationId xmlns:a16="http://schemas.microsoft.com/office/drawing/2014/main" id="{5461B4EA-8A87-4E7C-994C-1C7C910152FE}"/>
              </a:ext>
            </a:extLst>
          </p:cNvPr>
          <p:cNvGraphicFramePr>
            <a:graphicFrameLocks noGrp="1"/>
          </p:cNvGraphicFramePr>
          <p:nvPr>
            <p:extLst>
              <p:ext uri="{D42A27DB-BD31-4B8C-83A1-F6EECF244321}">
                <p14:modId xmlns:p14="http://schemas.microsoft.com/office/powerpoint/2010/main" val="1940456768"/>
              </p:ext>
            </p:extLst>
          </p:nvPr>
        </p:nvGraphicFramePr>
        <p:xfrm>
          <a:off x="945160" y="5506717"/>
          <a:ext cx="10301679" cy="1188720"/>
        </p:xfrm>
        <a:graphic>
          <a:graphicData uri="http://schemas.openxmlformats.org/drawingml/2006/table">
            <a:tbl>
              <a:tblPr firstRow="1" bandRow="1">
                <a:tableStyleId>{5C22544A-7EE6-4342-B048-85BDC9FD1C3A}</a:tableStyleId>
              </a:tblPr>
              <a:tblGrid>
                <a:gridCol w="3725549">
                  <a:extLst>
                    <a:ext uri="{9D8B030D-6E8A-4147-A177-3AD203B41FA5}">
                      <a16:colId xmlns:a16="http://schemas.microsoft.com/office/drawing/2014/main" val="994911127"/>
                    </a:ext>
                  </a:extLst>
                </a:gridCol>
                <a:gridCol w="3233651">
                  <a:extLst>
                    <a:ext uri="{9D8B030D-6E8A-4147-A177-3AD203B41FA5}">
                      <a16:colId xmlns:a16="http://schemas.microsoft.com/office/drawing/2014/main" val="1849510146"/>
                    </a:ext>
                  </a:extLst>
                </a:gridCol>
                <a:gridCol w="3342479">
                  <a:extLst>
                    <a:ext uri="{9D8B030D-6E8A-4147-A177-3AD203B41FA5}">
                      <a16:colId xmlns:a16="http://schemas.microsoft.com/office/drawing/2014/main" val="3772028547"/>
                    </a:ext>
                  </a:extLst>
                </a:gridCol>
              </a:tblGrid>
              <a:tr h="1158506">
                <a:tc>
                  <a:txBody>
                    <a:bodyPr/>
                    <a:lstStyle/>
                    <a:p>
                      <a:pPr algn="ctr"/>
                      <a:r>
                        <a:rPr lang="en-US" sz="1200" b="1" dirty="0">
                          <a:solidFill>
                            <a:srgbClr val="7030A0"/>
                          </a:solidFill>
                        </a:rPr>
                        <a:t>Kobe Bryant (Purple Box)</a:t>
                      </a:r>
                    </a:p>
                    <a:p>
                      <a:pPr>
                        <a:buFont typeface="Arial" panose="020B0604020202020204" pitchFamily="34" charset="0"/>
                        <a:buNone/>
                      </a:pPr>
                      <a:r>
                        <a:rPr lang="en-US" sz="1200" b="0" dirty="0">
                          <a:solidFill>
                            <a:sysClr val="windowText" lastClr="000000"/>
                          </a:solidFill>
                        </a:rPr>
                        <a:t>Kobe Bryant’s PER is noticeably lower on average, with a median closer to 23–24 and a wider range extending to some low values, indicating more variability and generally less efficiency compared to the other two legends. </a:t>
                      </a:r>
                      <a:endParaRPr lang="en-US" sz="1200" dirty="0">
                        <a:solidFill>
                          <a:sysClr val="windowText" lastClr="000000"/>
                        </a:solidFill>
                      </a:endParaRPr>
                    </a:p>
                  </a:txBody>
                  <a:tcPr>
                    <a:lnL w="12700" cmpd="sng">
                      <a:noFill/>
                    </a:lnL>
                    <a:lnR w="12700" cap="flat" cmpd="sng" algn="ctr">
                      <a:solidFill>
                        <a:srgbClr val="FF0000"/>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sz="1200" b="1" dirty="0">
                          <a:solidFill>
                            <a:schemeClr val="accent5"/>
                          </a:solidFill>
                        </a:rPr>
                        <a:t>LeBron James (Yellow Box)</a:t>
                      </a:r>
                    </a:p>
                    <a:p>
                      <a:pPr>
                        <a:buFont typeface="Arial" panose="020B0604020202020204" pitchFamily="34" charset="0"/>
                        <a:buNone/>
                      </a:pPr>
                      <a:r>
                        <a:rPr lang="en-US" sz="1200" b="0" dirty="0">
                          <a:solidFill>
                            <a:sysClr val="windowText" lastClr="000000"/>
                          </a:solidFill>
                        </a:rPr>
                        <a:t>LeBron’s PER has a slightly wider spread with some higher outliers; suggesting occasional peak performances above Jordan’s range</a:t>
                      </a:r>
                      <a:endParaRPr lang="en-US" sz="1200" dirty="0">
                        <a:solidFill>
                          <a:sysClr val="windowText" lastClr="000000"/>
                        </a:solidFill>
                      </a:endParaRPr>
                    </a:p>
                  </a:txBody>
                  <a:tcP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sz="1200" b="1" dirty="0">
                          <a:solidFill>
                            <a:srgbClr val="C00000"/>
                          </a:solidFill>
                        </a:rPr>
                        <a:t>Michael Jordan (Red Box)</a:t>
                      </a:r>
                    </a:p>
                    <a:p>
                      <a:pPr>
                        <a:buFont typeface="Arial" panose="020B0604020202020204" pitchFamily="34" charset="0"/>
                        <a:buNone/>
                      </a:pPr>
                      <a:r>
                        <a:rPr lang="en-US" sz="1200" b="0" dirty="0">
                          <a:solidFill>
                            <a:sysClr val="windowText" lastClr="000000"/>
                          </a:solidFill>
                        </a:rPr>
                        <a:t>Michael Jordan and LeBron James have very similar median Player Efficiency Ratings (PER), both hovering around 28–29, indicating consistently high performance levels</a:t>
                      </a:r>
                    </a:p>
                  </a:txBody>
                  <a:tcPr>
                    <a:lnL w="12700" cap="flat" cmpd="sng" algn="ctr">
                      <a:solidFill>
                        <a:srgbClr val="FF0000"/>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326698379"/>
                  </a:ext>
                </a:extLst>
              </a:tr>
            </a:tbl>
          </a:graphicData>
        </a:graphic>
      </p:graphicFrame>
      <p:pic>
        <p:nvPicPr>
          <p:cNvPr id="11266" name="Picture 2" descr="Lebron James And Kobe Bryant Wallpaper">
            <a:extLst>
              <a:ext uri="{FF2B5EF4-FFF2-40B4-BE49-F238E27FC236}">
                <a16:creationId xmlns:a16="http://schemas.microsoft.com/office/drawing/2014/main" id="{9669E9E4-50ED-4D5B-9C0A-650C07A74297}"/>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9915" t="2563" r="4382" b="7470"/>
          <a:stretch/>
        </p:blipFill>
        <p:spPr bwMode="auto">
          <a:xfrm>
            <a:off x="870821" y="2064940"/>
            <a:ext cx="4069910" cy="3204260"/>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7A25A2A9-C348-4836-9164-46F92A572C8B}"/>
              </a:ext>
            </a:extLst>
          </p:cNvPr>
          <p:cNvSpPr txBox="1"/>
          <p:nvPr/>
        </p:nvSpPr>
        <p:spPr>
          <a:xfrm>
            <a:off x="870821" y="1202181"/>
            <a:ext cx="10766342" cy="738664"/>
          </a:xfrm>
          <a:prstGeom prst="rect">
            <a:avLst/>
          </a:prstGeom>
          <a:noFill/>
        </p:spPr>
        <p:txBody>
          <a:bodyPr wrap="square">
            <a:spAutoFit/>
          </a:bodyPr>
          <a:lstStyle/>
          <a:p>
            <a:r>
              <a:rPr lang="en-US" sz="1400" dirty="0"/>
              <a:t>Is a single-number statistic that summarizes the player's overall per-minute performance. It accounts for both positive contributions (like points, assists, rebounds, steals, and blocks) and negative ones (like missed shots and turnovers), and is adjusted for game pace. A PER of </a:t>
            </a:r>
            <a:r>
              <a:rPr lang="en-US" sz="1400" b="1" dirty="0"/>
              <a:t>15</a:t>
            </a:r>
            <a:r>
              <a:rPr lang="en-US" sz="1400" dirty="0"/>
              <a:t> is the NBA league average. Higher values indicate greater efficiency and overall impact.</a:t>
            </a:r>
          </a:p>
        </p:txBody>
      </p:sp>
    </p:spTree>
    <p:extLst>
      <p:ext uri="{BB962C8B-B14F-4D97-AF65-F5344CB8AC3E}">
        <p14:creationId xmlns:p14="http://schemas.microsoft.com/office/powerpoint/2010/main" val="30167435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F1F6728-12EF-48B0-821B-2502C89B61B0}"/>
              </a:ext>
              <a:ext uri="{C183D7F6-B498-43B3-948B-1728B52AA6E4}">
                <adec:decorative xmlns:adec="http://schemas.microsoft.com/office/drawing/2017/decorative" val="1"/>
              </a:ext>
            </a:extLst>
          </p:cNvPr>
          <p:cNvPicPr>
            <a:picLocks noChangeAspect="1"/>
          </p:cNvPicPr>
          <p:nvPr/>
        </p:nvPicPr>
        <p:blipFill rotWithShape="1">
          <a:blip r:embed="rId2"/>
          <a:srcRect t="6844" b="6844"/>
          <a:stretch/>
        </p:blipFill>
        <p:spPr>
          <a:xfrm>
            <a:off x="0" y="0"/>
            <a:ext cx="12192000" cy="6858000"/>
          </a:xfrm>
          <a:prstGeom prst="rect">
            <a:avLst/>
          </a:prstGeom>
        </p:spPr>
      </p:pic>
      <p:sp>
        <p:nvSpPr>
          <p:cNvPr id="3" name="Title 1">
            <a:extLst>
              <a:ext uri="{FF2B5EF4-FFF2-40B4-BE49-F238E27FC236}">
                <a16:creationId xmlns:a16="http://schemas.microsoft.com/office/drawing/2014/main" id="{293D335D-D7AB-4845-8960-A7849F1A1E24}"/>
              </a:ext>
            </a:extLst>
          </p:cNvPr>
          <p:cNvSpPr txBox="1">
            <a:spLocks/>
          </p:cNvSpPr>
          <p:nvPr/>
        </p:nvSpPr>
        <p:spPr>
          <a:xfrm>
            <a:off x="6278518" y="4437496"/>
            <a:ext cx="3485073" cy="1988242"/>
          </a:xfrm>
          <a:prstGeom prst="rect">
            <a:avLst/>
          </a:prstGeom>
          <a:solidFill>
            <a:schemeClr val="tx1"/>
          </a:solidFill>
        </p:spPr>
        <p:txBody>
          <a:bodyPr>
            <a:normAutofit/>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4000" dirty="0">
                <a:solidFill>
                  <a:srgbClr val="FFFF00"/>
                </a:solidFill>
              </a:rPr>
              <a:t>TEAM IMPACT </a:t>
            </a:r>
          </a:p>
        </p:txBody>
      </p:sp>
      <p:sp>
        <p:nvSpPr>
          <p:cNvPr id="4" name="Subtitle 2">
            <a:extLst>
              <a:ext uri="{FF2B5EF4-FFF2-40B4-BE49-F238E27FC236}">
                <a16:creationId xmlns:a16="http://schemas.microsoft.com/office/drawing/2014/main" id="{168C8A20-9323-4C47-83C1-9E4D5C909249}"/>
              </a:ext>
            </a:extLst>
          </p:cNvPr>
          <p:cNvSpPr txBox="1">
            <a:spLocks/>
          </p:cNvSpPr>
          <p:nvPr/>
        </p:nvSpPr>
        <p:spPr>
          <a:xfrm>
            <a:off x="6336708" y="5134476"/>
            <a:ext cx="3485072" cy="1026544"/>
          </a:xfrm>
          <a:prstGeom prst="rect">
            <a:avLst/>
          </a:prstGeom>
        </p:spPr>
        <p:txBody>
          <a:bodyPr>
            <a:normAutofit fontScale="47500" lnSpcReduction="20000"/>
          </a:bodyPr>
          <a:lstStyle>
            <a:lvl1pPr marL="306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r>
              <a:rPr lang="en-US" sz="2300" dirty="0">
                <a:solidFill>
                  <a:srgbClr val="FFFF00"/>
                </a:solidFill>
              </a:rPr>
              <a:t>WIN SHARES (WS)</a:t>
            </a:r>
          </a:p>
          <a:p>
            <a:r>
              <a:rPr lang="en-US" sz="2300" dirty="0">
                <a:solidFill>
                  <a:srgbClr val="FFFF00"/>
                </a:solidFill>
              </a:rPr>
              <a:t>USAGE RATE (USG) </a:t>
            </a:r>
          </a:p>
          <a:p>
            <a:r>
              <a:rPr lang="en-US" sz="2300" dirty="0">
                <a:solidFill>
                  <a:srgbClr val="FFFF00"/>
                </a:solidFill>
              </a:rPr>
              <a:t>TRUE SHOOTING PERCENTAGE (TS) </a:t>
            </a:r>
          </a:p>
          <a:p>
            <a:r>
              <a:rPr lang="en-US" sz="2300" dirty="0">
                <a:solidFill>
                  <a:srgbClr val="FFFF00"/>
                </a:solidFill>
              </a:rPr>
              <a:t>WINS &amp; LOSSES</a:t>
            </a:r>
          </a:p>
        </p:txBody>
      </p:sp>
    </p:spTree>
    <p:extLst>
      <p:ext uri="{BB962C8B-B14F-4D97-AF65-F5344CB8AC3E}">
        <p14:creationId xmlns:p14="http://schemas.microsoft.com/office/powerpoint/2010/main" val="28254899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78A1D6-4E32-45D4-A10B-5A423937EF25}"/>
              </a:ext>
            </a:extLst>
          </p:cNvPr>
          <p:cNvSpPr txBox="1">
            <a:spLocks/>
          </p:cNvSpPr>
          <p:nvPr/>
        </p:nvSpPr>
        <p:spPr>
          <a:xfrm>
            <a:off x="8052918" y="3412894"/>
            <a:ext cx="3623531" cy="495727"/>
          </a:xfrm>
          <a:prstGeom prst="rect">
            <a:avLst/>
          </a:prstGeom>
        </p:spPr>
        <p:txBody>
          <a:bodyPr>
            <a:normAutofit lnSpcReduction="10000"/>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a:t>WIN SHARES (WS) </a:t>
            </a:r>
          </a:p>
        </p:txBody>
      </p:sp>
      <p:pic>
        <p:nvPicPr>
          <p:cNvPr id="4" name="Picture 3">
            <a:extLst>
              <a:ext uri="{FF2B5EF4-FFF2-40B4-BE49-F238E27FC236}">
                <a16:creationId xmlns:a16="http://schemas.microsoft.com/office/drawing/2014/main" id="{88DE2EA8-245F-4E04-8BD1-CF108E2C39CC}"/>
              </a:ext>
              <a:ext uri="{C183D7F6-B498-43B3-948B-1728B52AA6E4}">
                <adec:decorative xmlns:adec="http://schemas.microsoft.com/office/drawing/2017/decorative" val="1"/>
              </a:ext>
            </a:extLst>
          </p:cNvPr>
          <p:cNvPicPr>
            <a:picLocks noChangeAspect="1"/>
          </p:cNvPicPr>
          <p:nvPr/>
        </p:nvPicPr>
        <p:blipFill>
          <a:blip r:embed="rId3"/>
          <a:srcRect/>
          <a:stretch/>
        </p:blipFill>
        <p:spPr>
          <a:xfrm>
            <a:off x="8052919" y="641975"/>
            <a:ext cx="3700058" cy="2671289"/>
          </a:xfrm>
          <a:prstGeom prst="rect">
            <a:avLst/>
          </a:prstGeom>
        </p:spPr>
      </p:pic>
      <p:pic>
        <p:nvPicPr>
          <p:cNvPr id="5" name="Picture 4">
            <a:extLst>
              <a:ext uri="{FF2B5EF4-FFF2-40B4-BE49-F238E27FC236}">
                <a16:creationId xmlns:a16="http://schemas.microsoft.com/office/drawing/2014/main" id="{AE3E3C63-1E03-4415-81C3-C5CFE3AEEFAC}"/>
              </a:ext>
            </a:extLst>
          </p:cNvPr>
          <p:cNvPicPr>
            <a:picLocks noChangeAspect="1"/>
          </p:cNvPicPr>
          <p:nvPr/>
        </p:nvPicPr>
        <p:blipFill>
          <a:blip r:embed="rId4"/>
          <a:stretch>
            <a:fillRect/>
          </a:stretch>
        </p:blipFill>
        <p:spPr>
          <a:xfrm>
            <a:off x="502169" y="1148034"/>
            <a:ext cx="7426879" cy="4143983"/>
          </a:xfrm>
          <a:prstGeom prst="rect">
            <a:avLst/>
          </a:prstGeom>
        </p:spPr>
      </p:pic>
      <p:sp>
        <p:nvSpPr>
          <p:cNvPr id="8" name="TextBox 7">
            <a:extLst>
              <a:ext uri="{FF2B5EF4-FFF2-40B4-BE49-F238E27FC236}">
                <a16:creationId xmlns:a16="http://schemas.microsoft.com/office/drawing/2014/main" id="{3447A3B7-8D4D-4698-97F1-336547278ADC}"/>
              </a:ext>
            </a:extLst>
          </p:cNvPr>
          <p:cNvSpPr txBox="1"/>
          <p:nvPr/>
        </p:nvSpPr>
        <p:spPr>
          <a:xfrm>
            <a:off x="8120544" y="3808991"/>
            <a:ext cx="3700058" cy="1459117"/>
          </a:xfrm>
          <a:prstGeom prst="rect">
            <a:avLst/>
          </a:prstGeom>
          <a:noFill/>
        </p:spPr>
        <p:txBody>
          <a:bodyPr wrap="square">
            <a:spAutoFit/>
          </a:bodyPr>
          <a:lstStyle/>
          <a:p>
            <a:pPr marR="0" lvl="0">
              <a:lnSpc>
                <a:spcPct val="107000"/>
              </a:lnSpc>
              <a:spcBef>
                <a:spcPts val="0"/>
              </a:spcBef>
              <a:spcAft>
                <a:spcPts val="0"/>
              </a:spcAft>
              <a:buSzPts val="1000"/>
              <a:tabLst>
                <a:tab pos="457200" algn="l"/>
              </a:tabLst>
            </a:pPr>
            <a:r>
              <a:rPr lang="en-US" sz="1400" dirty="0"/>
              <a:t>Is an advanced basketball metric that estimates how many wins a player contributed to their team over a career. It breaks down the  player’s overall impact into </a:t>
            </a:r>
            <a:r>
              <a:rPr lang="en-US" sz="1400" b="1" dirty="0"/>
              <a:t>offensive</a:t>
            </a:r>
            <a:r>
              <a:rPr lang="en-US" sz="1400" dirty="0"/>
              <a:t> and </a:t>
            </a:r>
            <a:r>
              <a:rPr lang="en-US" sz="1400" b="1" dirty="0"/>
              <a:t>defensive contributions</a:t>
            </a:r>
            <a:r>
              <a:rPr lang="en-US" sz="1400" dirty="0"/>
              <a:t>, combining them into a single number representing total value.</a:t>
            </a:r>
            <a:endParaRPr lang="en-US" sz="1400" dirty="0">
              <a:effectLst/>
              <a:ea typeface="Calibri" panose="020F0502020204030204" pitchFamily="34" charset="0"/>
              <a:cs typeface="Times New Roman" panose="02020603050405020304" pitchFamily="18" charset="0"/>
            </a:endParaRPr>
          </a:p>
        </p:txBody>
      </p:sp>
      <p:graphicFrame>
        <p:nvGraphicFramePr>
          <p:cNvPr id="9" name="Table 19">
            <a:extLst>
              <a:ext uri="{FF2B5EF4-FFF2-40B4-BE49-F238E27FC236}">
                <a16:creationId xmlns:a16="http://schemas.microsoft.com/office/drawing/2014/main" id="{48F0655A-2E1E-4E54-B0A2-48594518A78F}"/>
              </a:ext>
            </a:extLst>
          </p:cNvPr>
          <p:cNvGraphicFramePr>
            <a:graphicFrameLocks noGrp="1"/>
          </p:cNvGraphicFramePr>
          <p:nvPr>
            <p:extLst>
              <p:ext uri="{D42A27DB-BD31-4B8C-83A1-F6EECF244321}">
                <p14:modId xmlns:p14="http://schemas.microsoft.com/office/powerpoint/2010/main" val="3709051477"/>
              </p:ext>
            </p:extLst>
          </p:nvPr>
        </p:nvGraphicFramePr>
        <p:xfrm>
          <a:off x="350174" y="5531324"/>
          <a:ext cx="11758698" cy="1005840"/>
        </p:xfrm>
        <a:graphic>
          <a:graphicData uri="http://schemas.openxmlformats.org/drawingml/2006/table">
            <a:tbl>
              <a:tblPr firstRow="1" bandRow="1">
                <a:tableStyleId>{5C22544A-7EE6-4342-B048-85BDC9FD1C3A}</a:tableStyleId>
              </a:tblPr>
              <a:tblGrid>
                <a:gridCol w="4188575">
                  <a:extLst>
                    <a:ext uri="{9D8B030D-6E8A-4147-A177-3AD203B41FA5}">
                      <a16:colId xmlns:a16="http://schemas.microsoft.com/office/drawing/2014/main" val="994911127"/>
                    </a:ext>
                  </a:extLst>
                </a:gridCol>
                <a:gridCol w="3650557">
                  <a:extLst>
                    <a:ext uri="{9D8B030D-6E8A-4147-A177-3AD203B41FA5}">
                      <a16:colId xmlns:a16="http://schemas.microsoft.com/office/drawing/2014/main" val="1849510146"/>
                    </a:ext>
                  </a:extLst>
                </a:gridCol>
                <a:gridCol w="3919566">
                  <a:extLst>
                    <a:ext uri="{9D8B030D-6E8A-4147-A177-3AD203B41FA5}">
                      <a16:colId xmlns:a16="http://schemas.microsoft.com/office/drawing/2014/main" val="3772028547"/>
                    </a:ext>
                  </a:extLst>
                </a:gridCol>
              </a:tblGrid>
              <a:tr h="771786">
                <a:tc>
                  <a:txBody>
                    <a:bodyPr/>
                    <a:lstStyle/>
                    <a:p>
                      <a:pPr algn="ctr"/>
                      <a:r>
                        <a:rPr lang="en-US" sz="1200" b="1" dirty="0">
                          <a:solidFill>
                            <a:srgbClr val="7030A0"/>
                          </a:solidFill>
                        </a:rPr>
                        <a:t>Kobe Bryant (Purple Bar)</a:t>
                      </a:r>
                    </a:p>
                    <a:p>
                      <a:pPr>
                        <a:buFont typeface="Arial" panose="020B0604020202020204" pitchFamily="34" charset="0"/>
                        <a:buNone/>
                      </a:pPr>
                      <a:r>
                        <a:rPr lang="en-US" sz="1200" b="0" dirty="0">
                          <a:solidFill>
                            <a:sysClr val="windowText" lastClr="000000"/>
                          </a:solidFill>
                        </a:rPr>
                        <a:t>While a dominant player, Kobe has a lower total WS, which can be attributed to both a shorter peak and the natural effects of injuries and team dynamics over his career.</a:t>
                      </a:r>
                    </a:p>
                  </a:txBody>
                  <a:tcPr>
                    <a:lnL w="12700" cmpd="sng">
                      <a:noFill/>
                    </a:lnL>
                    <a:lnR w="12700" cap="flat" cmpd="sng" algn="ctr">
                      <a:solidFill>
                        <a:srgbClr val="FF0000"/>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sz="1200" b="1" dirty="0">
                          <a:solidFill>
                            <a:schemeClr val="accent5"/>
                          </a:solidFill>
                        </a:rPr>
                        <a:t>LeBron James (Yellow Bar)</a:t>
                      </a:r>
                    </a:p>
                    <a:p>
                      <a:pPr>
                        <a:buFont typeface="Arial" panose="020B0604020202020204" pitchFamily="34" charset="0"/>
                        <a:buNone/>
                      </a:pPr>
                      <a:r>
                        <a:rPr lang="en-US" sz="1200" b="0" dirty="0">
                          <a:solidFill>
                            <a:sysClr val="windowText" lastClr="000000"/>
                          </a:solidFill>
                        </a:rPr>
                        <a:t>Higher total WS reflects both his sustained elite performance and his longer career span—playing more seasons and minutes compared to Jordan and Kobe.</a:t>
                      </a:r>
                      <a:endParaRPr lang="en-US" sz="1200" dirty="0">
                        <a:solidFill>
                          <a:sysClr val="windowText" lastClr="000000"/>
                        </a:solidFill>
                      </a:endParaRPr>
                    </a:p>
                  </a:txBody>
                  <a:tcP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sz="1200" b="1" dirty="0">
                          <a:solidFill>
                            <a:srgbClr val="C00000"/>
                          </a:solidFill>
                        </a:rPr>
                        <a:t>Michael Jordan (Red Bar)</a:t>
                      </a:r>
                    </a:p>
                    <a:p>
                      <a:pPr>
                        <a:buFont typeface="Arial" panose="020B0604020202020204" pitchFamily="34" charset="0"/>
                        <a:buNone/>
                      </a:pPr>
                      <a:r>
                        <a:rPr lang="en-US" sz="1200" b="0" dirty="0">
                          <a:solidFill>
                            <a:sysClr val="windowText" lastClr="000000"/>
                          </a:solidFill>
                        </a:rPr>
                        <a:t>Despite playing fewer seasons (including a couple of retirements), still ranks second, demonstrating exceptional impact during his peak years. </a:t>
                      </a:r>
                    </a:p>
                  </a:txBody>
                  <a:tcPr>
                    <a:lnL w="12700" cap="flat" cmpd="sng" algn="ctr">
                      <a:solidFill>
                        <a:srgbClr val="FF0000"/>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326698379"/>
                  </a:ext>
                </a:extLst>
              </a:tr>
            </a:tbl>
          </a:graphicData>
        </a:graphic>
      </p:graphicFrame>
    </p:spTree>
    <p:extLst>
      <p:ext uri="{BB962C8B-B14F-4D97-AF65-F5344CB8AC3E}">
        <p14:creationId xmlns:p14="http://schemas.microsoft.com/office/powerpoint/2010/main" val="16466145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4CB162-D537-4F4B-A00B-D786BBFF808F}"/>
              </a:ext>
            </a:extLst>
          </p:cNvPr>
          <p:cNvSpPr txBox="1">
            <a:spLocks/>
          </p:cNvSpPr>
          <p:nvPr/>
        </p:nvSpPr>
        <p:spPr>
          <a:xfrm>
            <a:off x="447631" y="817607"/>
            <a:ext cx="3436472" cy="482687"/>
          </a:xfrm>
          <a:prstGeom prst="rect">
            <a:avLst/>
          </a:prstGeom>
        </p:spPr>
        <p:txBody>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a:t>USAGE RATE (USG)            </a:t>
            </a:r>
            <a:endParaRPr lang="en-US" sz="2800" dirty="0">
              <a:solidFill>
                <a:srgbClr val="273540"/>
              </a:solidFill>
              <a:effectLst/>
              <a:latin typeface="Lato" panose="020F0502020204030203" pitchFamily="34" charset="0"/>
              <a:ea typeface="Times New Roman" panose="02020603050405020304" pitchFamily="18" charset="0"/>
              <a:cs typeface="Times New Roman" panose="02020603050405020304" pitchFamily="18" charset="0"/>
            </a:endParaRPr>
          </a:p>
        </p:txBody>
      </p:sp>
      <p:pic>
        <p:nvPicPr>
          <p:cNvPr id="19" name="Picture 18">
            <a:extLst>
              <a:ext uri="{FF2B5EF4-FFF2-40B4-BE49-F238E27FC236}">
                <a16:creationId xmlns:a16="http://schemas.microsoft.com/office/drawing/2014/main" id="{74DEDC23-A3AF-4F06-96D7-A1D198F24DE6}"/>
              </a:ext>
            </a:extLst>
          </p:cNvPr>
          <p:cNvPicPr>
            <a:picLocks noChangeAspect="1"/>
          </p:cNvPicPr>
          <p:nvPr/>
        </p:nvPicPr>
        <p:blipFill>
          <a:blip r:embed="rId3"/>
          <a:stretch>
            <a:fillRect/>
          </a:stretch>
        </p:blipFill>
        <p:spPr>
          <a:xfrm>
            <a:off x="5816369" y="1009108"/>
            <a:ext cx="5960778" cy="4207811"/>
          </a:xfrm>
          <a:prstGeom prst="rect">
            <a:avLst/>
          </a:prstGeom>
        </p:spPr>
      </p:pic>
      <p:pic>
        <p:nvPicPr>
          <p:cNvPr id="7" name="Picture 6">
            <a:extLst>
              <a:ext uri="{FF2B5EF4-FFF2-40B4-BE49-F238E27FC236}">
                <a16:creationId xmlns:a16="http://schemas.microsoft.com/office/drawing/2014/main" id="{EC0A3628-26B2-4399-995B-E8E5918F1FEC}"/>
              </a:ext>
            </a:extLst>
          </p:cNvPr>
          <p:cNvPicPr>
            <a:picLocks noChangeAspect="1"/>
          </p:cNvPicPr>
          <p:nvPr/>
        </p:nvPicPr>
        <p:blipFill rotWithShape="1">
          <a:blip r:embed="rId4">
            <a:alphaModFix/>
          </a:blip>
          <a:srcRect l="17" t="14269" r="-17" b="34301"/>
          <a:stretch/>
        </p:blipFill>
        <p:spPr>
          <a:xfrm>
            <a:off x="535363" y="2533992"/>
            <a:ext cx="4906071" cy="2682927"/>
          </a:xfrm>
          <a:prstGeom prst="rect">
            <a:avLst/>
          </a:prstGeom>
        </p:spPr>
      </p:pic>
      <p:sp>
        <p:nvSpPr>
          <p:cNvPr id="10" name="TextBox 9">
            <a:extLst>
              <a:ext uri="{FF2B5EF4-FFF2-40B4-BE49-F238E27FC236}">
                <a16:creationId xmlns:a16="http://schemas.microsoft.com/office/drawing/2014/main" id="{87A284AD-2A56-4B2A-BE2A-50D62A86FFC7}"/>
              </a:ext>
            </a:extLst>
          </p:cNvPr>
          <p:cNvSpPr txBox="1"/>
          <p:nvPr/>
        </p:nvSpPr>
        <p:spPr>
          <a:xfrm>
            <a:off x="447632" y="1257814"/>
            <a:ext cx="5163460" cy="1169551"/>
          </a:xfrm>
          <a:prstGeom prst="rect">
            <a:avLst/>
          </a:prstGeom>
          <a:noFill/>
        </p:spPr>
        <p:txBody>
          <a:bodyPr wrap="square">
            <a:spAutoFit/>
          </a:bodyPr>
          <a:lstStyle/>
          <a:p>
            <a:r>
              <a:rPr lang="en-US" sz="1400" dirty="0"/>
              <a:t>Estimates the percentage of team plays used by a player while they are on the court. It accounts for: Field goal attempts, free-throw attempts and turnovers. Essentially, it measures how involved a player is in their team's offense. A higher USG% means the player is more central to the offense when on the floor.</a:t>
            </a:r>
          </a:p>
        </p:txBody>
      </p:sp>
      <p:graphicFrame>
        <p:nvGraphicFramePr>
          <p:cNvPr id="11" name="Table 19">
            <a:extLst>
              <a:ext uri="{FF2B5EF4-FFF2-40B4-BE49-F238E27FC236}">
                <a16:creationId xmlns:a16="http://schemas.microsoft.com/office/drawing/2014/main" id="{482E3028-1C4E-465B-A739-265055487C69}"/>
              </a:ext>
            </a:extLst>
          </p:cNvPr>
          <p:cNvGraphicFramePr>
            <a:graphicFrameLocks noGrp="1"/>
          </p:cNvGraphicFramePr>
          <p:nvPr>
            <p:extLst>
              <p:ext uri="{D42A27DB-BD31-4B8C-83A1-F6EECF244321}">
                <p14:modId xmlns:p14="http://schemas.microsoft.com/office/powerpoint/2010/main" val="1563787288"/>
              </p:ext>
            </p:extLst>
          </p:nvPr>
        </p:nvGraphicFramePr>
        <p:xfrm>
          <a:off x="738401" y="5403272"/>
          <a:ext cx="10899753" cy="1105003"/>
        </p:xfrm>
        <a:graphic>
          <a:graphicData uri="http://schemas.openxmlformats.org/drawingml/2006/table">
            <a:tbl>
              <a:tblPr firstRow="1" bandRow="1">
                <a:tableStyleId>{5C22544A-7EE6-4342-B048-85BDC9FD1C3A}</a:tableStyleId>
              </a:tblPr>
              <a:tblGrid>
                <a:gridCol w="3633251">
                  <a:extLst>
                    <a:ext uri="{9D8B030D-6E8A-4147-A177-3AD203B41FA5}">
                      <a16:colId xmlns:a16="http://schemas.microsoft.com/office/drawing/2014/main" val="994911127"/>
                    </a:ext>
                  </a:extLst>
                </a:gridCol>
                <a:gridCol w="3633251">
                  <a:extLst>
                    <a:ext uri="{9D8B030D-6E8A-4147-A177-3AD203B41FA5}">
                      <a16:colId xmlns:a16="http://schemas.microsoft.com/office/drawing/2014/main" val="1849510146"/>
                    </a:ext>
                  </a:extLst>
                </a:gridCol>
                <a:gridCol w="3633251">
                  <a:extLst>
                    <a:ext uri="{9D8B030D-6E8A-4147-A177-3AD203B41FA5}">
                      <a16:colId xmlns:a16="http://schemas.microsoft.com/office/drawing/2014/main" val="3772028547"/>
                    </a:ext>
                  </a:extLst>
                </a:gridCol>
              </a:tblGrid>
              <a:tr h="1105003">
                <a:tc>
                  <a:txBody>
                    <a:bodyPr/>
                    <a:lstStyle/>
                    <a:p>
                      <a:pPr algn="ctr"/>
                      <a:r>
                        <a:rPr lang="en-US" sz="1200" b="1" dirty="0">
                          <a:solidFill>
                            <a:srgbClr val="7030A0"/>
                          </a:solidFill>
                        </a:rPr>
                        <a:t>Kobe Bryant (Purple Bars)</a:t>
                      </a:r>
                    </a:p>
                    <a:p>
                      <a:pPr>
                        <a:buFont typeface="Arial" panose="020B0604020202020204" pitchFamily="34" charset="0"/>
                        <a:buNone/>
                      </a:pPr>
                      <a:r>
                        <a:rPr lang="en-US" sz="1200" b="0" dirty="0">
                          <a:solidFill>
                            <a:sysClr val="windowText" lastClr="000000"/>
                          </a:solidFill>
                        </a:rPr>
                        <a:t>Distribution is broad, ranging from low 20s to upper 30s.Indicates variation over his career (early years, peak, post-prime), but with a notable concentration around 30–34%</a:t>
                      </a:r>
                      <a:endParaRPr lang="en-US" sz="1200" dirty="0">
                        <a:solidFill>
                          <a:sysClr val="windowText" lastClr="000000"/>
                        </a:solidFill>
                      </a:endParaRPr>
                    </a:p>
                  </a:txBody>
                  <a:tcPr>
                    <a:lnL w="12700" cmpd="sng">
                      <a:noFill/>
                    </a:lnL>
                    <a:lnR w="12700" cap="flat" cmpd="sng" algn="ctr">
                      <a:solidFill>
                        <a:srgbClr val="FF0000"/>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sz="1200" b="1" dirty="0">
                          <a:solidFill>
                            <a:schemeClr val="accent5"/>
                          </a:solidFill>
                        </a:rPr>
                        <a:t>LeBron James (Yellow Bars)</a:t>
                      </a:r>
                    </a:p>
                    <a:p>
                      <a:pPr>
                        <a:buFont typeface="Arial" panose="020B0604020202020204" pitchFamily="34" charset="0"/>
                        <a:buNone/>
                      </a:pPr>
                      <a:r>
                        <a:rPr lang="en-US" sz="1200" b="0" dirty="0">
                          <a:solidFill>
                            <a:sysClr val="windowText" lastClr="000000"/>
                          </a:solidFill>
                        </a:rPr>
                        <a:t>More centered around 30–33%, with fewer outliers at the high end. Suggests he shared the ball more compared to Jordan, reflecting his passing-heavy style.</a:t>
                      </a:r>
                      <a:endParaRPr lang="en-US" sz="1200" dirty="0">
                        <a:solidFill>
                          <a:sysClr val="windowText" lastClr="000000"/>
                        </a:solidFill>
                      </a:endParaRPr>
                    </a:p>
                  </a:txBody>
                  <a:tcP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sz="1200" b="1" dirty="0">
                          <a:solidFill>
                            <a:srgbClr val="C00000"/>
                          </a:solidFill>
                        </a:rPr>
                        <a:t>Michael Jordan (Red Bars)</a:t>
                      </a:r>
                    </a:p>
                    <a:p>
                      <a:pPr>
                        <a:buFont typeface="Arial" panose="020B0604020202020204" pitchFamily="34" charset="0"/>
                        <a:buNone/>
                      </a:pPr>
                      <a:r>
                        <a:rPr lang="en-US" sz="1200" b="0" dirty="0">
                          <a:solidFill>
                            <a:sysClr val="windowText" lastClr="000000"/>
                          </a:solidFill>
                        </a:rPr>
                        <a:t>USG% frequently ranges between 30–35%, with some seasons even near 38–39% (very high usage).This reflects his dominant offensive role in most of his career.</a:t>
                      </a:r>
                      <a:endParaRPr lang="en-US" sz="1200" dirty="0">
                        <a:solidFill>
                          <a:sysClr val="windowText" lastClr="000000"/>
                        </a:solidFill>
                      </a:endParaRPr>
                    </a:p>
                  </a:txBody>
                  <a:tcPr>
                    <a:lnL w="12700" cap="flat" cmpd="sng" algn="ctr">
                      <a:solidFill>
                        <a:srgbClr val="FF0000"/>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326698379"/>
                  </a:ext>
                </a:extLst>
              </a:tr>
            </a:tbl>
          </a:graphicData>
        </a:graphic>
      </p:graphicFrame>
    </p:spTree>
    <p:extLst>
      <p:ext uri="{BB962C8B-B14F-4D97-AF65-F5344CB8AC3E}">
        <p14:creationId xmlns:p14="http://schemas.microsoft.com/office/powerpoint/2010/main" val="40713077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78A1D6-4E32-45D4-A10B-5A423937EF25}"/>
              </a:ext>
            </a:extLst>
          </p:cNvPr>
          <p:cNvSpPr txBox="1">
            <a:spLocks/>
          </p:cNvSpPr>
          <p:nvPr/>
        </p:nvSpPr>
        <p:spPr>
          <a:xfrm>
            <a:off x="4242548" y="692203"/>
            <a:ext cx="7567031" cy="3494791"/>
          </a:xfrm>
          <a:prstGeom prst="rect">
            <a:avLst/>
          </a:prstGeom>
        </p:spPr>
        <p:txBody>
          <a:bodyPr>
            <a:normAutofit/>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a:t>TRUE SHOOTING PERCENTAGE (TS)</a:t>
            </a:r>
          </a:p>
          <a:p>
            <a:r>
              <a:rPr lang="en-US" sz="1400" cap="none" dirty="0">
                <a:latin typeface="+mn-lt"/>
              </a:rPr>
              <a:t>True shooting percentage (TS%) is an advanced shooting efficiency metric that accounts for field goals, 3-point field goals, and free throws. It provides a more complete measure of scoring efficiency than traditional field goal percentage.</a:t>
            </a:r>
          </a:p>
          <a:p>
            <a:endParaRPr lang="en-US" dirty="0"/>
          </a:p>
          <a:p>
            <a:endParaRPr lang="en-US" dirty="0"/>
          </a:p>
          <a:p>
            <a:r>
              <a:rPr lang="en-US" dirty="0"/>
              <a:t> </a:t>
            </a:r>
          </a:p>
        </p:txBody>
      </p:sp>
      <p:pic>
        <p:nvPicPr>
          <p:cNvPr id="4" name="Picture 3">
            <a:extLst>
              <a:ext uri="{FF2B5EF4-FFF2-40B4-BE49-F238E27FC236}">
                <a16:creationId xmlns:a16="http://schemas.microsoft.com/office/drawing/2014/main" id="{88DE2EA8-245F-4E04-8BD1-CF108E2C39CC}"/>
              </a:ext>
              <a:ext uri="{C183D7F6-B498-43B3-948B-1728B52AA6E4}">
                <adec:decorative xmlns:adec="http://schemas.microsoft.com/office/drawing/2017/decorative" val="1"/>
              </a:ext>
            </a:extLst>
          </p:cNvPr>
          <p:cNvPicPr>
            <a:picLocks noChangeAspect="1"/>
          </p:cNvPicPr>
          <p:nvPr/>
        </p:nvPicPr>
        <p:blipFill>
          <a:blip r:embed="rId3"/>
          <a:srcRect/>
          <a:stretch/>
        </p:blipFill>
        <p:spPr>
          <a:xfrm>
            <a:off x="382421" y="744077"/>
            <a:ext cx="3781419" cy="4438516"/>
          </a:xfrm>
          <a:prstGeom prst="rect">
            <a:avLst/>
          </a:prstGeom>
        </p:spPr>
      </p:pic>
      <p:pic>
        <p:nvPicPr>
          <p:cNvPr id="5" name="Picture 4">
            <a:extLst>
              <a:ext uri="{FF2B5EF4-FFF2-40B4-BE49-F238E27FC236}">
                <a16:creationId xmlns:a16="http://schemas.microsoft.com/office/drawing/2014/main" id="{5B492557-0A08-48D9-9AFB-7E5477E49707}"/>
              </a:ext>
            </a:extLst>
          </p:cNvPr>
          <p:cNvPicPr>
            <a:picLocks noChangeAspect="1"/>
          </p:cNvPicPr>
          <p:nvPr/>
        </p:nvPicPr>
        <p:blipFill>
          <a:blip r:embed="rId4"/>
          <a:stretch>
            <a:fillRect/>
          </a:stretch>
        </p:blipFill>
        <p:spPr>
          <a:xfrm>
            <a:off x="5181720" y="1905891"/>
            <a:ext cx="5692884" cy="3276702"/>
          </a:xfrm>
          <a:prstGeom prst="rect">
            <a:avLst/>
          </a:prstGeom>
        </p:spPr>
      </p:pic>
      <p:graphicFrame>
        <p:nvGraphicFramePr>
          <p:cNvPr id="20" name="Table 19">
            <a:extLst>
              <a:ext uri="{FF2B5EF4-FFF2-40B4-BE49-F238E27FC236}">
                <a16:creationId xmlns:a16="http://schemas.microsoft.com/office/drawing/2014/main" id="{85620A90-052A-4924-BAE4-9E1444029FAE}"/>
              </a:ext>
            </a:extLst>
          </p:cNvPr>
          <p:cNvGraphicFramePr>
            <a:graphicFrameLocks noGrp="1"/>
          </p:cNvGraphicFramePr>
          <p:nvPr>
            <p:extLst>
              <p:ext uri="{D42A27DB-BD31-4B8C-83A1-F6EECF244321}">
                <p14:modId xmlns:p14="http://schemas.microsoft.com/office/powerpoint/2010/main" val="1182397580"/>
              </p:ext>
            </p:extLst>
          </p:nvPr>
        </p:nvGraphicFramePr>
        <p:xfrm>
          <a:off x="382420" y="5438046"/>
          <a:ext cx="11427159" cy="1188720"/>
        </p:xfrm>
        <a:graphic>
          <a:graphicData uri="http://schemas.openxmlformats.org/drawingml/2006/table">
            <a:tbl>
              <a:tblPr firstRow="1" bandRow="1">
                <a:tableStyleId>{5C22544A-7EE6-4342-B048-85BDC9FD1C3A}</a:tableStyleId>
              </a:tblPr>
              <a:tblGrid>
                <a:gridCol w="3809053">
                  <a:extLst>
                    <a:ext uri="{9D8B030D-6E8A-4147-A177-3AD203B41FA5}">
                      <a16:colId xmlns:a16="http://schemas.microsoft.com/office/drawing/2014/main" val="994911127"/>
                    </a:ext>
                  </a:extLst>
                </a:gridCol>
                <a:gridCol w="3809053">
                  <a:extLst>
                    <a:ext uri="{9D8B030D-6E8A-4147-A177-3AD203B41FA5}">
                      <a16:colId xmlns:a16="http://schemas.microsoft.com/office/drawing/2014/main" val="1849510146"/>
                    </a:ext>
                  </a:extLst>
                </a:gridCol>
                <a:gridCol w="3809053">
                  <a:extLst>
                    <a:ext uri="{9D8B030D-6E8A-4147-A177-3AD203B41FA5}">
                      <a16:colId xmlns:a16="http://schemas.microsoft.com/office/drawing/2014/main" val="3772028547"/>
                    </a:ext>
                  </a:extLst>
                </a:gridCol>
              </a:tblGrid>
              <a:tr h="1044466">
                <a:tc>
                  <a:txBody>
                    <a:bodyPr/>
                    <a:lstStyle/>
                    <a:p>
                      <a:pPr algn="ctr"/>
                      <a:r>
                        <a:rPr lang="en-US" sz="1200" b="1" dirty="0">
                          <a:solidFill>
                            <a:srgbClr val="7030A0"/>
                          </a:solidFill>
                        </a:rPr>
                        <a:t>Kobe Bryant (Purple Curve)</a:t>
                      </a:r>
                    </a:p>
                    <a:p>
                      <a:pPr>
                        <a:buFont typeface="Arial" panose="020B0604020202020204" pitchFamily="34" charset="0"/>
                        <a:buNone/>
                      </a:pPr>
                      <a:r>
                        <a:rPr lang="en-US" sz="1200" b="0" dirty="0">
                          <a:solidFill>
                            <a:sysClr val="windowText" lastClr="000000"/>
                          </a:solidFill>
                        </a:rPr>
                        <a:t>TS% distribution is centered left of the average line, peaking around 0.54–0.56.Indicates he was less efficient as a scorer than both LeBron and Jordan. This matches broader analysis that Kobe was a high-volume scorer but not elite in efficiency.</a:t>
                      </a:r>
                      <a:endParaRPr lang="en-US" sz="1200" dirty="0">
                        <a:solidFill>
                          <a:sysClr val="windowText" lastClr="000000"/>
                        </a:solidFill>
                      </a:endParaRPr>
                    </a:p>
                  </a:txBody>
                  <a:tcPr>
                    <a:lnL w="12700" cmpd="sng">
                      <a:noFill/>
                    </a:lnL>
                    <a:lnR w="12700" cap="flat" cmpd="sng" algn="ctr">
                      <a:solidFill>
                        <a:srgbClr val="FF0000"/>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sz="1200" b="1" dirty="0">
                          <a:solidFill>
                            <a:schemeClr val="accent5"/>
                          </a:solidFill>
                        </a:rPr>
                        <a:t>LeBron James (Yellow Curve)</a:t>
                      </a:r>
                    </a:p>
                    <a:p>
                      <a:pPr>
                        <a:buFont typeface="Arial" panose="020B0604020202020204" pitchFamily="34" charset="0"/>
                        <a:buNone/>
                      </a:pPr>
                      <a:r>
                        <a:rPr lang="en-US" sz="1200" b="0" dirty="0">
                          <a:solidFill>
                            <a:sysClr val="windowText" lastClr="000000"/>
                          </a:solidFill>
                        </a:rPr>
                        <a:t>Distribution is right-shifted, peaking above the average TS%. He has the highest TS% overall of the three. Indicates very efficient scoring, likely due to shot selection, finishing ability, and free throw frequency..</a:t>
                      </a:r>
                    </a:p>
                    <a:p>
                      <a:endParaRPr lang="en-US" sz="1200" dirty="0">
                        <a:solidFill>
                          <a:sysClr val="windowText" lastClr="000000"/>
                        </a:solidFill>
                      </a:endParaRPr>
                    </a:p>
                  </a:txBody>
                  <a:tcP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sz="1200" b="1" dirty="0">
                          <a:solidFill>
                            <a:srgbClr val="C00000"/>
                          </a:solidFill>
                        </a:rPr>
                        <a:t>Michael Jordan (Red Curve)</a:t>
                      </a:r>
                    </a:p>
                    <a:p>
                      <a:pPr>
                        <a:buFont typeface="Arial" panose="020B0604020202020204" pitchFamily="34" charset="0"/>
                        <a:buNone/>
                      </a:pPr>
                      <a:r>
                        <a:rPr lang="en-US" sz="1200" b="0" dirty="0">
                          <a:solidFill>
                            <a:sysClr val="windowText" lastClr="000000"/>
                          </a:solidFill>
                        </a:rPr>
                        <a:t>His peak is around the average line, slightly to the right. Suggests above-average efficiency, especially impressive given his era and volume. More balanced TS% distribution compared to LeBron's skew toward higher efficiency.</a:t>
                      </a:r>
                      <a:endParaRPr lang="en-US" sz="1200" dirty="0">
                        <a:solidFill>
                          <a:sysClr val="windowText" lastClr="000000"/>
                        </a:solidFill>
                      </a:endParaRPr>
                    </a:p>
                  </a:txBody>
                  <a:tcPr>
                    <a:lnL w="12700" cap="flat" cmpd="sng" algn="ctr">
                      <a:solidFill>
                        <a:srgbClr val="FF0000"/>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326698379"/>
                  </a:ext>
                </a:extLst>
              </a:tr>
            </a:tbl>
          </a:graphicData>
        </a:graphic>
      </p:graphicFrame>
    </p:spTree>
    <p:extLst>
      <p:ext uri="{BB962C8B-B14F-4D97-AF65-F5344CB8AC3E}">
        <p14:creationId xmlns:p14="http://schemas.microsoft.com/office/powerpoint/2010/main" val="4785206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78A1D6-4E32-45D4-A10B-5A423937EF25}"/>
              </a:ext>
            </a:extLst>
          </p:cNvPr>
          <p:cNvSpPr txBox="1">
            <a:spLocks/>
          </p:cNvSpPr>
          <p:nvPr/>
        </p:nvSpPr>
        <p:spPr>
          <a:xfrm>
            <a:off x="404701" y="639097"/>
            <a:ext cx="4813072" cy="3494791"/>
          </a:xfrm>
          <a:prstGeom prst="rect">
            <a:avLst/>
          </a:prstGeom>
        </p:spPr>
        <p:txBody>
          <a:bodyPr>
            <a:normAutofit/>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a:t>WINS &amp; LOSSES </a:t>
            </a:r>
          </a:p>
        </p:txBody>
      </p:sp>
      <p:sp>
        <p:nvSpPr>
          <p:cNvPr id="3" name="Subtitle 2">
            <a:extLst>
              <a:ext uri="{FF2B5EF4-FFF2-40B4-BE49-F238E27FC236}">
                <a16:creationId xmlns:a16="http://schemas.microsoft.com/office/drawing/2014/main" id="{363A74D8-C12B-484D-9A7A-3D4C27E9624C}"/>
              </a:ext>
            </a:extLst>
          </p:cNvPr>
          <p:cNvSpPr txBox="1">
            <a:spLocks/>
          </p:cNvSpPr>
          <p:nvPr/>
        </p:nvSpPr>
        <p:spPr>
          <a:xfrm>
            <a:off x="404701" y="1209138"/>
            <a:ext cx="1918292" cy="3119581"/>
          </a:xfrm>
          <a:prstGeom prst="rect">
            <a:avLst/>
          </a:prstGeom>
        </p:spPr>
        <p:txBody>
          <a:bodyPr>
            <a:normAutofit fontScale="85000" lnSpcReduction="10000"/>
          </a:bodyPr>
          <a:lstStyle>
            <a:lvl1pPr marL="306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r>
              <a:rPr lang="en-US" dirty="0"/>
              <a:t>Each player's bar is divided into </a:t>
            </a:r>
            <a:r>
              <a:rPr lang="en-US" b="1" dirty="0"/>
              <a:t>two sections</a:t>
            </a:r>
            <a:r>
              <a:rPr lang="en-US" dirty="0"/>
              <a:t>:</a:t>
            </a:r>
          </a:p>
          <a:p>
            <a:pPr>
              <a:buFont typeface="Arial" panose="020B0604020202020204" pitchFamily="34" charset="0"/>
              <a:buChar char="•"/>
            </a:pPr>
            <a:r>
              <a:rPr lang="en-US" b="1" dirty="0"/>
              <a:t>Green (Wins)</a:t>
            </a:r>
            <a:r>
              <a:rPr lang="en-US" dirty="0"/>
              <a:t>: Percentage of games won</a:t>
            </a:r>
          </a:p>
          <a:p>
            <a:pPr>
              <a:buFont typeface="Arial" panose="020B0604020202020204" pitchFamily="34" charset="0"/>
              <a:buChar char="•"/>
            </a:pPr>
            <a:r>
              <a:rPr lang="en-US" b="1" dirty="0"/>
              <a:t>Red (Losses)</a:t>
            </a:r>
            <a:r>
              <a:rPr lang="en-US" dirty="0"/>
              <a:t>: Percentage of games lost</a:t>
            </a:r>
          </a:p>
          <a:p>
            <a:pPr>
              <a:buFont typeface="Arial" panose="020B0604020202020204" pitchFamily="34" charset="0"/>
              <a:buChar char="•"/>
            </a:pPr>
            <a:r>
              <a:rPr lang="en-US" b="1" dirty="0"/>
              <a:t>Numbers inside the bars</a:t>
            </a:r>
            <a:r>
              <a:rPr lang="en-US" dirty="0"/>
              <a:t> show exact percentages</a:t>
            </a:r>
          </a:p>
        </p:txBody>
      </p:sp>
      <p:pic>
        <p:nvPicPr>
          <p:cNvPr id="4" name="Picture 3">
            <a:extLst>
              <a:ext uri="{FF2B5EF4-FFF2-40B4-BE49-F238E27FC236}">
                <a16:creationId xmlns:a16="http://schemas.microsoft.com/office/drawing/2014/main" id="{88DE2EA8-245F-4E04-8BD1-CF108E2C39CC}"/>
              </a:ext>
              <a:ext uri="{C183D7F6-B498-43B3-948B-1728B52AA6E4}">
                <adec:decorative xmlns:adec="http://schemas.microsoft.com/office/drawing/2017/decorative" val="1"/>
              </a:ext>
            </a:extLst>
          </p:cNvPr>
          <p:cNvPicPr>
            <a:picLocks noChangeAspect="1"/>
          </p:cNvPicPr>
          <p:nvPr/>
        </p:nvPicPr>
        <p:blipFill>
          <a:blip r:embed="rId3">
            <a:alphaModFix amt="85000"/>
          </a:blip>
          <a:srcRect/>
          <a:stretch/>
        </p:blipFill>
        <p:spPr>
          <a:xfrm>
            <a:off x="7267621" y="0"/>
            <a:ext cx="4924379" cy="6858000"/>
          </a:xfrm>
          <a:prstGeom prst="rect">
            <a:avLst/>
          </a:prstGeom>
        </p:spPr>
      </p:pic>
      <p:sp>
        <p:nvSpPr>
          <p:cNvPr id="6" name="Rectangle 5">
            <a:extLst>
              <a:ext uri="{FF2B5EF4-FFF2-40B4-BE49-F238E27FC236}">
                <a16:creationId xmlns:a16="http://schemas.microsoft.com/office/drawing/2014/main" id="{A48912BC-FA70-4390-B3CD-9FB175BD4B8F}"/>
              </a:ext>
            </a:extLst>
          </p:cNvPr>
          <p:cNvSpPr/>
          <p:nvPr/>
        </p:nvSpPr>
        <p:spPr>
          <a:xfrm>
            <a:off x="2886037" y="1718208"/>
            <a:ext cx="6551981" cy="342158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Picture 4">
            <a:extLst>
              <a:ext uri="{FF2B5EF4-FFF2-40B4-BE49-F238E27FC236}">
                <a16:creationId xmlns:a16="http://schemas.microsoft.com/office/drawing/2014/main" id="{0E6BF0F4-4064-40C2-ACDE-6EC42BCE15E1}"/>
              </a:ext>
            </a:extLst>
          </p:cNvPr>
          <p:cNvPicPr>
            <a:picLocks noChangeAspect="1"/>
          </p:cNvPicPr>
          <p:nvPr/>
        </p:nvPicPr>
        <p:blipFill>
          <a:blip r:embed="rId4">
            <a:alphaModFix/>
          </a:blip>
          <a:stretch>
            <a:fillRect/>
          </a:stretch>
        </p:blipFill>
        <p:spPr>
          <a:xfrm>
            <a:off x="3180938" y="1829924"/>
            <a:ext cx="5830124" cy="3253040"/>
          </a:xfrm>
          <a:prstGeom prst="rect">
            <a:avLst/>
          </a:prstGeom>
        </p:spPr>
      </p:pic>
      <p:graphicFrame>
        <p:nvGraphicFramePr>
          <p:cNvPr id="10" name="Table 19">
            <a:extLst>
              <a:ext uri="{FF2B5EF4-FFF2-40B4-BE49-F238E27FC236}">
                <a16:creationId xmlns:a16="http://schemas.microsoft.com/office/drawing/2014/main" id="{ABED46A2-AF8D-4D07-8B26-CC1BF120AB62}"/>
              </a:ext>
            </a:extLst>
          </p:cNvPr>
          <p:cNvGraphicFramePr>
            <a:graphicFrameLocks noGrp="1"/>
          </p:cNvGraphicFramePr>
          <p:nvPr>
            <p:extLst>
              <p:ext uri="{D42A27DB-BD31-4B8C-83A1-F6EECF244321}">
                <p14:modId xmlns:p14="http://schemas.microsoft.com/office/powerpoint/2010/main" val="2209998593"/>
              </p:ext>
            </p:extLst>
          </p:nvPr>
        </p:nvGraphicFramePr>
        <p:xfrm>
          <a:off x="226742" y="5275137"/>
          <a:ext cx="7040880" cy="1371600"/>
        </p:xfrm>
        <a:graphic>
          <a:graphicData uri="http://schemas.openxmlformats.org/drawingml/2006/table">
            <a:tbl>
              <a:tblPr firstRow="1" bandRow="1">
                <a:tableStyleId>{5C22544A-7EE6-4342-B048-85BDC9FD1C3A}</a:tableStyleId>
              </a:tblPr>
              <a:tblGrid>
                <a:gridCol w="2346960">
                  <a:extLst>
                    <a:ext uri="{9D8B030D-6E8A-4147-A177-3AD203B41FA5}">
                      <a16:colId xmlns:a16="http://schemas.microsoft.com/office/drawing/2014/main" val="994911127"/>
                    </a:ext>
                  </a:extLst>
                </a:gridCol>
                <a:gridCol w="2346960">
                  <a:extLst>
                    <a:ext uri="{9D8B030D-6E8A-4147-A177-3AD203B41FA5}">
                      <a16:colId xmlns:a16="http://schemas.microsoft.com/office/drawing/2014/main" val="1849510146"/>
                    </a:ext>
                  </a:extLst>
                </a:gridCol>
                <a:gridCol w="2346960">
                  <a:extLst>
                    <a:ext uri="{9D8B030D-6E8A-4147-A177-3AD203B41FA5}">
                      <a16:colId xmlns:a16="http://schemas.microsoft.com/office/drawing/2014/main" val="3772028547"/>
                    </a:ext>
                  </a:extLst>
                </a:gridCol>
              </a:tblGrid>
              <a:tr h="1338453">
                <a:tc>
                  <a:txBody>
                    <a:bodyPr/>
                    <a:lstStyle/>
                    <a:p>
                      <a:pPr algn="ctr"/>
                      <a:r>
                        <a:rPr lang="en-US" sz="1200" b="1" dirty="0">
                          <a:solidFill>
                            <a:srgbClr val="7030A0"/>
                          </a:solidFill>
                        </a:rPr>
                        <a:t>Kobe Bryant </a:t>
                      </a:r>
                    </a:p>
                    <a:p>
                      <a:pPr algn="l">
                        <a:buFont typeface="Arial" panose="020B0604020202020204" pitchFamily="34" charset="0"/>
                        <a:buNone/>
                      </a:pPr>
                      <a:r>
                        <a:rPr lang="en-US" sz="1200" b="0" dirty="0">
                          <a:solidFill>
                            <a:sysClr val="windowText" lastClr="000000"/>
                          </a:solidFill>
                        </a:rPr>
                        <a:t>This is the lowest win percentage of the three players. Reflects a long career with some rebuilding seasons and late-career struggles (post-Shaq era, injuries).</a:t>
                      </a:r>
                      <a:endParaRPr lang="en-US" sz="1200" dirty="0">
                        <a:solidFill>
                          <a:sysClr val="windowText" lastClr="000000"/>
                        </a:solidFill>
                      </a:endParaRPr>
                    </a:p>
                  </a:txBody>
                  <a:tcPr>
                    <a:lnL w="12700" cmpd="sng">
                      <a:noFill/>
                    </a:lnL>
                    <a:lnR w="12700" cap="flat" cmpd="sng" algn="ctr">
                      <a:solidFill>
                        <a:srgbClr val="FF0000"/>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sz="1200" b="1" dirty="0">
                          <a:solidFill>
                            <a:schemeClr val="accent5"/>
                          </a:solidFill>
                        </a:rPr>
                        <a:t>LeBron James </a:t>
                      </a:r>
                    </a:p>
                    <a:p>
                      <a:pPr algn="l"/>
                      <a:r>
                        <a:rPr lang="en-US" sz="1200" b="0" dirty="0">
                          <a:solidFill>
                            <a:sysClr val="windowText" lastClr="000000"/>
                          </a:solidFill>
                        </a:rPr>
                        <a:t>Very high win percentage, slightly below Jordan. Reflects long-term consistency and success, especially during his Miami and Cleveland years.</a:t>
                      </a:r>
                    </a:p>
                  </a:txBody>
                  <a:tcP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sz="1200" b="1" dirty="0">
                          <a:solidFill>
                            <a:srgbClr val="C00000"/>
                          </a:solidFill>
                        </a:rPr>
                        <a:t>Michael Jordan </a:t>
                      </a:r>
                    </a:p>
                    <a:p>
                      <a:pPr algn="l"/>
                      <a:r>
                        <a:rPr lang="en-US" sz="1200" b="0" dirty="0">
                          <a:solidFill>
                            <a:sysClr val="windowText" lastClr="000000"/>
                          </a:solidFill>
                        </a:rPr>
                        <a:t>The highest win percentage of the three, though just barely above LeBron. Jordan played fewer total games than the other two and had most of his career during the Bulls’ dynasty years.</a:t>
                      </a:r>
                    </a:p>
                  </a:txBody>
                  <a:tcPr>
                    <a:lnL w="12700" cap="flat" cmpd="sng" algn="ctr">
                      <a:solidFill>
                        <a:srgbClr val="FF0000"/>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326698379"/>
                  </a:ext>
                </a:extLst>
              </a:tr>
            </a:tbl>
          </a:graphicData>
        </a:graphic>
      </p:graphicFrame>
    </p:spTree>
    <p:extLst>
      <p:ext uri="{BB962C8B-B14F-4D97-AF65-F5344CB8AC3E}">
        <p14:creationId xmlns:p14="http://schemas.microsoft.com/office/powerpoint/2010/main" val="33373018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78A1D6-4E32-45D4-A10B-5A423937EF25}"/>
              </a:ext>
            </a:extLst>
          </p:cNvPr>
          <p:cNvSpPr txBox="1">
            <a:spLocks/>
          </p:cNvSpPr>
          <p:nvPr/>
        </p:nvSpPr>
        <p:spPr>
          <a:xfrm>
            <a:off x="320811" y="840433"/>
            <a:ext cx="4813072" cy="506229"/>
          </a:xfrm>
          <a:prstGeom prst="rect">
            <a:avLst/>
          </a:prstGeom>
        </p:spPr>
        <p:txBody>
          <a:bodyPr>
            <a:normAutofit lnSpcReduction="10000"/>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a:t>OVERALL ANALYSIS</a:t>
            </a:r>
          </a:p>
        </p:txBody>
      </p:sp>
      <p:pic>
        <p:nvPicPr>
          <p:cNvPr id="4" name="Picture 3">
            <a:extLst>
              <a:ext uri="{FF2B5EF4-FFF2-40B4-BE49-F238E27FC236}">
                <a16:creationId xmlns:a16="http://schemas.microsoft.com/office/drawing/2014/main" id="{88DE2EA8-245F-4E04-8BD1-CF108E2C39CC}"/>
              </a:ext>
              <a:ext uri="{C183D7F6-B498-43B3-948B-1728B52AA6E4}">
                <adec:decorative xmlns:adec="http://schemas.microsoft.com/office/drawing/2017/decorative" val="1"/>
              </a:ext>
            </a:extLst>
          </p:cNvPr>
          <p:cNvPicPr>
            <a:picLocks noChangeAspect="1"/>
          </p:cNvPicPr>
          <p:nvPr/>
        </p:nvPicPr>
        <p:blipFill>
          <a:blip r:embed="rId3"/>
          <a:srcRect/>
          <a:stretch/>
        </p:blipFill>
        <p:spPr>
          <a:xfrm>
            <a:off x="7392289" y="357447"/>
            <a:ext cx="4741275" cy="5968538"/>
          </a:xfrm>
          <a:prstGeom prst="rect">
            <a:avLst/>
          </a:prstGeom>
        </p:spPr>
      </p:pic>
      <p:pic>
        <p:nvPicPr>
          <p:cNvPr id="11" name="Graphic 10" descr="Stars with solid fill">
            <a:extLst>
              <a:ext uri="{FF2B5EF4-FFF2-40B4-BE49-F238E27FC236}">
                <a16:creationId xmlns:a16="http://schemas.microsoft.com/office/drawing/2014/main" id="{AEB319C3-CAE2-4DE8-9870-E5E4C29F1B66}"/>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387137" y="528557"/>
            <a:ext cx="719400" cy="719400"/>
          </a:xfrm>
          <a:prstGeom prst="rect">
            <a:avLst/>
          </a:prstGeom>
        </p:spPr>
      </p:pic>
      <p:sp>
        <p:nvSpPr>
          <p:cNvPr id="17" name="TextBox 16">
            <a:extLst>
              <a:ext uri="{FF2B5EF4-FFF2-40B4-BE49-F238E27FC236}">
                <a16:creationId xmlns:a16="http://schemas.microsoft.com/office/drawing/2014/main" id="{3F2EEDE6-5472-47DA-BC23-15E59F03D533}"/>
              </a:ext>
            </a:extLst>
          </p:cNvPr>
          <p:cNvSpPr txBox="1"/>
          <p:nvPr/>
        </p:nvSpPr>
        <p:spPr>
          <a:xfrm>
            <a:off x="320811" y="1247957"/>
            <a:ext cx="6467206" cy="954107"/>
          </a:xfrm>
          <a:prstGeom prst="rect">
            <a:avLst/>
          </a:prstGeom>
          <a:noFill/>
        </p:spPr>
        <p:txBody>
          <a:bodyPr wrap="square">
            <a:spAutoFit/>
          </a:bodyPr>
          <a:lstStyle/>
          <a:p>
            <a:r>
              <a:rPr lang="en-US" sz="1400" dirty="0"/>
              <a:t>To evaluate and compare the overall greatness of Michael Jordan, LeBron James, and Kobe Bryant, I considered both </a:t>
            </a:r>
            <a:r>
              <a:rPr lang="en-US" sz="1400" b="1" dirty="0"/>
              <a:t>individual performance</a:t>
            </a:r>
            <a:r>
              <a:rPr lang="en-US" sz="1400" dirty="0"/>
              <a:t> and </a:t>
            </a:r>
            <a:r>
              <a:rPr lang="en-US" sz="1400" b="1" dirty="0"/>
              <a:t>team contributions</a:t>
            </a:r>
            <a:r>
              <a:rPr lang="en-US" sz="1400" dirty="0"/>
              <a:t> using the metrics categorized for player impact [PTS, AST, TRB, BLK, STL, TOV, FG. PER], and team impact [WS, USG, TS, W/L].</a:t>
            </a:r>
          </a:p>
        </p:txBody>
      </p:sp>
      <p:graphicFrame>
        <p:nvGraphicFramePr>
          <p:cNvPr id="18" name="Table 19">
            <a:extLst>
              <a:ext uri="{FF2B5EF4-FFF2-40B4-BE49-F238E27FC236}">
                <a16:creationId xmlns:a16="http://schemas.microsoft.com/office/drawing/2014/main" id="{EB53FB4C-B9B5-4B24-A63F-9E79E8EEB7F6}"/>
              </a:ext>
            </a:extLst>
          </p:cNvPr>
          <p:cNvGraphicFramePr>
            <a:graphicFrameLocks noGrp="1"/>
          </p:cNvGraphicFramePr>
          <p:nvPr>
            <p:extLst>
              <p:ext uri="{D42A27DB-BD31-4B8C-83A1-F6EECF244321}">
                <p14:modId xmlns:p14="http://schemas.microsoft.com/office/powerpoint/2010/main" val="641979747"/>
              </p:ext>
            </p:extLst>
          </p:nvPr>
        </p:nvGraphicFramePr>
        <p:xfrm>
          <a:off x="176891" y="2539876"/>
          <a:ext cx="7215398" cy="3413760"/>
        </p:xfrm>
        <a:graphic>
          <a:graphicData uri="http://schemas.openxmlformats.org/drawingml/2006/table">
            <a:tbl>
              <a:tblPr firstRow="1" bandRow="1">
                <a:tableStyleId>{5C22544A-7EE6-4342-B048-85BDC9FD1C3A}</a:tableStyleId>
              </a:tblPr>
              <a:tblGrid>
                <a:gridCol w="2539629">
                  <a:extLst>
                    <a:ext uri="{9D8B030D-6E8A-4147-A177-3AD203B41FA5}">
                      <a16:colId xmlns:a16="http://schemas.microsoft.com/office/drawing/2014/main" val="994911127"/>
                    </a:ext>
                  </a:extLst>
                </a:gridCol>
                <a:gridCol w="2406928">
                  <a:extLst>
                    <a:ext uri="{9D8B030D-6E8A-4147-A177-3AD203B41FA5}">
                      <a16:colId xmlns:a16="http://schemas.microsoft.com/office/drawing/2014/main" val="1849510146"/>
                    </a:ext>
                  </a:extLst>
                </a:gridCol>
                <a:gridCol w="2268841">
                  <a:extLst>
                    <a:ext uri="{9D8B030D-6E8A-4147-A177-3AD203B41FA5}">
                      <a16:colId xmlns:a16="http://schemas.microsoft.com/office/drawing/2014/main" val="3772028547"/>
                    </a:ext>
                  </a:extLst>
                </a:gridCol>
              </a:tblGrid>
              <a:tr h="2862567">
                <a:tc>
                  <a:txBody>
                    <a:bodyPr/>
                    <a:lstStyle/>
                    <a:p>
                      <a:pPr algn="ctr"/>
                      <a:r>
                        <a:rPr lang="en-US" sz="1400" b="1" dirty="0">
                          <a:solidFill>
                            <a:srgbClr val="7030A0"/>
                          </a:solidFill>
                        </a:rPr>
                        <a:t>Kobe Bryant </a:t>
                      </a:r>
                    </a:p>
                    <a:p>
                      <a:pPr algn="ctr"/>
                      <a:r>
                        <a:rPr lang="en-US" sz="1200" b="0" dirty="0">
                          <a:solidFill>
                            <a:srgbClr val="7030A0"/>
                          </a:solidFill>
                        </a:rPr>
                        <a:t>The Fearless Competitor </a:t>
                      </a:r>
                    </a:p>
                    <a:p>
                      <a:pPr algn="ctr"/>
                      <a:endParaRPr lang="en-US" sz="1200" b="1" dirty="0">
                        <a:solidFill>
                          <a:sysClr val="windowText" lastClr="000000"/>
                        </a:solidFill>
                      </a:endParaRPr>
                    </a:p>
                    <a:p>
                      <a:pPr algn="ctr"/>
                      <a:r>
                        <a:rPr lang="en-US" sz="1200" b="1" dirty="0">
                          <a:solidFill>
                            <a:sysClr val="windowText" lastClr="000000"/>
                          </a:solidFill>
                        </a:rPr>
                        <a:t>Usage Rate: </a:t>
                      </a:r>
                      <a:r>
                        <a:rPr lang="en-US" sz="1200" b="0" dirty="0">
                          <a:solidFill>
                            <a:sysClr val="windowText" lastClr="000000"/>
                          </a:solidFill>
                        </a:rPr>
                        <a:t>Very high with a wide spread, indicating phases of carrying teams alone. </a:t>
                      </a:r>
                    </a:p>
                    <a:p>
                      <a:pPr algn="ctr"/>
                      <a:endParaRPr lang="en-US" sz="1200" b="0" dirty="0">
                        <a:solidFill>
                          <a:sysClr val="windowText" lastClr="000000"/>
                        </a:solidFill>
                      </a:endParaRPr>
                    </a:p>
                    <a:p>
                      <a:pPr algn="ctr"/>
                      <a:r>
                        <a:rPr lang="en-US" sz="1200" b="1" dirty="0">
                          <a:solidFill>
                            <a:sysClr val="windowText" lastClr="000000"/>
                          </a:solidFill>
                        </a:rPr>
                        <a:t>True Shooting %: </a:t>
                      </a:r>
                      <a:r>
                        <a:rPr lang="en-US" sz="1200" b="0" dirty="0">
                          <a:solidFill>
                            <a:sysClr val="windowText" lastClr="000000"/>
                          </a:solidFill>
                        </a:rPr>
                        <a:t>Lowest among the three, suggesting volume over efficiency. </a:t>
                      </a:r>
                    </a:p>
                    <a:p>
                      <a:pPr algn="ctr"/>
                      <a:endParaRPr lang="en-US" sz="1200" b="0" dirty="0">
                        <a:solidFill>
                          <a:sysClr val="windowText" lastClr="000000"/>
                        </a:solidFill>
                      </a:endParaRPr>
                    </a:p>
                    <a:p>
                      <a:pPr algn="ctr"/>
                      <a:r>
                        <a:rPr lang="en-US" sz="1200" b="1" dirty="0">
                          <a:solidFill>
                            <a:sysClr val="windowText" lastClr="000000"/>
                          </a:solidFill>
                        </a:rPr>
                        <a:t>Win Percentage: </a:t>
                      </a:r>
                      <a:r>
                        <a:rPr lang="en-US" sz="1200" b="0" dirty="0">
                          <a:solidFill>
                            <a:sysClr val="windowText" lastClr="000000"/>
                          </a:solidFill>
                        </a:rPr>
                        <a:t>Strong (62%), but slightly behind due to rebuilding years and tough late-career stretches.</a:t>
                      </a:r>
                    </a:p>
                    <a:p>
                      <a:pPr algn="ctr"/>
                      <a:endParaRPr lang="en-US" sz="1200" b="0" dirty="0">
                        <a:solidFill>
                          <a:sysClr val="windowText" lastClr="000000"/>
                        </a:solidFill>
                      </a:endParaRPr>
                    </a:p>
                    <a:p>
                      <a:pPr marL="0" marR="0" lvl="0" indent="0" algn="ctr" defTabSz="457200" rtl="0" eaLnBrk="1" fontAlgn="auto" latinLnBrk="0" hangingPunct="1">
                        <a:lnSpc>
                          <a:spcPct val="100000"/>
                        </a:lnSpc>
                        <a:spcBef>
                          <a:spcPts val="0"/>
                        </a:spcBef>
                        <a:spcAft>
                          <a:spcPts val="0"/>
                        </a:spcAft>
                        <a:buClrTx/>
                        <a:buSzTx/>
                        <a:buFontTx/>
                        <a:buNone/>
                        <a:tabLst/>
                        <a:defRPr/>
                      </a:pPr>
                      <a:r>
                        <a:rPr lang="en-US" sz="1200" b="0" dirty="0">
                          <a:solidFill>
                            <a:srgbClr val="7030A0"/>
                          </a:solidFill>
                        </a:rPr>
                        <a:t>5: NBA Championships</a:t>
                      </a:r>
                    </a:p>
                    <a:p>
                      <a:pPr algn="ctr"/>
                      <a:endParaRPr lang="en-US" sz="1200" b="0" dirty="0">
                        <a:solidFill>
                          <a:sysClr val="windowText" lastClr="000000"/>
                        </a:solidFill>
                      </a:endParaRPr>
                    </a:p>
                  </a:txBody>
                  <a:tcPr>
                    <a:lnL w="12700" cmpd="sng">
                      <a:noFill/>
                    </a:lnL>
                    <a:lnR w="12700" cap="flat" cmpd="sng" algn="ctr">
                      <a:solidFill>
                        <a:srgbClr val="FF0000"/>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sz="1400" b="1" dirty="0">
                          <a:solidFill>
                            <a:schemeClr val="accent5"/>
                          </a:solidFill>
                        </a:rPr>
                        <a:t>LeBron James </a:t>
                      </a:r>
                    </a:p>
                    <a:p>
                      <a:pPr algn="ctr"/>
                      <a:r>
                        <a:rPr lang="en-US" sz="1200" b="0" dirty="0">
                          <a:solidFill>
                            <a:schemeClr val="accent5"/>
                          </a:solidFill>
                        </a:rPr>
                        <a:t>The Complete All-Around Force</a:t>
                      </a:r>
                    </a:p>
                    <a:p>
                      <a:pPr algn="ctr"/>
                      <a:endParaRPr lang="en-US" sz="1200" b="1" dirty="0">
                        <a:solidFill>
                          <a:sysClr val="windowText" lastClr="000000"/>
                        </a:solidFill>
                      </a:endParaRPr>
                    </a:p>
                    <a:p>
                      <a:pPr algn="ctr"/>
                      <a:r>
                        <a:rPr lang="en-US" sz="1200" b="1" dirty="0">
                          <a:solidFill>
                            <a:sysClr val="windowText" lastClr="000000"/>
                          </a:solidFill>
                        </a:rPr>
                        <a:t> Usage Rate: </a:t>
                      </a:r>
                      <a:r>
                        <a:rPr lang="en-US" sz="1200" b="0" dirty="0">
                          <a:solidFill>
                            <a:sysClr val="windowText" lastClr="000000"/>
                          </a:solidFill>
                        </a:rPr>
                        <a:t>High, but more balanced, showing his role as both scorer and facilitator. </a:t>
                      </a:r>
                    </a:p>
                    <a:p>
                      <a:pPr algn="ctr"/>
                      <a:endParaRPr lang="en-US" sz="1200" b="0" dirty="0">
                        <a:solidFill>
                          <a:sysClr val="windowText" lastClr="000000"/>
                        </a:solidFill>
                      </a:endParaRPr>
                    </a:p>
                    <a:p>
                      <a:pPr algn="ctr"/>
                      <a:r>
                        <a:rPr lang="en-US" sz="1200" b="1" dirty="0">
                          <a:solidFill>
                            <a:sysClr val="windowText" lastClr="000000"/>
                          </a:solidFill>
                        </a:rPr>
                        <a:t>True Shooting %: </a:t>
                      </a:r>
                      <a:r>
                        <a:rPr lang="en-US" sz="1200" b="0" dirty="0">
                          <a:solidFill>
                            <a:sysClr val="windowText" lastClr="000000"/>
                          </a:solidFill>
                        </a:rPr>
                        <a:t>Best among the three, demonstrating elite scoring efficiency. </a:t>
                      </a:r>
                    </a:p>
                    <a:p>
                      <a:pPr algn="ctr"/>
                      <a:endParaRPr lang="en-US" sz="1200" b="0" dirty="0">
                        <a:solidFill>
                          <a:sysClr val="windowText" lastClr="000000"/>
                        </a:solidFill>
                      </a:endParaRPr>
                    </a:p>
                    <a:p>
                      <a:pPr algn="ctr"/>
                      <a:r>
                        <a:rPr lang="en-US" sz="1200" b="1" dirty="0">
                          <a:solidFill>
                            <a:sysClr val="windowText" lastClr="000000"/>
                          </a:solidFill>
                        </a:rPr>
                        <a:t>Win Percentage: </a:t>
                      </a:r>
                      <a:r>
                        <a:rPr lang="en-US" sz="1200" b="0" dirty="0">
                          <a:solidFill>
                            <a:sysClr val="windowText" lastClr="000000"/>
                          </a:solidFill>
                        </a:rPr>
                        <a:t>Nearly identical to Jordan’s (65.8%), showing sustained success across multiple franchises.</a:t>
                      </a:r>
                    </a:p>
                    <a:p>
                      <a:pPr algn="ctr"/>
                      <a:endParaRPr lang="en-US" sz="1200" b="0" dirty="0">
                        <a:solidFill>
                          <a:sysClr val="windowText" lastClr="000000"/>
                        </a:solidFill>
                      </a:endParaRPr>
                    </a:p>
                    <a:p>
                      <a:pPr marL="0" marR="0" lvl="0" indent="0" algn="ctr" defTabSz="457200" rtl="0" eaLnBrk="1" fontAlgn="auto" latinLnBrk="0" hangingPunct="1">
                        <a:lnSpc>
                          <a:spcPct val="100000"/>
                        </a:lnSpc>
                        <a:spcBef>
                          <a:spcPts val="0"/>
                        </a:spcBef>
                        <a:spcAft>
                          <a:spcPts val="0"/>
                        </a:spcAft>
                        <a:buClrTx/>
                        <a:buSzTx/>
                        <a:buFontTx/>
                        <a:buNone/>
                        <a:tabLst/>
                        <a:defRPr/>
                      </a:pPr>
                      <a:r>
                        <a:rPr lang="en-US" sz="1200" b="0" dirty="0">
                          <a:solidFill>
                            <a:schemeClr val="accent5"/>
                          </a:solidFill>
                        </a:rPr>
                        <a:t>4: NBA Championships</a:t>
                      </a:r>
                    </a:p>
                    <a:p>
                      <a:pPr algn="ctr"/>
                      <a:endParaRPr lang="en-US" sz="1200" b="0" dirty="0">
                        <a:solidFill>
                          <a:sysClr val="windowText" lastClr="000000"/>
                        </a:solidFill>
                      </a:endParaRPr>
                    </a:p>
                  </a:txBody>
                  <a:tcP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sz="1400" b="1" dirty="0">
                          <a:solidFill>
                            <a:srgbClr val="C00000"/>
                          </a:solidFill>
                        </a:rPr>
                        <a:t>Michael Jordan</a:t>
                      </a:r>
                    </a:p>
                    <a:p>
                      <a:pPr algn="ctr">
                        <a:buFont typeface="Arial" panose="020B0604020202020204" pitchFamily="34" charset="0"/>
                        <a:buNone/>
                      </a:pPr>
                      <a:r>
                        <a:rPr lang="en-US" sz="1200" b="0" dirty="0">
                          <a:solidFill>
                            <a:srgbClr val="C00000"/>
                          </a:solidFill>
                        </a:rPr>
                        <a:t>The Relentless Scorer </a:t>
                      </a:r>
                      <a:r>
                        <a:rPr lang="en-US" sz="1200" b="0" dirty="0">
                          <a:solidFill>
                            <a:schemeClr val="accent6"/>
                          </a:solidFill>
                        </a:rPr>
                        <a:t>Winner </a:t>
                      </a:r>
                    </a:p>
                    <a:p>
                      <a:pPr algn="ctr">
                        <a:buFont typeface="Arial" panose="020B0604020202020204" pitchFamily="34" charset="0"/>
                        <a:buNone/>
                      </a:pPr>
                      <a:endParaRPr lang="en-US" sz="1200" b="1" dirty="0">
                        <a:solidFill>
                          <a:sysClr val="windowText" lastClr="000000"/>
                        </a:solidFill>
                      </a:endParaRPr>
                    </a:p>
                    <a:p>
                      <a:pPr algn="ctr">
                        <a:buFont typeface="Arial" panose="020B0604020202020204" pitchFamily="34" charset="0"/>
                        <a:buNone/>
                      </a:pPr>
                      <a:r>
                        <a:rPr lang="en-US" sz="1200" b="1" dirty="0">
                          <a:solidFill>
                            <a:sysClr val="windowText" lastClr="000000"/>
                          </a:solidFill>
                        </a:rPr>
                        <a:t>Winner Usage Rate (USG%): </a:t>
                      </a:r>
                      <a:r>
                        <a:rPr lang="en-US" sz="1200" b="0" dirty="0">
                          <a:solidFill>
                            <a:sysClr val="windowText" lastClr="000000"/>
                          </a:solidFill>
                        </a:rPr>
                        <a:t>Consistently high, reflecting his dominant offensive role.</a:t>
                      </a:r>
                    </a:p>
                    <a:p>
                      <a:pPr algn="ctr">
                        <a:buFont typeface="Arial" panose="020B0604020202020204" pitchFamily="34" charset="0"/>
                        <a:buNone/>
                      </a:pPr>
                      <a:r>
                        <a:rPr lang="en-US" sz="1200" b="0" dirty="0">
                          <a:solidFill>
                            <a:sysClr val="windowText" lastClr="000000"/>
                          </a:solidFill>
                        </a:rPr>
                        <a:t> </a:t>
                      </a:r>
                    </a:p>
                    <a:p>
                      <a:pPr algn="ctr">
                        <a:buFont typeface="Arial" panose="020B0604020202020204" pitchFamily="34" charset="0"/>
                        <a:buNone/>
                      </a:pPr>
                      <a:r>
                        <a:rPr lang="en-US" sz="1200" b="1" dirty="0">
                          <a:solidFill>
                            <a:sysClr val="windowText" lastClr="000000"/>
                          </a:solidFill>
                        </a:rPr>
                        <a:t>True Shooting % (TS%): </a:t>
                      </a:r>
                      <a:r>
                        <a:rPr lang="en-US" sz="1200" b="0" dirty="0">
                          <a:solidFill>
                            <a:sysClr val="windowText" lastClr="000000"/>
                          </a:solidFill>
                        </a:rPr>
                        <a:t>Above average, especially impressive given his volume and era. </a:t>
                      </a:r>
                    </a:p>
                    <a:p>
                      <a:pPr algn="ctr">
                        <a:buFont typeface="Arial" panose="020B0604020202020204" pitchFamily="34" charset="0"/>
                        <a:buNone/>
                      </a:pPr>
                      <a:endParaRPr lang="en-US" sz="1200" b="0" dirty="0">
                        <a:solidFill>
                          <a:sysClr val="windowText" lastClr="000000"/>
                        </a:solidFill>
                      </a:endParaRPr>
                    </a:p>
                    <a:p>
                      <a:pPr algn="ctr">
                        <a:buFont typeface="Arial" panose="020B0604020202020204" pitchFamily="34" charset="0"/>
                        <a:buNone/>
                      </a:pPr>
                      <a:r>
                        <a:rPr lang="en-US" sz="1200" b="1" dirty="0">
                          <a:solidFill>
                            <a:sysClr val="windowText" lastClr="000000"/>
                          </a:solidFill>
                        </a:rPr>
                        <a:t>Win Percentage</a:t>
                      </a:r>
                      <a:r>
                        <a:rPr lang="en-US" sz="1200" b="0" dirty="0">
                          <a:solidFill>
                            <a:sysClr val="windowText" lastClr="000000"/>
                          </a:solidFill>
                        </a:rPr>
                        <a:t>: Highest at 65.9%, with sustained team success during peak years.</a:t>
                      </a:r>
                    </a:p>
                    <a:p>
                      <a:pPr algn="ctr">
                        <a:buFont typeface="Arial" panose="020B0604020202020204" pitchFamily="34" charset="0"/>
                        <a:buNone/>
                      </a:pPr>
                      <a:endParaRPr lang="en-US" sz="1200" b="1" dirty="0">
                        <a:solidFill>
                          <a:sysClr val="windowText" lastClr="000000"/>
                        </a:solidFill>
                      </a:endParaRPr>
                    </a:p>
                    <a:p>
                      <a:pPr algn="ctr">
                        <a:buFont typeface="Arial" panose="020B0604020202020204" pitchFamily="34" charset="0"/>
                        <a:buNone/>
                      </a:pPr>
                      <a:endParaRPr lang="en-US" sz="1200" b="0" dirty="0">
                        <a:solidFill>
                          <a:schemeClr val="accent6"/>
                        </a:solidFill>
                      </a:endParaRPr>
                    </a:p>
                    <a:p>
                      <a:pPr algn="ctr">
                        <a:buFont typeface="Arial" panose="020B0604020202020204" pitchFamily="34" charset="0"/>
                        <a:buNone/>
                      </a:pPr>
                      <a:r>
                        <a:rPr lang="en-US" sz="1200" b="0" dirty="0">
                          <a:solidFill>
                            <a:schemeClr val="accent6"/>
                          </a:solidFill>
                        </a:rPr>
                        <a:t>6: NBA Championships</a:t>
                      </a:r>
                    </a:p>
                    <a:p>
                      <a:pPr algn="ctr"/>
                      <a:r>
                        <a:rPr lang="en-US" sz="1200" b="0" dirty="0">
                          <a:solidFill>
                            <a:sysClr val="windowText" lastClr="000000"/>
                          </a:solidFill>
                        </a:rPr>
                        <a:t>.</a:t>
                      </a:r>
                    </a:p>
                  </a:txBody>
                  <a:tcPr>
                    <a:lnL w="12700" cap="flat" cmpd="sng" algn="ctr">
                      <a:solidFill>
                        <a:srgbClr val="FF0000"/>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326698379"/>
                  </a:ext>
                </a:extLst>
              </a:tr>
            </a:tbl>
          </a:graphicData>
        </a:graphic>
      </p:graphicFrame>
    </p:spTree>
    <p:extLst>
      <p:ext uri="{BB962C8B-B14F-4D97-AF65-F5344CB8AC3E}">
        <p14:creationId xmlns:p14="http://schemas.microsoft.com/office/powerpoint/2010/main" val="14852388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78A1D6-4E32-45D4-A10B-5A423937EF25}"/>
              </a:ext>
            </a:extLst>
          </p:cNvPr>
          <p:cNvSpPr txBox="1">
            <a:spLocks/>
          </p:cNvSpPr>
          <p:nvPr/>
        </p:nvSpPr>
        <p:spPr>
          <a:xfrm>
            <a:off x="519185" y="1501638"/>
            <a:ext cx="6320983" cy="4425730"/>
          </a:xfrm>
          <a:prstGeom prst="rect">
            <a:avLst/>
          </a:prstGeom>
        </p:spPr>
        <p:txBody>
          <a:bodyPr>
            <a:normAutofit fontScale="70000" lnSpcReduction="20000"/>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11500" dirty="0">
                <a:solidFill>
                  <a:srgbClr val="C00000"/>
                </a:solidFill>
              </a:rPr>
              <a:t>G</a:t>
            </a:r>
            <a:r>
              <a:rPr lang="en-US" sz="5700" dirty="0"/>
              <a:t>(Greatest)</a:t>
            </a:r>
          </a:p>
          <a:p>
            <a:r>
              <a:rPr lang="en-US" sz="11500" dirty="0">
                <a:solidFill>
                  <a:srgbClr val="C00000"/>
                </a:solidFill>
              </a:rPr>
              <a:t>O</a:t>
            </a:r>
            <a:r>
              <a:rPr lang="en-US" sz="5700" dirty="0"/>
              <a:t>(of)</a:t>
            </a:r>
          </a:p>
          <a:p>
            <a:r>
              <a:rPr lang="en-US" sz="11500" dirty="0">
                <a:solidFill>
                  <a:srgbClr val="C00000"/>
                </a:solidFill>
              </a:rPr>
              <a:t>A</a:t>
            </a:r>
            <a:r>
              <a:rPr lang="en-US" sz="5200" dirty="0"/>
              <a:t>(all)</a:t>
            </a:r>
          </a:p>
          <a:p>
            <a:r>
              <a:rPr lang="en-US" sz="11500" dirty="0">
                <a:solidFill>
                  <a:srgbClr val="C00000"/>
                </a:solidFill>
              </a:rPr>
              <a:t>T</a:t>
            </a:r>
            <a:r>
              <a:rPr lang="en-US" sz="5700" dirty="0"/>
              <a:t>(time)  </a:t>
            </a:r>
          </a:p>
        </p:txBody>
      </p:sp>
      <p:pic>
        <p:nvPicPr>
          <p:cNvPr id="2054" name="Picture 6" descr="Kobe Bryant Lebron James And Michael Jordan Wallpapers - Wallpaper Cave">
            <a:extLst>
              <a:ext uri="{FF2B5EF4-FFF2-40B4-BE49-F238E27FC236}">
                <a16:creationId xmlns:a16="http://schemas.microsoft.com/office/drawing/2014/main" id="{C385C6C8-DBDE-4B62-A7F3-B438C5CAF20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7005" t="11404" r="5601"/>
          <a:stretch/>
        </p:blipFill>
        <p:spPr bwMode="auto">
          <a:xfrm>
            <a:off x="4135772" y="0"/>
            <a:ext cx="8056228" cy="6858000"/>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Image result for king james crown">
            <a:extLst>
              <a:ext uri="{FF2B5EF4-FFF2-40B4-BE49-F238E27FC236}">
                <a16:creationId xmlns:a16="http://schemas.microsoft.com/office/drawing/2014/main" id="{358D6D9F-4BAD-4175-B340-8A6C7E37B5C5}"/>
              </a:ext>
            </a:extLst>
          </p:cNvPr>
          <p:cNvPicPr>
            <a:picLocks noChangeAspect="1" noChangeArrowheads="1"/>
          </p:cNvPicPr>
          <p:nvPr/>
        </p:nvPicPr>
        <p:blipFill rotWithShape="1">
          <a:blip r:embed="rId4">
            <a:extLst>
              <a:ext uri="{BEBA8EAE-BF5A-486C-A8C5-ECC9F3942E4B}">
                <a14:imgProps xmlns:a14="http://schemas.microsoft.com/office/drawing/2010/main">
                  <a14:imgLayer r:embed="rId5">
                    <a14:imgEffect>
                      <a14:backgroundRemoval t="5000" b="96667" l="2658" r="96678">
                        <a14:foregroundMark x1="9302" y1="29444" x2="9302" y2="29444"/>
                        <a14:foregroundMark x1="32558" y1="16667" x2="32558" y2="16667"/>
                        <a14:foregroundMark x1="55814" y1="11111" x2="59801" y2="15000"/>
                        <a14:foregroundMark x1="96678" y1="20000" x2="93355" y2="33333"/>
                        <a14:foregroundMark x1="81728" y1="92778" x2="68106" y2="91667"/>
                        <a14:foregroundMark x1="22591" y1="97222" x2="41528" y2="95556"/>
                        <a14:foregroundMark x1="41528" y1="95556" x2="59136" y2="96111"/>
                        <a14:foregroundMark x1="59136" y1="96111" x2="60465" y2="96667"/>
                        <a14:foregroundMark x1="6312" y1="64444" x2="2658" y2="57778"/>
                        <a14:foregroundMark x1="33555" y1="12222" x2="33555" y2="9444"/>
                        <a14:foregroundMark x1="59468" y1="9444" x2="58140" y2="5000"/>
                      </a14:backgroundRemoval>
                    </a14:imgEffect>
                  </a14:imgLayer>
                </a14:imgProps>
              </a:ext>
              <a:ext uri="{28A0092B-C50C-407E-A947-70E740481C1C}">
                <a14:useLocalDpi xmlns:a14="http://schemas.microsoft.com/office/drawing/2010/main" val="0"/>
              </a:ext>
            </a:extLst>
          </a:blip>
          <a:srcRect l="-5503" r="-5503"/>
          <a:stretch/>
        </p:blipFill>
        <p:spPr bwMode="auto">
          <a:xfrm>
            <a:off x="7065150" y="1669181"/>
            <a:ext cx="1206900" cy="6501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37508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CB836B3D-905E-4058-BCDD-8C392801B04A}"/>
              </a:ext>
            </a:extLst>
          </p:cNvPr>
          <p:cNvPicPr>
            <a:picLocks noChangeAspect="1"/>
          </p:cNvPicPr>
          <p:nvPr/>
        </p:nvPicPr>
        <p:blipFill rotWithShape="1">
          <a:blip r:embed="rId3">
            <a:extLst>
              <a:ext uri="{837473B0-CC2E-450A-ABE3-18F120FF3D39}">
                <a1611:picAttrSrcUrl xmlns:a1611="http://schemas.microsoft.com/office/drawing/2016/11/main" r:id="rId4"/>
              </a:ext>
            </a:extLst>
          </a:blip>
          <a:srcRect l="16130" r="14480"/>
          <a:stretch/>
        </p:blipFill>
        <p:spPr>
          <a:xfrm>
            <a:off x="0" y="0"/>
            <a:ext cx="7613964" cy="6858000"/>
          </a:xfrm>
          <a:prstGeom prst="rect">
            <a:avLst/>
          </a:prstGeom>
        </p:spPr>
      </p:pic>
      <p:pic>
        <p:nvPicPr>
          <p:cNvPr id="9" name="Picture 8">
            <a:extLst>
              <a:ext uri="{FF2B5EF4-FFF2-40B4-BE49-F238E27FC236}">
                <a16:creationId xmlns:a16="http://schemas.microsoft.com/office/drawing/2014/main" id="{7A89C758-D2A0-44D3-B3DA-19AD4A7CCCE4}"/>
              </a:ext>
            </a:extLst>
          </p:cNvPr>
          <p:cNvPicPr>
            <a:picLocks noChangeAspect="1"/>
          </p:cNvPicPr>
          <p:nvPr/>
        </p:nvPicPr>
        <p:blipFill rotWithShape="1">
          <a:blip r:embed="rId5">
            <a:extLst>
              <a:ext uri="{837473B0-CC2E-450A-ABE3-18F120FF3D39}">
                <a1611:picAttrSrcUrl xmlns:a1611="http://schemas.microsoft.com/office/drawing/2016/11/main" r:id="rId6"/>
              </a:ext>
            </a:extLst>
          </a:blip>
          <a:srcRect l="20420" t="1393" r="18242" b="11686"/>
          <a:stretch/>
        </p:blipFill>
        <p:spPr>
          <a:xfrm>
            <a:off x="7352310" y="0"/>
            <a:ext cx="4839690" cy="6858000"/>
          </a:xfrm>
          <a:prstGeom prst="rect">
            <a:avLst/>
          </a:prstGeom>
        </p:spPr>
      </p:pic>
      <p:sp>
        <p:nvSpPr>
          <p:cNvPr id="2" name="Title 1">
            <a:extLst>
              <a:ext uri="{FF2B5EF4-FFF2-40B4-BE49-F238E27FC236}">
                <a16:creationId xmlns:a16="http://schemas.microsoft.com/office/drawing/2014/main" id="{9278A1D6-4E32-45D4-A10B-5A423937EF25}"/>
              </a:ext>
            </a:extLst>
          </p:cNvPr>
          <p:cNvSpPr txBox="1">
            <a:spLocks/>
          </p:cNvSpPr>
          <p:nvPr/>
        </p:nvSpPr>
        <p:spPr>
          <a:xfrm>
            <a:off x="437704" y="-109879"/>
            <a:ext cx="6320983" cy="4425730"/>
          </a:xfrm>
          <a:prstGeom prst="rect">
            <a:avLst/>
          </a:prstGeom>
        </p:spPr>
        <p:txBody>
          <a:bodyPr>
            <a:normAutofit/>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11500" dirty="0">
                <a:solidFill>
                  <a:srgbClr val="C00000"/>
                </a:solidFill>
              </a:rPr>
              <a:t>GOAT</a:t>
            </a:r>
            <a:endParaRPr lang="en-US" sz="5700" dirty="0"/>
          </a:p>
        </p:txBody>
      </p:sp>
    </p:spTree>
    <p:extLst>
      <p:ext uri="{BB962C8B-B14F-4D97-AF65-F5344CB8AC3E}">
        <p14:creationId xmlns:p14="http://schemas.microsoft.com/office/powerpoint/2010/main" val="2673909416"/>
      </p:ext>
    </p:extLst>
  </p:cSld>
  <p:clrMapOvr>
    <a:masterClrMapping/>
  </p:clrMapOvr>
</p:sld>
</file>

<file path=ppt/theme/theme1.xml><?xml version="1.0" encoding="utf-8"?>
<a:theme xmlns:a="http://schemas.openxmlformats.org/drawingml/2006/main" name="DividendVTI">
  <a:themeElements>
    <a:clrScheme name="Red Orange">
      <a:dk1>
        <a:sysClr val="windowText" lastClr="000000"/>
      </a:dk1>
      <a:lt1>
        <a:sysClr val="window" lastClr="FFFFFF"/>
      </a:lt1>
      <a:dk2>
        <a:srgbClr val="505046"/>
      </a:dk2>
      <a:lt2>
        <a:srgbClr val="EEECE1"/>
      </a:lt2>
      <a:accent1>
        <a:srgbClr val="E84C22"/>
      </a:accent1>
      <a:accent2>
        <a:srgbClr val="FFBD47"/>
      </a:accent2>
      <a:accent3>
        <a:srgbClr val="B64926"/>
      </a:accent3>
      <a:accent4>
        <a:srgbClr val="FF8427"/>
      </a:accent4>
      <a:accent5>
        <a:srgbClr val="CC9900"/>
      </a:accent5>
      <a:accent6>
        <a:srgbClr val="B22600"/>
      </a:accent6>
      <a:hlink>
        <a:srgbClr val="CC9900"/>
      </a:hlink>
      <a:folHlink>
        <a:srgbClr val="666699"/>
      </a:folHlink>
    </a:clrScheme>
    <a:fontScheme name="Dividend">
      <a:majorFont>
        <a:latin typeface="Franklin Gothic Demi"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a410dd7f93c95333ffa1b60ed6adedd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a936d9baba76aa3866493feff160faab"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927BD4C1-B6B1-4715-ABF9-E660A51A4EA0}">
  <ds:schemaRefs>
    <ds:schemaRef ds:uri="http://schemas.microsoft.com/sharepoint/v3/contenttype/forms"/>
  </ds:schemaRefs>
</ds:datastoreItem>
</file>

<file path=customXml/itemProps2.xml><?xml version="1.0" encoding="utf-8"?>
<ds:datastoreItem xmlns:ds="http://schemas.openxmlformats.org/officeDocument/2006/customXml" ds:itemID="{41E7CA09-9778-4414-AE97-8064B12DA30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8D289AE2-D2AE-49D1-AFAC-3A79F6794255}">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TM03457464[[fn=Dividend]]</Template>
  <TotalTime>2702</TotalTime>
  <Words>3930</Words>
  <Application>Microsoft Office PowerPoint</Application>
  <PresentationFormat>Widescreen</PresentationFormat>
  <Paragraphs>295</Paragraphs>
  <Slides>18</Slides>
  <Notes>17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Arial</vt:lpstr>
      <vt:lpstr>Calibri</vt:lpstr>
      <vt:lpstr>Franklin Gothic Book</vt:lpstr>
      <vt:lpstr>Franklin Gothic Demi</vt:lpstr>
      <vt:lpstr>Lato</vt:lpstr>
      <vt:lpstr>Wingdings 2</vt:lpstr>
      <vt:lpstr>DividendVTI</vt:lpstr>
      <vt:lpstr>WHO’S the Greatest of All time (GOAT)? </vt:lpstr>
      <vt:lpstr>DATASETS </vt:lpstr>
      <vt:lpstr>PowerPoint Presentation</vt:lpstr>
      <vt:lpstr>EVALUATION OF INFORMATION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WHO’S the GOAT?</dc:title>
  <dc:creator>Townson, Monique</dc:creator>
  <cp:lastModifiedBy>Townson, Monique</cp:lastModifiedBy>
  <cp:revision>85</cp:revision>
  <dcterms:created xsi:type="dcterms:W3CDTF">2025-07-29T17:13:57Z</dcterms:created>
  <dcterms:modified xsi:type="dcterms:W3CDTF">2025-07-31T14:16:38Z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